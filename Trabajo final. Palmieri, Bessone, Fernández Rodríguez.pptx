
<file path=[Content_Types].xml><?xml version="1.0" encoding="utf-8"?>
<Types xmlns="http://schemas.openxmlformats.org/package/2006/content-types">
  <Default Extension="fntdata" ContentType="application/x-fontdata"/>
  <Default Extension="jpeg" ContentType="image/jpeg"/>
  <Default Extension="jpg" ContentType="image/pn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82" r:id="rId3"/>
    <p:sldId id="283" r:id="rId4"/>
    <p:sldId id="258" r:id="rId5"/>
    <p:sldId id="267" r:id="rId6"/>
    <p:sldId id="260" r:id="rId7"/>
    <p:sldId id="268" r:id="rId8"/>
    <p:sldId id="280" r:id="rId9"/>
    <p:sldId id="262" r:id="rId10"/>
    <p:sldId id="278" r:id="rId11"/>
    <p:sldId id="279" r:id="rId12"/>
    <p:sldId id="270" r:id="rId13"/>
    <p:sldId id="271" r:id="rId14"/>
    <p:sldId id="276" r:id="rId15"/>
    <p:sldId id="272" r:id="rId16"/>
    <p:sldId id="284" r:id="rId17"/>
    <p:sldId id="273" r:id="rId18"/>
    <p:sldId id="274" r:id="rId19"/>
    <p:sldId id="285" r:id="rId20"/>
    <p:sldId id="281" r:id="rId21"/>
    <p:sldId id="269" r:id="rId22"/>
    <p:sldId id="265" r:id="rId23"/>
    <p:sldId id="277" r:id="rId24"/>
  </p:sldIdLst>
  <p:sldSz cx="18288000" cy="10287000"/>
  <p:notesSz cx="6858000" cy="9144000"/>
  <p:embeddedFontLst>
    <p:embeddedFont>
      <p:font typeface="Agrandir" panose="020B0604020202020204" charset="0"/>
      <p:regular r:id="rId25"/>
    </p:embeddedFont>
    <p:embeddedFont>
      <p:font typeface="Agrandir Narrow"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B488"/>
    <a:srgbClr val="ED5B2D"/>
    <a:srgbClr val="F5A5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AB1E49-C90B-4323-8767-350939F7A647}" v="6817" dt="2025-12-01T22:03:05.846"/>
    <p1510:client id="{1D840C5A-6B38-5AB2-65E7-433C200E0E62}" v="268" dt="2025-12-01T14:19:13.5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834"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B9A1"/>
        </a:solidFill>
        <a:effectLst/>
      </p:bgPr>
    </p:bg>
    <p:spTree>
      <p:nvGrpSpPr>
        <p:cNvPr id="1" name=""/>
        <p:cNvGrpSpPr/>
        <p:nvPr/>
      </p:nvGrpSpPr>
      <p:grpSpPr>
        <a:xfrm>
          <a:off x="0" y="0"/>
          <a:ext cx="0" cy="0"/>
          <a:chOff x="0" y="0"/>
          <a:chExt cx="0" cy="0"/>
        </a:xfrm>
      </p:grpSpPr>
      <p:grpSp>
        <p:nvGrpSpPr>
          <p:cNvPr id="2" name="Group 2"/>
          <p:cNvGrpSpPr/>
          <p:nvPr/>
        </p:nvGrpSpPr>
        <p:grpSpPr>
          <a:xfrm>
            <a:off x="-3651975" y="7331937"/>
            <a:ext cx="5910126" cy="591012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5B2D"/>
            </a:solidFill>
          </p:spPr>
          <p:txBody>
            <a:bodyPr/>
            <a:lstStyle/>
            <a:p>
              <a:endParaRPr lang="es-AR" noProof="0" dirty="0"/>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lang="es-AR" noProof="0" dirty="0"/>
            </a:p>
          </p:txBody>
        </p:sp>
      </p:grpSp>
      <p:grpSp>
        <p:nvGrpSpPr>
          <p:cNvPr id="5" name="Group 5"/>
          <p:cNvGrpSpPr/>
          <p:nvPr/>
        </p:nvGrpSpPr>
        <p:grpSpPr>
          <a:xfrm rot="-5400000">
            <a:off x="5054243" y="4245940"/>
            <a:ext cx="1478945" cy="9814605"/>
            <a:chOff x="0" y="-38100"/>
            <a:chExt cx="233609" cy="2846693"/>
          </a:xfrm>
        </p:grpSpPr>
        <p:sp>
          <p:nvSpPr>
            <p:cNvPr id="6" name="Freeform 6"/>
            <p:cNvSpPr/>
            <p:nvPr/>
          </p:nvSpPr>
          <p:spPr>
            <a:xfrm>
              <a:off x="0" y="0"/>
              <a:ext cx="233609" cy="2808593"/>
            </a:xfrm>
            <a:custGeom>
              <a:avLst/>
              <a:gdLst/>
              <a:ahLst/>
              <a:cxnLst/>
              <a:rect l="l" t="t" r="r" b="b"/>
              <a:pathLst>
                <a:path w="233609" h="2808593">
                  <a:moveTo>
                    <a:pt x="116804" y="0"/>
                  </a:moveTo>
                  <a:lnTo>
                    <a:pt x="116804" y="0"/>
                  </a:lnTo>
                  <a:cubicBezTo>
                    <a:pt x="181314" y="0"/>
                    <a:pt x="233609" y="52295"/>
                    <a:pt x="233609" y="116804"/>
                  </a:cubicBezTo>
                  <a:lnTo>
                    <a:pt x="233609" y="2691788"/>
                  </a:lnTo>
                  <a:cubicBezTo>
                    <a:pt x="233609" y="2756297"/>
                    <a:pt x="181314" y="2808593"/>
                    <a:pt x="116804" y="2808593"/>
                  </a:cubicBezTo>
                  <a:lnTo>
                    <a:pt x="116804" y="2808593"/>
                  </a:lnTo>
                  <a:cubicBezTo>
                    <a:pt x="52295" y="2808593"/>
                    <a:pt x="0" y="2756297"/>
                    <a:pt x="0" y="2691788"/>
                  </a:cubicBezTo>
                  <a:lnTo>
                    <a:pt x="0" y="116804"/>
                  </a:lnTo>
                  <a:cubicBezTo>
                    <a:pt x="0" y="52295"/>
                    <a:pt x="52295" y="0"/>
                    <a:pt x="116804" y="0"/>
                  </a:cubicBezTo>
                  <a:close/>
                </a:path>
              </a:pathLst>
            </a:custGeom>
            <a:solidFill>
              <a:srgbClr val="F6F6E9"/>
            </a:solidFill>
            <a:ln cap="rnd">
              <a:noFill/>
              <a:prstDash val="solid"/>
              <a:round/>
            </a:ln>
          </p:spPr>
          <p:txBody>
            <a:bodyPr/>
            <a:lstStyle/>
            <a:p>
              <a:endParaRPr lang="es-AR" noProof="0" dirty="0"/>
            </a:p>
          </p:txBody>
        </p:sp>
        <p:sp>
          <p:nvSpPr>
            <p:cNvPr id="7" name="TextBox 7"/>
            <p:cNvSpPr txBox="1"/>
            <p:nvPr/>
          </p:nvSpPr>
          <p:spPr>
            <a:xfrm>
              <a:off x="0" y="-38100"/>
              <a:ext cx="233609" cy="2846692"/>
            </a:xfrm>
            <a:prstGeom prst="rect">
              <a:avLst/>
            </a:prstGeom>
          </p:spPr>
          <p:txBody>
            <a:bodyPr lIns="50800" tIns="50800" rIns="50800" bIns="50800" rtlCol="0" anchor="ctr"/>
            <a:lstStyle/>
            <a:p>
              <a:pPr algn="ctr">
                <a:lnSpc>
                  <a:spcPts val="2659"/>
                </a:lnSpc>
              </a:pPr>
              <a:endParaRPr lang="es-AR" noProof="0" dirty="0"/>
            </a:p>
          </p:txBody>
        </p:sp>
      </p:grpSp>
      <p:grpSp>
        <p:nvGrpSpPr>
          <p:cNvPr id="8" name="Group 8"/>
          <p:cNvGrpSpPr/>
          <p:nvPr/>
        </p:nvGrpSpPr>
        <p:grpSpPr>
          <a:xfrm rot="-5400000">
            <a:off x="12284991" y="6934746"/>
            <a:ext cx="1478944" cy="4436992"/>
            <a:chOff x="0" y="-38100"/>
            <a:chExt cx="233609" cy="1245871"/>
          </a:xfrm>
        </p:grpSpPr>
        <p:sp>
          <p:nvSpPr>
            <p:cNvPr id="9" name="Freeform 9"/>
            <p:cNvSpPr/>
            <p:nvPr/>
          </p:nvSpPr>
          <p:spPr>
            <a:xfrm>
              <a:off x="0" y="0"/>
              <a:ext cx="233609" cy="1207771"/>
            </a:xfrm>
            <a:custGeom>
              <a:avLst/>
              <a:gdLst/>
              <a:ahLst/>
              <a:cxnLst/>
              <a:rect l="l" t="t" r="r" b="b"/>
              <a:pathLst>
                <a:path w="233609" h="1207771">
                  <a:moveTo>
                    <a:pt x="116804" y="0"/>
                  </a:moveTo>
                  <a:lnTo>
                    <a:pt x="116804" y="0"/>
                  </a:lnTo>
                  <a:cubicBezTo>
                    <a:pt x="181314" y="0"/>
                    <a:pt x="233609" y="52295"/>
                    <a:pt x="233609" y="116804"/>
                  </a:cubicBezTo>
                  <a:lnTo>
                    <a:pt x="233609" y="1090967"/>
                  </a:lnTo>
                  <a:cubicBezTo>
                    <a:pt x="233609" y="1155476"/>
                    <a:pt x="181314" y="1207771"/>
                    <a:pt x="116804" y="1207771"/>
                  </a:cubicBezTo>
                  <a:lnTo>
                    <a:pt x="116804" y="1207771"/>
                  </a:lnTo>
                  <a:cubicBezTo>
                    <a:pt x="52295" y="1207771"/>
                    <a:pt x="0" y="1155476"/>
                    <a:pt x="0" y="1090967"/>
                  </a:cubicBezTo>
                  <a:lnTo>
                    <a:pt x="0" y="116804"/>
                  </a:lnTo>
                  <a:cubicBezTo>
                    <a:pt x="0" y="52295"/>
                    <a:pt x="52295" y="0"/>
                    <a:pt x="116804" y="0"/>
                  </a:cubicBezTo>
                  <a:close/>
                </a:path>
              </a:pathLst>
            </a:custGeom>
            <a:solidFill>
              <a:srgbClr val="F6F6E9"/>
            </a:solidFill>
            <a:ln cap="rnd">
              <a:noFill/>
              <a:prstDash val="solid"/>
              <a:round/>
            </a:ln>
          </p:spPr>
          <p:txBody>
            <a:bodyPr lIns="91440" tIns="45720" rIns="91440" bIns="45720" anchor="t"/>
            <a:lstStyle/>
            <a:p>
              <a:endParaRPr lang="es-AR" noProof="0" dirty="0"/>
            </a:p>
          </p:txBody>
        </p:sp>
        <p:sp>
          <p:nvSpPr>
            <p:cNvPr id="10" name="TextBox 10"/>
            <p:cNvSpPr txBox="1"/>
            <p:nvPr/>
          </p:nvSpPr>
          <p:spPr>
            <a:xfrm>
              <a:off x="0" y="-38100"/>
              <a:ext cx="233609" cy="1245871"/>
            </a:xfrm>
            <a:prstGeom prst="rect">
              <a:avLst/>
            </a:prstGeom>
          </p:spPr>
          <p:txBody>
            <a:bodyPr lIns="50800" tIns="50800" rIns="50800" bIns="50800" rtlCol="0" anchor="ctr"/>
            <a:lstStyle/>
            <a:p>
              <a:pPr algn="ctr">
                <a:lnSpc>
                  <a:spcPts val="2659"/>
                </a:lnSpc>
              </a:pPr>
              <a:endParaRPr lang="es-AR" noProof="0" dirty="0"/>
            </a:p>
          </p:txBody>
        </p:sp>
      </p:grpSp>
      <p:grpSp>
        <p:nvGrpSpPr>
          <p:cNvPr id="11" name="Group 11"/>
          <p:cNvGrpSpPr/>
          <p:nvPr/>
        </p:nvGrpSpPr>
        <p:grpSpPr>
          <a:xfrm rot="-5400000">
            <a:off x="15608530" y="8135863"/>
            <a:ext cx="1478945" cy="2034756"/>
            <a:chOff x="0" y="-38100"/>
            <a:chExt cx="233609" cy="571343"/>
          </a:xfrm>
        </p:grpSpPr>
        <p:sp>
          <p:nvSpPr>
            <p:cNvPr id="12" name="Freeform 12"/>
            <p:cNvSpPr/>
            <p:nvPr/>
          </p:nvSpPr>
          <p:spPr>
            <a:xfrm>
              <a:off x="0" y="0"/>
              <a:ext cx="233609" cy="533243"/>
            </a:xfrm>
            <a:custGeom>
              <a:avLst/>
              <a:gdLst/>
              <a:ahLst/>
              <a:cxnLst/>
              <a:rect l="l" t="t" r="r" b="b"/>
              <a:pathLst>
                <a:path w="233609" h="533243">
                  <a:moveTo>
                    <a:pt x="116804" y="0"/>
                  </a:moveTo>
                  <a:lnTo>
                    <a:pt x="116804" y="0"/>
                  </a:lnTo>
                  <a:cubicBezTo>
                    <a:pt x="181314" y="0"/>
                    <a:pt x="233609" y="52295"/>
                    <a:pt x="233609" y="116804"/>
                  </a:cubicBezTo>
                  <a:lnTo>
                    <a:pt x="233609" y="416438"/>
                  </a:lnTo>
                  <a:cubicBezTo>
                    <a:pt x="233609" y="480948"/>
                    <a:pt x="181314" y="533243"/>
                    <a:pt x="116804" y="533243"/>
                  </a:cubicBezTo>
                  <a:lnTo>
                    <a:pt x="116804" y="533243"/>
                  </a:lnTo>
                  <a:cubicBezTo>
                    <a:pt x="52295" y="533243"/>
                    <a:pt x="0" y="480948"/>
                    <a:pt x="0" y="416438"/>
                  </a:cubicBezTo>
                  <a:lnTo>
                    <a:pt x="0" y="116804"/>
                  </a:lnTo>
                  <a:cubicBezTo>
                    <a:pt x="0" y="52295"/>
                    <a:pt x="52295" y="0"/>
                    <a:pt x="116804" y="0"/>
                  </a:cubicBezTo>
                  <a:close/>
                </a:path>
              </a:pathLst>
            </a:custGeom>
            <a:solidFill>
              <a:srgbClr val="ED5B2D"/>
            </a:solidFill>
            <a:ln cap="rnd">
              <a:noFill/>
              <a:prstDash val="solid"/>
              <a:round/>
            </a:ln>
          </p:spPr>
          <p:txBody>
            <a:bodyPr/>
            <a:lstStyle/>
            <a:p>
              <a:endParaRPr lang="es-AR" noProof="0" dirty="0"/>
            </a:p>
          </p:txBody>
        </p:sp>
        <p:sp>
          <p:nvSpPr>
            <p:cNvPr id="13" name="TextBox 13"/>
            <p:cNvSpPr txBox="1"/>
            <p:nvPr/>
          </p:nvSpPr>
          <p:spPr>
            <a:xfrm>
              <a:off x="0" y="-38100"/>
              <a:ext cx="233609" cy="571343"/>
            </a:xfrm>
            <a:prstGeom prst="rect">
              <a:avLst/>
            </a:prstGeom>
          </p:spPr>
          <p:txBody>
            <a:bodyPr lIns="50800" tIns="50800" rIns="50800" bIns="50800" rtlCol="0" anchor="ctr"/>
            <a:lstStyle/>
            <a:p>
              <a:pPr algn="ctr">
                <a:lnSpc>
                  <a:spcPts val="2659"/>
                </a:lnSpc>
              </a:pPr>
              <a:endParaRPr lang="es-AR" noProof="0" dirty="0"/>
            </a:p>
          </p:txBody>
        </p:sp>
      </p:grpSp>
      <p:sp>
        <p:nvSpPr>
          <p:cNvPr id="14" name="AutoShape 14"/>
          <p:cNvSpPr/>
          <p:nvPr/>
        </p:nvSpPr>
        <p:spPr>
          <a:xfrm>
            <a:off x="15940947" y="9143306"/>
            <a:ext cx="922093" cy="0"/>
          </a:xfrm>
          <a:prstGeom prst="line">
            <a:avLst/>
          </a:prstGeom>
          <a:ln w="38100" cap="flat">
            <a:solidFill>
              <a:srgbClr val="F6F6E9"/>
            </a:solidFill>
            <a:prstDash val="solid"/>
            <a:headEnd type="none" w="sm" len="sm"/>
            <a:tailEnd type="arrow" w="med" len="sm"/>
          </a:ln>
        </p:spPr>
        <p:txBody>
          <a:bodyPr/>
          <a:lstStyle/>
          <a:p>
            <a:endParaRPr lang="es-AR" noProof="0" dirty="0"/>
          </a:p>
        </p:txBody>
      </p:sp>
      <p:sp>
        <p:nvSpPr>
          <p:cNvPr id="15" name="TextBox 15"/>
          <p:cNvSpPr txBox="1"/>
          <p:nvPr/>
        </p:nvSpPr>
        <p:spPr>
          <a:xfrm>
            <a:off x="533927" y="2145498"/>
            <a:ext cx="11190270" cy="5116785"/>
          </a:xfrm>
          <a:prstGeom prst="rect">
            <a:avLst/>
          </a:prstGeom>
        </p:spPr>
        <p:txBody>
          <a:bodyPr lIns="0" tIns="0" rIns="0" bIns="0" rtlCol="0" anchor="t">
            <a:spAutoFit/>
          </a:bodyPr>
          <a:lstStyle/>
          <a:p>
            <a:pPr algn="ctr">
              <a:lnSpc>
                <a:spcPts val="13254"/>
              </a:lnSpc>
            </a:pPr>
            <a:r>
              <a:rPr lang="es-AR" sz="12350" b="1" noProof="0" dirty="0">
                <a:solidFill>
                  <a:srgbClr val="291B25"/>
                </a:solidFill>
                <a:latin typeface="Agrandir"/>
                <a:sym typeface="Agrandir"/>
              </a:rPr>
              <a:t>Trabajo final: Análisis del uso de Ecobici</a:t>
            </a:r>
            <a:endParaRPr lang="es-AR" sz="12386" b="1" noProof="0" dirty="0">
              <a:solidFill>
                <a:srgbClr val="291B25"/>
              </a:solidFill>
              <a:latin typeface="Agrandir"/>
              <a:ea typeface="Agrandir"/>
              <a:cs typeface="Agrandir"/>
              <a:sym typeface="Agrandir"/>
            </a:endParaRPr>
          </a:p>
        </p:txBody>
      </p:sp>
      <p:grpSp>
        <p:nvGrpSpPr>
          <p:cNvPr id="16" name="Group 16"/>
          <p:cNvGrpSpPr/>
          <p:nvPr/>
        </p:nvGrpSpPr>
        <p:grpSpPr>
          <a:xfrm>
            <a:off x="11599313" y="-2602668"/>
            <a:ext cx="10555161" cy="10555161"/>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F6E9"/>
            </a:solidFill>
          </p:spPr>
          <p:txBody>
            <a:bodyPr/>
            <a:lstStyle/>
            <a:p>
              <a:endParaRPr lang="es-AR" noProof="0" dirty="0"/>
            </a:p>
          </p:txBody>
        </p:sp>
        <p:sp>
          <p:nvSpPr>
            <p:cNvPr id="18" name="TextBox 1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lang="es-AR" noProof="0" dirty="0"/>
            </a:p>
          </p:txBody>
        </p:sp>
      </p:grpSp>
      <p:grpSp>
        <p:nvGrpSpPr>
          <p:cNvPr id="20" name="Group 20"/>
          <p:cNvGrpSpPr/>
          <p:nvPr/>
        </p:nvGrpSpPr>
        <p:grpSpPr>
          <a:xfrm>
            <a:off x="9556188" y="-3235213"/>
            <a:ext cx="5910126" cy="5910126"/>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5B2D"/>
            </a:solidFill>
          </p:spPr>
          <p:txBody>
            <a:bodyPr/>
            <a:lstStyle/>
            <a:p>
              <a:endParaRPr lang="es-AR" noProof="0" dirty="0"/>
            </a:p>
          </p:txBody>
        </p:sp>
        <p:sp>
          <p:nvSpPr>
            <p:cNvPr id="22" name="TextBox 2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lang="es-AR" noProof="0" dirty="0"/>
            </a:p>
          </p:txBody>
        </p:sp>
      </p:grpSp>
      <p:sp>
        <p:nvSpPr>
          <p:cNvPr id="23" name="CuadroTexto 22">
            <a:extLst>
              <a:ext uri="{FF2B5EF4-FFF2-40B4-BE49-F238E27FC236}">
                <a16:creationId xmlns:a16="http://schemas.microsoft.com/office/drawing/2014/main" id="{4BD963C0-0695-BF52-01DB-23C612759156}"/>
              </a:ext>
            </a:extLst>
          </p:cNvPr>
          <p:cNvSpPr txBox="1"/>
          <p:nvPr/>
        </p:nvSpPr>
        <p:spPr>
          <a:xfrm>
            <a:off x="1246423" y="8553077"/>
            <a:ext cx="9098280" cy="1200329"/>
          </a:xfrm>
          <a:prstGeom prst="rect">
            <a:avLst/>
          </a:prstGeom>
          <a:noFill/>
        </p:spPr>
        <p:txBody>
          <a:bodyPr wrap="square" lIns="91440" tIns="45720" rIns="91440" bIns="45720" rtlCol="0" anchor="t">
            <a:spAutoFit/>
          </a:bodyPr>
          <a:lstStyle/>
          <a:p>
            <a:r>
              <a:rPr lang="es-AR" b="1" noProof="0" dirty="0">
                <a:latin typeface="Agrandir"/>
              </a:rPr>
              <a:t>Alumnos: </a:t>
            </a:r>
          </a:p>
          <a:p>
            <a:pPr marL="285750" indent="-285750">
              <a:buFont typeface="Arial" panose="020B0604020202020204" pitchFamily="34" charset="0"/>
              <a:buChar char="•"/>
            </a:pPr>
            <a:r>
              <a:rPr lang="es-AR" noProof="0" dirty="0" err="1">
                <a:latin typeface="Agrandir"/>
              </a:rPr>
              <a:t>Palmieri</a:t>
            </a:r>
            <a:r>
              <a:rPr lang="es-AR" noProof="0" dirty="0">
                <a:latin typeface="Agrandir"/>
              </a:rPr>
              <a:t>, Julieta (908211)</a:t>
            </a:r>
            <a:endParaRPr lang="es-AR" noProof="0" dirty="0">
              <a:latin typeface="Agrandir" panose="020B0604020202020204" charset="0"/>
            </a:endParaRPr>
          </a:p>
          <a:p>
            <a:pPr marL="285750" indent="-285750">
              <a:buFont typeface="Arial" panose="020B0604020202020204" pitchFamily="34" charset="0"/>
              <a:buChar char="•"/>
            </a:pPr>
            <a:r>
              <a:rPr lang="es-AR" noProof="0" dirty="0" err="1">
                <a:latin typeface="Agrandir"/>
              </a:rPr>
              <a:t>Bessone</a:t>
            </a:r>
            <a:r>
              <a:rPr lang="es-AR" noProof="0" dirty="0">
                <a:latin typeface="Agrandir"/>
              </a:rPr>
              <a:t>, Martin (907795)</a:t>
            </a:r>
          </a:p>
          <a:p>
            <a:pPr marL="285750" indent="-285750">
              <a:buFont typeface="Arial" panose="020B0604020202020204" pitchFamily="34" charset="0"/>
              <a:buChar char="•"/>
            </a:pPr>
            <a:r>
              <a:rPr lang="es-AR" noProof="0" dirty="0">
                <a:latin typeface="Agrandir"/>
              </a:rPr>
              <a:t>Fernández Rodríguez, Juan Ignacio (907949)</a:t>
            </a:r>
          </a:p>
        </p:txBody>
      </p:sp>
      <p:sp>
        <p:nvSpPr>
          <p:cNvPr id="25" name="CuadroTexto 24">
            <a:extLst>
              <a:ext uri="{FF2B5EF4-FFF2-40B4-BE49-F238E27FC236}">
                <a16:creationId xmlns:a16="http://schemas.microsoft.com/office/drawing/2014/main" id="{503A1FE9-2F15-6EE5-E97C-6920A4D7AD9B}"/>
              </a:ext>
            </a:extLst>
          </p:cNvPr>
          <p:cNvSpPr txBox="1"/>
          <p:nvPr/>
        </p:nvSpPr>
        <p:spPr>
          <a:xfrm>
            <a:off x="11017397" y="8830075"/>
            <a:ext cx="4014132" cy="646331"/>
          </a:xfrm>
          <a:prstGeom prst="rect">
            <a:avLst/>
          </a:prstGeom>
          <a:noFill/>
        </p:spPr>
        <p:txBody>
          <a:bodyPr wrap="square" rtlCol="0">
            <a:spAutoFit/>
          </a:bodyPr>
          <a:lstStyle/>
          <a:p>
            <a:pPr algn="ctr"/>
            <a:r>
              <a:rPr lang="es-AR" b="1" noProof="0" dirty="0">
                <a:latin typeface="Agrandir" panose="020B0604020202020204" charset="0"/>
              </a:rPr>
              <a:t>Ciencia de Datos para Economía y Negocios</a:t>
            </a:r>
          </a:p>
        </p:txBody>
      </p:sp>
      <p:pic>
        <p:nvPicPr>
          <p:cNvPr id="39" name="Imagen 38">
            <a:extLst>
              <a:ext uri="{FF2B5EF4-FFF2-40B4-BE49-F238E27FC236}">
                <a16:creationId xmlns:a16="http://schemas.microsoft.com/office/drawing/2014/main" id="{211E83DA-8F09-8145-76D7-D1D1DFFF811F}"/>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12218970" y="2275189"/>
            <a:ext cx="5939010" cy="360686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p:cNvGrpSpPr/>
        <p:nvPr/>
      </p:nvGrpSpPr>
      <p:grpSpPr>
        <a:xfrm>
          <a:off x="0" y="0"/>
          <a:ext cx="0" cy="0"/>
          <a:chOff x="0" y="0"/>
          <a:chExt cx="0" cy="0"/>
        </a:xfrm>
      </p:grpSpPr>
      <p:grpSp>
        <p:nvGrpSpPr>
          <p:cNvPr id="8" name="Group 8"/>
          <p:cNvGrpSpPr/>
          <p:nvPr/>
        </p:nvGrpSpPr>
        <p:grpSpPr>
          <a:xfrm rot="-5400000">
            <a:off x="1247775" y="3466894"/>
            <a:ext cx="1143206" cy="1143206"/>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A1"/>
            </a:solidFill>
            <a:ln cap="sq">
              <a:noFill/>
              <a:prstDash val="solid"/>
              <a:miter/>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 name="TextBox 10"/>
            <p:cNvSpPr txBox="1"/>
            <p:nvPr/>
          </p:nvSpPr>
          <p:spPr>
            <a:xfrm>
              <a:off x="76200" y="38100"/>
              <a:ext cx="660400" cy="69850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11" name="Group 11"/>
          <p:cNvGrpSpPr/>
          <p:nvPr/>
        </p:nvGrpSpPr>
        <p:grpSpPr>
          <a:xfrm rot="-5400000">
            <a:off x="8594944" y="-2285681"/>
            <a:ext cx="1143206" cy="12648356"/>
            <a:chOff x="0" y="0"/>
            <a:chExt cx="181146" cy="2004184"/>
          </a:xfrm>
        </p:grpSpPr>
        <p:sp>
          <p:nvSpPr>
            <p:cNvPr id="12" name="Freeform 12"/>
            <p:cNvSpPr/>
            <p:nvPr/>
          </p:nvSpPr>
          <p:spPr>
            <a:xfrm>
              <a:off x="0" y="0"/>
              <a:ext cx="181146" cy="2004184"/>
            </a:xfrm>
            <a:custGeom>
              <a:avLst/>
              <a:gdLst/>
              <a:ahLst/>
              <a:cxnLst/>
              <a:rect l="l" t="t" r="r" b="b"/>
              <a:pathLst>
                <a:path w="181146" h="2004184">
                  <a:moveTo>
                    <a:pt x="90573" y="0"/>
                  </a:moveTo>
                  <a:lnTo>
                    <a:pt x="90573" y="0"/>
                  </a:lnTo>
                  <a:cubicBezTo>
                    <a:pt x="114594" y="0"/>
                    <a:pt x="137632" y="9542"/>
                    <a:pt x="154618" y="26528"/>
                  </a:cubicBezTo>
                  <a:cubicBezTo>
                    <a:pt x="171603" y="43514"/>
                    <a:pt x="181146" y="66551"/>
                    <a:pt x="181146" y="90573"/>
                  </a:cubicBezTo>
                  <a:lnTo>
                    <a:pt x="181146" y="1913611"/>
                  </a:lnTo>
                  <a:cubicBezTo>
                    <a:pt x="181146" y="1937633"/>
                    <a:pt x="171603" y="1960670"/>
                    <a:pt x="154618" y="1977656"/>
                  </a:cubicBezTo>
                  <a:cubicBezTo>
                    <a:pt x="137632" y="1994642"/>
                    <a:pt x="114594" y="2004184"/>
                    <a:pt x="90573" y="2004184"/>
                  </a:cubicBezTo>
                  <a:lnTo>
                    <a:pt x="90573" y="2004184"/>
                  </a:lnTo>
                  <a:cubicBezTo>
                    <a:pt x="66551" y="2004184"/>
                    <a:pt x="43514" y="1994642"/>
                    <a:pt x="26528" y="1977656"/>
                  </a:cubicBezTo>
                  <a:cubicBezTo>
                    <a:pt x="9542" y="1960670"/>
                    <a:pt x="0" y="1937633"/>
                    <a:pt x="0" y="1913611"/>
                  </a:cubicBezTo>
                  <a:lnTo>
                    <a:pt x="0" y="90573"/>
                  </a:lnTo>
                  <a:cubicBezTo>
                    <a:pt x="0" y="66551"/>
                    <a:pt x="9542" y="43514"/>
                    <a:pt x="26528" y="26528"/>
                  </a:cubicBezTo>
                  <a:cubicBezTo>
                    <a:pt x="43514" y="9542"/>
                    <a:pt x="66551" y="0"/>
                    <a:pt x="90573" y="0"/>
                  </a:cubicBezTo>
                  <a:close/>
                </a:path>
              </a:pathLst>
            </a:custGeom>
            <a:solidFill>
              <a:srgbClr val="F7B9A1"/>
            </a:solidFill>
            <a:ln cap="rnd">
              <a:noFill/>
              <a:prstDash val="solid"/>
              <a:round/>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3" name="TextBox 13"/>
            <p:cNvSpPr txBox="1"/>
            <p:nvPr/>
          </p:nvSpPr>
          <p:spPr>
            <a:xfrm>
              <a:off x="0" y="-38100"/>
              <a:ext cx="181146" cy="204228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14" name="Group 14"/>
          <p:cNvGrpSpPr/>
          <p:nvPr/>
        </p:nvGrpSpPr>
        <p:grpSpPr>
          <a:xfrm rot="-5400000">
            <a:off x="1247775" y="4962525"/>
            <a:ext cx="1143206" cy="1143206"/>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A1"/>
            </a:solidFill>
            <a:ln cap="sq">
              <a:noFill/>
              <a:prstDash val="solid"/>
              <a:miter/>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6" name="TextBox 16"/>
            <p:cNvSpPr txBox="1"/>
            <p:nvPr/>
          </p:nvSpPr>
          <p:spPr>
            <a:xfrm>
              <a:off x="76200" y="38100"/>
              <a:ext cx="660400" cy="69850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17" name="Group 17"/>
          <p:cNvGrpSpPr/>
          <p:nvPr/>
        </p:nvGrpSpPr>
        <p:grpSpPr>
          <a:xfrm rot="-5400000">
            <a:off x="8604469" y="-790050"/>
            <a:ext cx="1143206" cy="12648356"/>
            <a:chOff x="0" y="0"/>
            <a:chExt cx="181146" cy="2004184"/>
          </a:xfrm>
        </p:grpSpPr>
        <p:sp>
          <p:nvSpPr>
            <p:cNvPr id="18" name="Freeform 18"/>
            <p:cNvSpPr/>
            <p:nvPr/>
          </p:nvSpPr>
          <p:spPr>
            <a:xfrm>
              <a:off x="0" y="0"/>
              <a:ext cx="181146" cy="2004184"/>
            </a:xfrm>
            <a:custGeom>
              <a:avLst/>
              <a:gdLst/>
              <a:ahLst/>
              <a:cxnLst/>
              <a:rect l="l" t="t" r="r" b="b"/>
              <a:pathLst>
                <a:path w="181146" h="2004184">
                  <a:moveTo>
                    <a:pt x="90573" y="0"/>
                  </a:moveTo>
                  <a:lnTo>
                    <a:pt x="90573" y="0"/>
                  </a:lnTo>
                  <a:cubicBezTo>
                    <a:pt x="114594" y="0"/>
                    <a:pt x="137632" y="9542"/>
                    <a:pt x="154618" y="26528"/>
                  </a:cubicBezTo>
                  <a:cubicBezTo>
                    <a:pt x="171603" y="43514"/>
                    <a:pt x="181146" y="66551"/>
                    <a:pt x="181146" y="90573"/>
                  </a:cubicBezTo>
                  <a:lnTo>
                    <a:pt x="181146" y="1913611"/>
                  </a:lnTo>
                  <a:cubicBezTo>
                    <a:pt x="181146" y="1937633"/>
                    <a:pt x="171603" y="1960670"/>
                    <a:pt x="154618" y="1977656"/>
                  </a:cubicBezTo>
                  <a:cubicBezTo>
                    <a:pt x="137632" y="1994642"/>
                    <a:pt x="114594" y="2004184"/>
                    <a:pt x="90573" y="2004184"/>
                  </a:cubicBezTo>
                  <a:lnTo>
                    <a:pt x="90573" y="2004184"/>
                  </a:lnTo>
                  <a:cubicBezTo>
                    <a:pt x="66551" y="2004184"/>
                    <a:pt x="43514" y="1994642"/>
                    <a:pt x="26528" y="1977656"/>
                  </a:cubicBezTo>
                  <a:cubicBezTo>
                    <a:pt x="9542" y="1960670"/>
                    <a:pt x="0" y="1937633"/>
                    <a:pt x="0" y="1913611"/>
                  </a:cubicBezTo>
                  <a:lnTo>
                    <a:pt x="0" y="90573"/>
                  </a:lnTo>
                  <a:cubicBezTo>
                    <a:pt x="0" y="66551"/>
                    <a:pt x="9542" y="43514"/>
                    <a:pt x="26528" y="26528"/>
                  </a:cubicBezTo>
                  <a:cubicBezTo>
                    <a:pt x="43514" y="9542"/>
                    <a:pt x="66551" y="0"/>
                    <a:pt x="90573" y="0"/>
                  </a:cubicBezTo>
                  <a:close/>
                </a:path>
              </a:pathLst>
            </a:custGeom>
            <a:solidFill>
              <a:srgbClr val="F7B9A1"/>
            </a:solidFill>
            <a:ln cap="rnd">
              <a:noFill/>
              <a:prstDash val="solid"/>
              <a:round/>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9" name="TextBox 19"/>
            <p:cNvSpPr txBox="1"/>
            <p:nvPr/>
          </p:nvSpPr>
          <p:spPr>
            <a:xfrm>
              <a:off x="0" y="-38100"/>
              <a:ext cx="181146" cy="204228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20" name="Group 20"/>
          <p:cNvGrpSpPr/>
          <p:nvPr/>
        </p:nvGrpSpPr>
        <p:grpSpPr>
          <a:xfrm rot="-5400000">
            <a:off x="1247775" y="6458156"/>
            <a:ext cx="1143206" cy="1143206"/>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A1"/>
            </a:solidFill>
            <a:ln cap="sq">
              <a:noFill/>
              <a:prstDash val="solid"/>
              <a:miter/>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2" name="TextBox 22"/>
            <p:cNvSpPr txBox="1"/>
            <p:nvPr/>
          </p:nvSpPr>
          <p:spPr>
            <a:xfrm>
              <a:off x="76200" y="38100"/>
              <a:ext cx="660400" cy="69850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23" name="Group 23"/>
          <p:cNvGrpSpPr/>
          <p:nvPr/>
        </p:nvGrpSpPr>
        <p:grpSpPr>
          <a:xfrm rot="-5400000">
            <a:off x="8604469" y="705581"/>
            <a:ext cx="1143206" cy="12648356"/>
            <a:chOff x="0" y="0"/>
            <a:chExt cx="181146" cy="2004184"/>
          </a:xfrm>
        </p:grpSpPr>
        <p:sp>
          <p:nvSpPr>
            <p:cNvPr id="24" name="Freeform 24"/>
            <p:cNvSpPr/>
            <p:nvPr/>
          </p:nvSpPr>
          <p:spPr>
            <a:xfrm>
              <a:off x="0" y="0"/>
              <a:ext cx="181146" cy="2004184"/>
            </a:xfrm>
            <a:custGeom>
              <a:avLst/>
              <a:gdLst/>
              <a:ahLst/>
              <a:cxnLst/>
              <a:rect l="l" t="t" r="r" b="b"/>
              <a:pathLst>
                <a:path w="181146" h="2004184">
                  <a:moveTo>
                    <a:pt x="90573" y="0"/>
                  </a:moveTo>
                  <a:lnTo>
                    <a:pt x="90573" y="0"/>
                  </a:lnTo>
                  <a:cubicBezTo>
                    <a:pt x="114594" y="0"/>
                    <a:pt x="137632" y="9542"/>
                    <a:pt x="154618" y="26528"/>
                  </a:cubicBezTo>
                  <a:cubicBezTo>
                    <a:pt x="171603" y="43514"/>
                    <a:pt x="181146" y="66551"/>
                    <a:pt x="181146" y="90573"/>
                  </a:cubicBezTo>
                  <a:lnTo>
                    <a:pt x="181146" y="1913611"/>
                  </a:lnTo>
                  <a:cubicBezTo>
                    <a:pt x="181146" y="1937633"/>
                    <a:pt x="171603" y="1960670"/>
                    <a:pt x="154618" y="1977656"/>
                  </a:cubicBezTo>
                  <a:cubicBezTo>
                    <a:pt x="137632" y="1994642"/>
                    <a:pt x="114594" y="2004184"/>
                    <a:pt x="90573" y="2004184"/>
                  </a:cubicBezTo>
                  <a:lnTo>
                    <a:pt x="90573" y="2004184"/>
                  </a:lnTo>
                  <a:cubicBezTo>
                    <a:pt x="66551" y="2004184"/>
                    <a:pt x="43514" y="1994642"/>
                    <a:pt x="26528" y="1977656"/>
                  </a:cubicBezTo>
                  <a:cubicBezTo>
                    <a:pt x="9542" y="1960670"/>
                    <a:pt x="0" y="1937633"/>
                    <a:pt x="0" y="1913611"/>
                  </a:cubicBezTo>
                  <a:lnTo>
                    <a:pt x="0" y="90573"/>
                  </a:lnTo>
                  <a:cubicBezTo>
                    <a:pt x="0" y="66551"/>
                    <a:pt x="9542" y="43514"/>
                    <a:pt x="26528" y="26528"/>
                  </a:cubicBezTo>
                  <a:cubicBezTo>
                    <a:pt x="43514" y="9542"/>
                    <a:pt x="66551" y="0"/>
                    <a:pt x="90573" y="0"/>
                  </a:cubicBezTo>
                  <a:close/>
                </a:path>
              </a:pathLst>
            </a:custGeom>
            <a:solidFill>
              <a:srgbClr val="F7B9A1"/>
            </a:solidFill>
            <a:ln cap="rnd">
              <a:noFill/>
              <a:prstDash val="solid"/>
              <a:round/>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5" name="TextBox 25"/>
            <p:cNvSpPr txBox="1"/>
            <p:nvPr/>
          </p:nvSpPr>
          <p:spPr>
            <a:xfrm>
              <a:off x="0" y="-38100"/>
              <a:ext cx="181146" cy="204228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26" name="TextBox 26"/>
          <p:cNvSpPr txBox="1"/>
          <p:nvPr/>
        </p:nvSpPr>
        <p:spPr>
          <a:xfrm>
            <a:off x="713300" y="525031"/>
            <a:ext cx="5612659" cy="1510665"/>
          </a:xfrm>
          <a:prstGeom prst="rect">
            <a:avLst/>
          </a:prstGeom>
        </p:spPr>
        <p:txBody>
          <a:bodyPr lIns="0" tIns="0" rIns="0" bIns="0" rtlCol="0" anchor="t">
            <a:spAutoFit/>
          </a:bodyPr>
          <a:lstStyle/>
          <a:p>
            <a:pPr marL="0" marR="0" lvl="0" indent="0" algn="l" defTabSz="914400" rtl="0" eaLnBrk="1" fontAlgn="auto" latinLnBrk="0" hangingPunct="1">
              <a:lnSpc>
                <a:spcPts val="9630"/>
              </a:lnSpc>
              <a:spcBef>
                <a:spcPts val="0"/>
              </a:spcBef>
              <a:spcAft>
                <a:spcPts val="0"/>
              </a:spcAft>
              <a:buClrTx/>
              <a:buSzTx/>
              <a:buFontTx/>
              <a:buNone/>
              <a:tabLst/>
              <a:defRPr/>
            </a:pPr>
            <a:r>
              <a:rPr kumimoji="0" lang="es-AR" sz="9000" b="0" i="0" u="none" strike="noStrike" kern="1200" cap="none" spc="0" normalizeH="0" baseline="0" noProof="0" dirty="0">
                <a:ln>
                  <a:noFill/>
                </a:ln>
                <a:solidFill>
                  <a:srgbClr val="291B25"/>
                </a:solidFill>
                <a:effectLst/>
                <a:uLnTx/>
                <a:uFillTx/>
                <a:latin typeface="Agrandir"/>
                <a:ea typeface="Agrandir"/>
                <a:cs typeface="Agrandir"/>
                <a:sym typeface="Agrandir"/>
              </a:rPr>
              <a:t>Índice</a:t>
            </a:r>
          </a:p>
        </p:txBody>
      </p:sp>
      <p:grpSp>
        <p:nvGrpSpPr>
          <p:cNvPr id="43" name="Grupo 42">
            <a:extLst>
              <a:ext uri="{FF2B5EF4-FFF2-40B4-BE49-F238E27FC236}">
                <a16:creationId xmlns:a16="http://schemas.microsoft.com/office/drawing/2014/main" id="{B8B75879-44CC-5CAB-F16B-4109D7127CF8}"/>
              </a:ext>
            </a:extLst>
          </p:cNvPr>
          <p:cNvGrpSpPr/>
          <p:nvPr/>
        </p:nvGrpSpPr>
        <p:grpSpPr>
          <a:xfrm>
            <a:off x="1247775" y="1975190"/>
            <a:ext cx="14233425" cy="1143206"/>
            <a:chOff x="1247775" y="1975190"/>
            <a:chExt cx="14233425" cy="1143206"/>
          </a:xfrm>
        </p:grpSpPr>
        <p:grpSp>
          <p:nvGrpSpPr>
            <p:cNvPr id="2" name="Group 2"/>
            <p:cNvGrpSpPr/>
            <p:nvPr/>
          </p:nvGrpSpPr>
          <p:grpSpPr>
            <a:xfrm rot="-5400000">
              <a:off x="1247775" y="1975190"/>
              <a:ext cx="1143206" cy="114320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A1"/>
              </a:solidFill>
              <a:ln cap="sq">
                <a:noFill/>
                <a:prstDash val="solid"/>
                <a:miter/>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 name="TextBox 4"/>
              <p:cNvSpPr txBox="1"/>
              <p:nvPr/>
            </p:nvSpPr>
            <p:spPr>
              <a:xfrm>
                <a:off x="76200" y="38100"/>
                <a:ext cx="660400" cy="69850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5" name="Group 5"/>
            <p:cNvGrpSpPr/>
            <p:nvPr/>
          </p:nvGrpSpPr>
          <p:grpSpPr>
            <a:xfrm rot="-5400000">
              <a:off x="8585419" y="-3777385"/>
              <a:ext cx="1143206" cy="12648356"/>
              <a:chOff x="0" y="0"/>
              <a:chExt cx="181146" cy="2004184"/>
            </a:xfrm>
          </p:grpSpPr>
          <p:sp>
            <p:nvSpPr>
              <p:cNvPr id="6" name="Freeform 6"/>
              <p:cNvSpPr/>
              <p:nvPr/>
            </p:nvSpPr>
            <p:spPr>
              <a:xfrm>
                <a:off x="0" y="0"/>
                <a:ext cx="181146" cy="2004184"/>
              </a:xfrm>
              <a:custGeom>
                <a:avLst/>
                <a:gdLst/>
                <a:ahLst/>
                <a:cxnLst/>
                <a:rect l="l" t="t" r="r" b="b"/>
                <a:pathLst>
                  <a:path w="181146" h="2004184">
                    <a:moveTo>
                      <a:pt x="90573" y="0"/>
                    </a:moveTo>
                    <a:lnTo>
                      <a:pt x="90573" y="0"/>
                    </a:lnTo>
                    <a:cubicBezTo>
                      <a:pt x="114594" y="0"/>
                      <a:pt x="137632" y="9542"/>
                      <a:pt x="154618" y="26528"/>
                    </a:cubicBezTo>
                    <a:cubicBezTo>
                      <a:pt x="171603" y="43514"/>
                      <a:pt x="181146" y="66551"/>
                      <a:pt x="181146" y="90573"/>
                    </a:cubicBezTo>
                    <a:lnTo>
                      <a:pt x="181146" y="1913611"/>
                    </a:lnTo>
                    <a:cubicBezTo>
                      <a:pt x="181146" y="1937633"/>
                      <a:pt x="171603" y="1960670"/>
                      <a:pt x="154618" y="1977656"/>
                    </a:cubicBezTo>
                    <a:cubicBezTo>
                      <a:pt x="137632" y="1994642"/>
                      <a:pt x="114594" y="2004184"/>
                      <a:pt x="90573" y="2004184"/>
                    </a:cubicBezTo>
                    <a:lnTo>
                      <a:pt x="90573" y="2004184"/>
                    </a:lnTo>
                    <a:cubicBezTo>
                      <a:pt x="66551" y="2004184"/>
                      <a:pt x="43514" y="1994642"/>
                      <a:pt x="26528" y="1977656"/>
                    </a:cubicBezTo>
                    <a:cubicBezTo>
                      <a:pt x="9542" y="1960670"/>
                      <a:pt x="0" y="1937633"/>
                      <a:pt x="0" y="1913611"/>
                    </a:cubicBezTo>
                    <a:lnTo>
                      <a:pt x="0" y="90573"/>
                    </a:lnTo>
                    <a:cubicBezTo>
                      <a:pt x="0" y="66551"/>
                      <a:pt x="9542" y="43514"/>
                      <a:pt x="26528" y="26528"/>
                    </a:cubicBezTo>
                    <a:cubicBezTo>
                      <a:pt x="43514" y="9542"/>
                      <a:pt x="66551" y="0"/>
                      <a:pt x="90573" y="0"/>
                    </a:cubicBezTo>
                    <a:close/>
                  </a:path>
                </a:pathLst>
              </a:custGeom>
              <a:solidFill>
                <a:srgbClr val="F7B9A1"/>
              </a:solidFill>
              <a:ln cap="rnd">
                <a:noFill/>
                <a:prstDash val="solid"/>
                <a:round/>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TextBox 7"/>
              <p:cNvSpPr txBox="1"/>
              <p:nvPr/>
            </p:nvSpPr>
            <p:spPr>
              <a:xfrm>
                <a:off x="0" y="-38100"/>
                <a:ext cx="181146" cy="204228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27" name="TextBox 27"/>
            <p:cNvSpPr txBox="1"/>
            <p:nvPr/>
          </p:nvSpPr>
          <p:spPr>
            <a:xfrm>
              <a:off x="1247775" y="2220233"/>
              <a:ext cx="1099476" cy="692497"/>
            </a:xfrm>
            <a:prstGeom prst="rect">
              <a:avLst/>
            </a:prstGeom>
          </p:spPr>
          <p:txBody>
            <a:bodyPr lIns="0" tIns="0" rIns="0" bIns="0" rtlCol="0" anchor="ctr">
              <a:spAutoFit/>
            </a:bodyPr>
            <a:lstStyle/>
            <a:p>
              <a:pPr marL="0" marR="0" lvl="0" indent="0" algn="ctr" defTabSz="914400" rtl="0" eaLnBrk="1" fontAlgn="auto" latinLnBrk="0" hangingPunct="1">
                <a:lnSpc>
                  <a:spcPts val="5350"/>
                </a:lnSpc>
                <a:spcBef>
                  <a:spcPts val="0"/>
                </a:spcBef>
                <a:spcAft>
                  <a:spcPts val="0"/>
                </a:spcAft>
                <a:buClrTx/>
                <a:buSzTx/>
                <a:buFontTx/>
                <a:buNone/>
                <a:tabLst/>
                <a:defRPr/>
              </a:pPr>
              <a:r>
                <a:rPr kumimoji="0" lang="es-AR" sz="5000" b="0" i="0" u="none" strike="noStrike" kern="1200" cap="none" spc="0" normalizeH="0" baseline="0" noProof="0" dirty="0">
                  <a:ln>
                    <a:noFill/>
                  </a:ln>
                  <a:solidFill>
                    <a:srgbClr val="291B25"/>
                  </a:solidFill>
                  <a:effectLst/>
                  <a:uLnTx/>
                  <a:uFillTx/>
                  <a:latin typeface="Agrandir"/>
                  <a:ea typeface="Agrandir"/>
                  <a:cs typeface="Agrandir"/>
                  <a:sym typeface="Agrandir"/>
                </a:rPr>
                <a:t>04</a:t>
              </a:r>
            </a:p>
          </p:txBody>
        </p:sp>
        <p:sp>
          <p:nvSpPr>
            <p:cNvPr id="28" name="TextBox 28"/>
            <p:cNvSpPr txBox="1"/>
            <p:nvPr/>
          </p:nvSpPr>
          <p:spPr>
            <a:xfrm>
              <a:off x="3393891" y="2191658"/>
              <a:ext cx="11830773" cy="692497"/>
            </a:xfrm>
            <a:prstGeom prst="rect">
              <a:avLst/>
            </a:prstGeom>
          </p:spPr>
          <p:txBody>
            <a:bodyPr lIns="0" tIns="0" rIns="0" bIns="0" rtlCol="0" anchor="ctr">
              <a:spAutoFit/>
            </a:bodyPr>
            <a:lstStyle/>
            <a:p>
              <a:pPr marL="0" marR="0" lvl="0" indent="0" algn="l" defTabSz="914400" rtl="0" eaLnBrk="1" fontAlgn="auto" latinLnBrk="0" hangingPunct="1">
                <a:lnSpc>
                  <a:spcPts val="5350"/>
                </a:lnSpc>
                <a:spcBef>
                  <a:spcPts val="0"/>
                </a:spcBef>
                <a:spcAft>
                  <a:spcPts val="0"/>
                </a:spcAft>
                <a:buClrTx/>
                <a:buSzTx/>
                <a:buFontTx/>
                <a:buNone/>
                <a:tabLst/>
                <a:defRPr/>
              </a:pPr>
              <a:r>
                <a:rPr kumimoji="0" lang="es-AR" sz="5000" b="0" i="0" u="none" strike="noStrike" kern="1200" cap="none" spc="0" normalizeH="0" baseline="0" noProof="0" dirty="0">
                  <a:ln>
                    <a:noFill/>
                  </a:ln>
                  <a:solidFill>
                    <a:srgbClr val="291B25"/>
                  </a:solidFill>
                  <a:effectLst/>
                  <a:uLnTx/>
                  <a:uFillTx/>
                  <a:latin typeface="Agrandir"/>
                  <a:ea typeface="Agrandir"/>
                  <a:cs typeface="Agrandir"/>
                  <a:sym typeface="Agrandir"/>
                </a:rPr>
                <a:t>Introducción</a:t>
              </a:r>
            </a:p>
          </p:txBody>
        </p:sp>
      </p:grpSp>
      <p:sp>
        <p:nvSpPr>
          <p:cNvPr id="29" name="TextBox 29"/>
          <p:cNvSpPr txBox="1"/>
          <p:nvPr/>
        </p:nvSpPr>
        <p:spPr>
          <a:xfrm>
            <a:off x="1247775" y="3711938"/>
            <a:ext cx="1099476" cy="692497"/>
          </a:xfrm>
          <a:prstGeom prst="rect">
            <a:avLst/>
          </a:prstGeom>
        </p:spPr>
        <p:txBody>
          <a:bodyPr lIns="0" tIns="0" rIns="0" bIns="0" rtlCol="0" anchor="ctr">
            <a:spAutoFit/>
          </a:bodyPr>
          <a:lstStyle/>
          <a:p>
            <a:pPr marL="0" marR="0" lvl="0" indent="0" algn="ctr" defTabSz="914400" rtl="0" eaLnBrk="1" fontAlgn="auto" latinLnBrk="0" hangingPunct="1">
              <a:lnSpc>
                <a:spcPts val="5350"/>
              </a:lnSpc>
              <a:spcBef>
                <a:spcPts val="0"/>
              </a:spcBef>
              <a:spcAft>
                <a:spcPts val="0"/>
              </a:spcAft>
              <a:buClrTx/>
              <a:buSzTx/>
              <a:buFontTx/>
              <a:buNone/>
              <a:tabLst/>
              <a:defRPr/>
            </a:pPr>
            <a:r>
              <a:rPr kumimoji="0" lang="es-AR" sz="5000" b="0" i="0" u="none" strike="noStrike" kern="1200" cap="none" spc="0" normalizeH="0" baseline="0" noProof="0" dirty="0">
                <a:ln>
                  <a:noFill/>
                </a:ln>
                <a:solidFill>
                  <a:srgbClr val="291B25"/>
                </a:solidFill>
                <a:effectLst/>
                <a:uLnTx/>
                <a:uFillTx/>
                <a:latin typeface="Agrandir"/>
                <a:ea typeface="Agrandir"/>
                <a:cs typeface="Agrandir"/>
                <a:sym typeface="Agrandir"/>
              </a:rPr>
              <a:t>05</a:t>
            </a:r>
          </a:p>
        </p:txBody>
      </p:sp>
      <p:sp>
        <p:nvSpPr>
          <p:cNvPr id="30" name="TextBox 30"/>
          <p:cNvSpPr txBox="1"/>
          <p:nvPr/>
        </p:nvSpPr>
        <p:spPr>
          <a:xfrm>
            <a:off x="3403416" y="3683363"/>
            <a:ext cx="11830773" cy="692497"/>
          </a:xfrm>
          <a:prstGeom prst="rect">
            <a:avLst/>
          </a:prstGeom>
        </p:spPr>
        <p:txBody>
          <a:bodyPr lIns="0" tIns="0" rIns="0" bIns="0" rtlCol="0" anchor="ctr">
            <a:spAutoFit/>
          </a:bodyPr>
          <a:lstStyle/>
          <a:p>
            <a:pPr marL="0" marR="0" lvl="0" indent="0" algn="l" defTabSz="914400" rtl="0" eaLnBrk="1" fontAlgn="auto" latinLnBrk="0" hangingPunct="1">
              <a:lnSpc>
                <a:spcPts val="5350"/>
              </a:lnSpc>
              <a:spcBef>
                <a:spcPts val="0"/>
              </a:spcBef>
              <a:spcAft>
                <a:spcPts val="0"/>
              </a:spcAft>
              <a:buClrTx/>
              <a:buSzTx/>
              <a:buFontTx/>
              <a:buNone/>
              <a:tabLst/>
              <a:defRPr/>
            </a:pPr>
            <a:r>
              <a:rPr kumimoji="0" lang="es-AR" sz="5000" b="0" i="0" u="none" strike="noStrike" kern="1200" cap="none" spc="0" normalizeH="0" baseline="0" noProof="0" dirty="0">
                <a:ln>
                  <a:noFill/>
                </a:ln>
                <a:solidFill>
                  <a:srgbClr val="291B25"/>
                </a:solidFill>
                <a:effectLst/>
                <a:uLnTx/>
                <a:uFillTx/>
                <a:latin typeface="Agrandir"/>
                <a:ea typeface="Agrandir"/>
                <a:cs typeface="Agrandir"/>
                <a:sym typeface="Agrandir"/>
              </a:rPr>
              <a:t>Diseño de investigación</a:t>
            </a:r>
          </a:p>
        </p:txBody>
      </p:sp>
      <p:sp>
        <p:nvSpPr>
          <p:cNvPr id="31" name="TextBox 31"/>
          <p:cNvSpPr txBox="1"/>
          <p:nvPr/>
        </p:nvSpPr>
        <p:spPr>
          <a:xfrm>
            <a:off x="1247775" y="5207568"/>
            <a:ext cx="1099476" cy="692497"/>
          </a:xfrm>
          <a:prstGeom prst="rect">
            <a:avLst/>
          </a:prstGeom>
        </p:spPr>
        <p:txBody>
          <a:bodyPr lIns="0" tIns="0" rIns="0" bIns="0" rtlCol="0" anchor="ctr">
            <a:spAutoFit/>
          </a:bodyPr>
          <a:lstStyle/>
          <a:p>
            <a:pPr marL="0" marR="0" lvl="0" indent="0" algn="ctr" defTabSz="914400" rtl="0" eaLnBrk="1" fontAlgn="auto" latinLnBrk="0" hangingPunct="1">
              <a:lnSpc>
                <a:spcPts val="5350"/>
              </a:lnSpc>
              <a:spcBef>
                <a:spcPts val="0"/>
              </a:spcBef>
              <a:spcAft>
                <a:spcPts val="0"/>
              </a:spcAft>
              <a:buClrTx/>
              <a:buSzTx/>
              <a:buFontTx/>
              <a:buNone/>
              <a:tabLst/>
              <a:defRPr/>
            </a:pPr>
            <a:r>
              <a:rPr kumimoji="0" lang="es-AR" sz="5000" b="0" i="0" u="none" strike="noStrike" kern="1200" cap="none" spc="0" normalizeH="0" baseline="0" noProof="0" dirty="0">
                <a:ln>
                  <a:noFill/>
                </a:ln>
                <a:solidFill>
                  <a:srgbClr val="291B25"/>
                </a:solidFill>
                <a:effectLst/>
                <a:uLnTx/>
                <a:uFillTx/>
                <a:latin typeface="Agrandir"/>
                <a:ea typeface="Agrandir"/>
                <a:cs typeface="Agrandir"/>
                <a:sym typeface="Agrandir"/>
              </a:rPr>
              <a:t>06</a:t>
            </a:r>
          </a:p>
        </p:txBody>
      </p:sp>
      <p:sp>
        <p:nvSpPr>
          <p:cNvPr id="32" name="TextBox 32"/>
          <p:cNvSpPr txBox="1"/>
          <p:nvPr/>
        </p:nvSpPr>
        <p:spPr>
          <a:xfrm>
            <a:off x="3412941" y="5178993"/>
            <a:ext cx="11811723" cy="692497"/>
          </a:xfrm>
          <a:prstGeom prst="rect">
            <a:avLst/>
          </a:prstGeom>
        </p:spPr>
        <p:txBody>
          <a:bodyPr lIns="0" tIns="0" rIns="0" bIns="0" rtlCol="0" anchor="ctr">
            <a:spAutoFit/>
          </a:bodyPr>
          <a:lstStyle/>
          <a:p>
            <a:pPr marL="0" marR="0" lvl="0" indent="0" algn="l" defTabSz="914400" rtl="0" eaLnBrk="1" fontAlgn="auto" latinLnBrk="0" hangingPunct="1">
              <a:lnSpc>
                <a:spcPts val="5350"/>
              </a:lnSpc>
              <a:spcBef>
                <a:spcPts val="0"/>
              </a:spcBef>
              <a:spcAft>
                <a:spcPts val="0"/>
              </a:spcAft>
              <a:buClrTx/>
              <a:buSzTx/>
              <a:buFontTx/>
              <a:buNone/>
              <a:tabLst/>
              <a:defRPr/>
            </a:pPr>
            <a:r>
              <a:rPr kumimoji="0" lang="es-AR" sz="5000" b="0" i="0" u="none" strike="noStrike" kern="1200" cap="none" spc="0" normalizeH="0" baseline="0" noProof="0" dirty="0">
                <a:ln>
                  <a:noFill/>
                </a:ln>
                <a:solidFill>
                  <a:srgbClr val="291B25"/>
                </a:solidFill>
                <a:effectLst/>
                <a:uLnTx/>
                <a:uFillTx/>
                <a:latin typeface="Agrandir"/>
                <a:ea typeface="Agrandir"/>
                <a:cs typeface="Agrandir"/>
                <a:sym typeface="Agrandir"/>
              </a:rPr>
              <a:t>Análisis exploratorio de datos</a:t>
            </a:r>
          </a:p>
        </p:txBody>
      </p:sp>
      <p:sp>
        <p:nvSpPr>
          <p:cNvPr id="33" name="TextBox 33"/>
          <p:cNvSpPr txBox="1"/>
          <p:nvPr/>
        </p:nvSpPr>
        <p:spPr>
          <a:xfrm>
            <a:off x="1291505" y="6700870"/>
            <a:ext cx="1099476" cy="692497"/>
          </a:xfrm>
          <a:prstGeom prst="rect">
            <a:avLst/>
          </a:prstGeom>
        </p:spPr>
        <p:txBody>
          <a:bodyPr lIns="0" tIns="0" rIns="0" bIns="0" rtlCol="0" anchor="ctr">
            <a:spAutoFit/>
          </a:bodyPr>
          <a:lstStyle/>
          <a:p>
            <a:pPr marL="0" marR="0" lvl="0" indent="0" algn="ctr" defTabSz="914400" rtl="0" eaLnBrk="1" fontAlgn="auto" latinLnBrk="0" hangingPunct="1">
              <a:lnSpc>
                <a:spcPts val="5350"/>
              </a:lnSpc>
              <a:spcBef>
                <a:spcPts val="0"/>
              </a:spcBef>
              <a:spcAft>
                <a:spcPts val="0"/>
              </a:spcAft>
              <a:buClrTx/>
              <a:buSzTx/>
              <a:buFontTx/>
              <a:buNone/>
              <a:tabLst/>
              <a:defRPr/>
            </a:pPr>
            <a:r>
              <a:rPr kumimoji="0" lang="es-AR" sz="5000" b="0" i="0" u="none" strike="noStrike" kern="1200" cap="none" spc="0" normalizeH="0" baseline="0" noProof="0" dirty="0">
                <a:ln>
                  <a:noFill/>
                </a:ln>
                <a:solidFill>
                  <a:srgbClr val="291B25"/>
                </a:solidFill>
                <a:effectLst/>
                <a:uLnTx/>
                <a:uFillTx/>
                <a:latin typeface="Agrandir"/>
                <a:ea typeface="Agrandir"/>
                <a:cs typeface="Agrandir"/>
                <a:sym typeface="Agrandir"/>
              </a:rPr>
              <a:t>09</a:t>
            </a:r>
          </a:p>
        </p:txBody>
      </p:sp>
      <p:sp>
        <p:nvSpPr>
          <p:cNvPr id="34" name="TextBox 34"/>
          <p:cNvSpPr txBox="1"/>
          <p:nvPr/>
        </p:nvSpPr>
        <p:spPr>
          <a:xfrm>
            <a:off x="3412941" y="6674624"/>
            <a:ext cx="11830773" cy="692497"/>
          </a:xfrm>
          <a:prstGeom prst="rect">
            <a:avLst/>
          </a:prstGeom>
        </p:spPr>
        <p:txBody>
          <a:bodyPr lIns="0" tIns="0" rIns="0" bIns="0" rtlCol="0" anchor="ctr">
            <a:spAutoFit/>
          </a:bodyPr>
          <a:lstStyle/>
          <a:p>
            <a:pPr marL="0" marR="0" lvl="0" indent="0" algn="l" defTabSz="914400" rtl="0" eaLnBrk="1" fontAlgn="auto" latinLnBrk="0" hangingPunct="1">
              <a:lnSpc>
                <a:spcPts val="5350"/>
              </a:lnSpc>
              <a:spcBef>
                <a:spcPts val="0"/>
              </a:spcBef>
              <a:spcAft>
                <a:spcPts val="0"/>
              </a:spcAft>
              <a:buClrTx/>
              <a:buSzTx/>
              <a:buFontTx/>
              <a:buNone/>
              <a:tabLst/>
              <a:defRPr/>
            </a:pPr>
            <a:r>
              <a:rPr kumimoji="0" lang="es-AR" sz="5000" b="0" i="0" u="none" strike="noStrike" kern="1200" cap="none" spc="0" normalizeH="0" baseline="0" noProof="0" dirty="0">
                <a:ln>
                  <a:noFill/>
                </a:ln>
                <a:solidFill>
                  <a:srgbClr val="291B25"/>
                </a:solidFill>
                <a:effectLst/>
                <a:uLnTx/>
                <a:uFillTx/>
                <a:latin typeface="Agrandir"/>
                <a:ea typeface="Agrandir"/>
                <a:cs typeface="Agrandir"/>
                <a:sym typeface="Agrandir"/>
              </a:rPr>
              <a:t>Estadísticas descriptivas</a:t>
            </a:r>
          </a:p>
        </p:txBody>
      </p:sp>
      <p:grpSp>
        <p:nvGrpSpPr>
          <p:cNvPr id="35" name="Group 35"/>
          <p:cNvGrpSpPr/>
          <p:nvPr/>
        </p:nvGrpSpPr>
        <p:grpSpPr>
          <a:xfrm rot="-5400000">
            <a:off x="1228725" y="7953787"/>
            <a:ext cx="1143206" cy="1143206"/>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A1"/>
            </a:solidFill>
            <a:ln cap="sq">
              <a:noFill/>
              <a:prstDash val="solid"/>
              <a:miter/>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7" name="TextBox 37"/>
            <p:cNvSpPr txBox="1"/>
            <p:nvPr/>
          </p:nvSpPr>
          <p:spPr>
            <a:xfrm>
              <a:off x="76200" y="38100"/>
              <a:ext cx="660400" cy="69850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38" name="Group 38"/>
          <p:cNvGrpSpPr/>
          <p:nvPr/>
        </p:nvGrpSpPr>
        <p:grpSpPr>
          <a:xfrm rot="-5400000">
            <a:off x="8585419" y="2201212"/>
            <a:ext cx="1143206" cy="12648356"/>
            <a:chOff x="0" y="0"/>
            <a:chExt cx="181146" cy="2004184"/>
          </a:xfrm>
        </p:grpSpPr>
        <p:sp>
          <p:nvSpPr>
            <p:cNvPr id="39" name="Freeform 39"/>
            <p:cNvSpPr/>
            <p:nvPr/>
          </p:nvSpPr>
          <p:spPr>
            <a:xfrm>
              <a:off x="0" y="0"/>
              <a:ext cx="181146" cy="2004184"/>
            </a:xfrm>
            <a:custGeom>
              <a:avLst/>
              <a:gdLst/>
              <a:ahLst/>
              <a:cxnLst/>
              <a:rect l="l" t="t" r="r" b="b"/>
              <a:pathLst>
                <a:path w="181146" h="2004184">
                  <a:moveTo>
                    <a:pt x="90573" y="0"/>
                  </a:moveTo>
                  <a:lnTo>
                    <a:pt x="90573" y="0"/>
                  </a:lnTo>
                  <a:cubicBezTo>
                    <a:pt x="114594" y="0"/>
                    <a:pt x="137632" y="9542"/>
                    <a:pt x="154618" y="26528"/>
                  </a:cubicBezTo>
                  <a:cubicBezTo>
                    <a:pt x="171603" y="43514"/>
                    <a:pt x="181146" y="66551"/>
                    <a:pt x="181146" y="90573"/>
                  </a:cubicBezTo>
                  <a:lnTo>
                    <a:pt x="181146" y="1913611"/>
                  </a:lnTo>
                  <a:cubicBezTo>
                    <a:pt x="181146" y="1937633"/>
                    <a:pt x="171603" y="1960670"/>
                    <a:pt x="154618" y="1977656"/>
                  </a:cubicBezTo>
                  <a:cubicBezTo>
                    <a:pt x="137632" y="1994642"/>
                    <a:pt x="114594" y="2004184"/>
                    <a:pt x="90573" y="2004184"/>
                  </a:cubicBezTo>
                  <a:lnTo>
                    <a:pt x="90573" y="2004184"/>
                  </a:lnTo>
                  <a:cubicBezTo>
                    <a:pt x="66551" y="2004184"/>
                    <a:pt x="43514" y="1994642"/>
                    <a:pt x="26528" y="1977656"/>
                  </a:cubicBezTo>
                  <a:cubicBezTo>
                    <a:pt x="9542" y="1960670"/>
                    <a:pt x="0" y="1937633"/>
                    <a:pt x="0" y="1913611"/>
                  </a:cubicBezTo>
                  <a:lnTo>
                    <a:pt x="0" y="90573"/>
                  </a:lnTo>
                  <a:cubicBezTo>
                    <a:pt x="0" y="66551"/>
                    <a:pt x="9542" y="43514"/>
                    <a:pt x="26528" y="26528"/>
                  </a:cubicBezTo>
                  <a:cubicBezTo>
                    <a:pt x="43514" y="9542"/>
                    <a:pt x="66551" y="0"/>
                    <a:pt x="90573" y="0"/>
                  </a:cubicBezTo>
                  <a:close/>
                </a:path>
              </a:pathLst>
            </a:custGeom>
            <a:solidFill>
              <a:srgbClr val="F7B9A1"/>
            </a:solidFill>
            <a:ln cap="rnd">
              <a:noFill/>
              <a:prstDash val="solid"/>
              <a:round/>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0" name="TextBox 40"/>
            <p:cNvSpPr txBox="1"/>
            <p:nvPr/>
          </p:nvSpPr>
          <p:spPr>
            <a:xfrm>
              <a:off x="0" y="-38100"/>
              <a:ext cx="181146" cy="204228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41" name="TextBox 41"/>
          <p:cNvSpPr txBox="1"/>
          <p:nvPr/>
        </p:nvSpPr>
        <p:spPr>
          <a:xfrm>
            <a:off x="1272455" y="8196501"/>
            <a:ext cx="1099476" cy="692497"/>
          </a:xfrm>
          <a:prstGeom prst="rect">
            <a:avLst/>
          </a:prstGeom>
        </p:spPr>
        <p:txBody>
          <a:bodyPr lIns="0" tIns="0" rIns="0" bIns="0" rtlCol="0" anchor="ctr">
            <a:spAutoFit/>
          </a:bodyPr>
          <a:lstStyle/>
          <a:p>
            <a:pPr marL="0" marR="0" lvl="0" indent="0" algn="ctr" defTabSz="914400" rtl="0" eaLnBrk="1" fontAlgn="auto" latinLnBrk="0" hangingPunct="1">
              <a:lnSpc>
                <a:spcPts val="5350"/>
              </a:lnSpc>
              <a:spcBef>
                <a:spcPts val="0"/>
              </a:spcBef>
              <a:spcAft>
                <a:spcPts val="0"/>
              </a:spcAft>
              <a:buClrTx/>
              <a:buSzTx/>
              <a:buFontTx/>
              <a:buNone/>
              <a:tabLst/>
              <a:defRPr/>
            </a:pPr>
            <a:r>
              <a:rPr kumimoji="0" lang="es-AR" sz="5000" b="0" i="0" u="none" strike="noStrike" kern="1200" cap="none" spc="0" normalizeH="0" baseline="0" noProof="0" dirty="0">
                <a:ln>
                  <a:noFill/>
                </a:ln>
                <a:solidFill>
                  <a:srgbClr val="291B25"/>
                </a:solidFill>
                <a:effectLst/>
                <a:uLnTx/>
                <a:uFillTx/>
                <a:latin typeface="Agrandir"/>
                <a:ea typeface="Agrandir"/>
                <a:cs typeface="Agrandir"/>
                <a:sym typeface="Agrandir"/>
              </a:rPr>
              <a:t>13</a:t>
            </a:r>
          </a:p>
        </p:txBody>
      </p:sp>
      <p:sp>
        <p:nvSpPr>
          <p:cNvPr id="42" name="TextBox 42"/>
          <p:cNvSpPr txBox="1"/>
          <p:nvPr/>
        </p:nvSpPr>
        <p:spPr>
          <a:xfrm>
            <a:off x="3393891" y="8170255"/>
            <a:ext cx="11830773" cy="692497"/>
          </a:xfrm>
          <a:prstGeom prst="rect">
            <a:avLst/>
          </a:prstGeom>
        </p:spPr>
        <p:txBody>
          <a:bodyPr lIns="0" tIns="0" rIns="0" bIns="0" rtlCol="0" anchor="ctr">
            <a:spAutoFit/>
          </a:bodyPr>
          <a:lstStyle/>
          <a:p>
            <a:pPr marL="0" marR="0" lvl="0" indent="0" algn="l" defTabSz="914400" rtl="0" eaLnBrk="1" fontAlgn="auto" latinLnBrk="0" hangingPunct="1">
              <a:lnSpc>
                <a:spcPts val="5350"/>
              </a:lnSpc>
              <a:spcBef>
                <a:spcPts val="0"/>
              </a:spcBef>
              <a:spcAft>
                <a:spcPts val="0"/>
              </a:spcAft>
              <a:buClrTx/>
              <a:buSzTx/>
              <a:buFontTx/>
              <a:buNone/>
              <a:tabLst/>
              <a:defRPr/>
            </a:pPr>
            <a:r>
              <a:rPr kumimoji="0" lang="es-AR" sz="5000" b="0" i="0" u="none" strike="noStrike" kern="1200" cap="none" spc="0" normalizeH="0" baseline="0" noProof="0" dirty="0">
                <a:ln>
                  <a:noFill/>
                </a:ln>
                <a:solidFill>
                  <a:srgbClr val="291B25"/>
                </a:solidFill>
                <a:effectLst/>
                <a:uLnTx/>
                <a:uFillTx/>
                <a:latin typeface="Agrandir"/>
                <a:ea typeface="Agrandir"/>
                <a:cs typeface="Agrandir"/>
                <a:sym typeface="Agrandir"/>
              </a:rPr>
              <a:t>Test de proporciones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a:extLst>
            <a:ext uri="{FF2B5EF4-FFF2-40B4-BE49-F238E27FC236}">
              <a16:creationId xmlns:a16="http://schemas.microsoft.com/office/drawing/2014/main" id="{A7307CD7-3E39-ED88-3BB4-78A10EE9EC8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62AA261-17FA-3C00-F142-2D6B4BFDF97F}"/>
              </a:ext>
            </a:extLst>
          </p:cNvPr>
          <p:cNvGrpSpPr/>
          <p:nvPr/>
        </p:nvGrpSpPr>
        <p:grpSpPr>
          <a:xfrm rot="-5400000">
            <a:off x="1247775" y="1975190"/>
            <a:ext cx="1143206" cy="1143206"/>
            <a:chOff x="0" y="0"/>
            <a:chExt cx="812800" cy="812800"/>
          </a:xfrm>
        </p:grpSpPr>
        <p:sp>
          <p:nvSpPr>
            <p:cNvPr id="3" name="Freeform 3">
              <a:extLst>
                <a:ext uri="{FF2B5EF4-FFF2-40B4-BE49-F238E27FC236}">
                  <a16:creationId xmlns:a16="http://schemas.microsoft.com/office/drawing/2014/main" id="{8D60BB62-40E2-D340-7633-763B638B47C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A1"/>
            </a:solidFill>
            <a:ln cap="sq">
              <a:noFill/>
              <a:prstDash val="solid"/>
              <a:miter/>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ED617795-0A46-59EA-BEB1-1D5DC9990E8B}"/>
                </a:ext>
              </a:extLst>
            </p:cNvPr>
            <p:cNvSpPr txBox="1"/>
            <p:nvPr/>
          </p:nvSpPr>
          <p:spPr>
            <a:xfrm>
              <a:off x="76200" y="38100"/>
              <a:ext cx="660400" cy="69850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5" name="Group 5">
            <a:extLst>
              <a:ext uri="{FF2B5EF4-FFF2-40B4-BE49-F238E27FC236}">
                <a16:creationId xmlns:a16="http://schemas.microsoft.com/office/drawing/2014/main" id="{B465EDF7-5C48-C210-0F33-70CF45EE4009}"/>
              </a:ext>
            </a:extLst>
          </p:cNvPr>
          <p:cNvGrpSpPr/>
          <p:nvPr/>
        </p:nvGrpSpPr>
        <p:grpSpPr>
          <a:xfrm rot="-5400000">
            <a:off x="8585419" y="-3777385"/>
            <a:ext cx="1143206" cy="12648356"/>
            <a:chOff x="0" y="0"/>
            <a:chExt cx="181146" cy="2004184"/>
          </a:xfrm>
        </p:grpSpPr>
        <p:sp>
          <p:nvSpPr>
            <p:cNvPr id="6" name="Freeform 6">
              <a:extLst>
                <a:ext uri="{FF2B5EF4-FFF2-40B4-BE49-F238E27FC236}">
                  <a16:creationId xmlns:a16="http://schemas.microsoft.com/office/drawing/2014/main" id="{C4013905-0ABA-BF00-D12A-AB6D3A59EAAC}"/>
                </a:ext>
              </a:extLst>
            </p:cNvPr>
            <p:cNvSpPr/>
            <p:nvPr/>
          </p:nvSpPr>
          <p:spPr>
            <a:xfrm>
              <a:off x="0" y="0"/>
              <a:ext cx="181146" cy="2004184"/>
            </a:xfrm>
            <a:custGeom>
              <a:avLst/>
              <a:gdLst/>
              <a:ahLst/>
              <a:cxnLst/>
              <a:rect l="l" t="t" r="r" b="b"/>
              <a:pathLst>
                <a:path w="181146" h="2004184">
                  <a:moveTo>
                    <a:pt x="90573" y="0"/>
                  </a:moveTo>
                  <a:lnTo>
                    <a:pt x="90573" y="0"/>
                  </a:lnTo>
                  <a:cubicBezTo>
                    <a:pt x="114594" y="0"/>
                    <a:pt x="137632" y="9542"/>
                    <a:pt x="154618" y="26528"/>
                  </a:cubicBezTo>
                  <a:cubicBezTo>
                    <a:pt x="171603" y="43514"/>
                    <a:pt x="181146" y="66551"/>
                    <a:pt x="181146" y="90573"/>
                  </a:cubicBezTo>
                  <a:lnTo>
                    <a:pt x="181146" y="1913611"/>
                  </a:lnTo>
                  <a:cubicBezTo>
                    <a:pt x="181146" y="1937633"/>
                    <a:pt x="171603" y="1960670"/>
                    <a:pt x="154618" y="1977656"/>
                  </a:cubicBezTo>
                  <a:cubicBezTo>
                    <a:pt x="137632" y="1994642"/>
                    <a:pt x="114594" y="2004184"/>
                    <a:pt x="90573" y="2004184"/>
                  </a:cubicBezTo>
                  <a:lnTo>
                    <a:pt x="90573" y="2004184"/>
                  </a:lnTo>
                  <a:cubicBezTo>
                    <a:pt x="66551" y="2004184"/>
                    <a:pt x="43514" y="1994642"/>
                    <a:pt x="26528" y="1977656"/>
                  </a:cubicBezTo>
                  <a:cubicBezTo>
                    <a:pt x="9542" y="1960670"/>
                    <a:pt x="0" y="1937633"/>
                    <a:pt x="0" y="1913611"/>
                  </a:cubicBezTo>
                  <a:lnTo>
                    <a:pt x="0" y="90573"/>
                  </a:lnTo>
                  <a:cubicBezTo>
                    <a:pt x="0" y="66551"/>
                    <a:pt x="9542" y="43514"/>
                    <a:pt x="26528" y="26528"/>
                  </a:cubicBezTo>
                  <a:cubicBezTo>
                    <a:pt x="43514" y="9542"/>
                    <a:pt x="66551" y="0"/>
                    <a:pt x="90573" y="0"/>
                  </a:cubicBezTo>
                  <a:close/>
                </a:path>
              </a:pathLst>
            </a:custGeom>
            <a:solidFill>
              <a:srgbClr val="F7B9A1"/>
            </a:solidFill>
            <a:ln cap="rnd">
              <a:noFill/>
              <a:prstDash val="solid"/>
              <a:round/>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308BD8A2-15CE-7F96-469D-0E4E15507926}"/>
                </a:ext>
              </a:extLst>
            </p:cNvPr>
            <p:cNvSpPr txBox="1"/>
            <p:nvPr/>
          </p:nvSpPr>
          <p:spPr>
            <a:xfrm>
              <a:off x="0" y="-38100"/>
              <a:ext cx="181146" cy="204228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873A7C33-82C1-8D39-01AB-CA1CFD5BDB48}"/>
              </a:ext>
            </a:extLst>
          </p:cNvPr>
          <p:cNvGrpSpPr/>
          <p:nvPr/>
        </p:nvGrpSpPr>
        <p:grpSpPr>
          <a:xfrm rot="-5400000">
            <a:off x="1247775" y="3466894"/>
            <a:ext cx="1143206" cy="1143206"/>
            <a:chOff x="0" y="0"/>
            <a:chExt cx="812800" cy="812800"/>
          </a:xfrm>
        </p:grpSpPr>
        <p:sp>
          <p:nvSpPr>
            <p:cNvPr id="9" name="Freeform 9">
              <a:extLst>
                <a:ext uri="{FF2B5EF4-FFF2-40B4-BE49-F238E27FC236}">
                  <a16:creationId xmlns:a16="http://schemas.microsoft.com/office/drawing/2014/main" id="{3B7E8F32-39FF-AC56-66AD-79B70E55E1F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A1"/>
            </a:solidFill>
            <a:ln cap="sq">
              <a:noFill/>
              <a:prstDash val="solid"/>
              <a:miter/>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9D3477CA-1E9A-B1DF-6AFA-D4E91475DACA}"/>
                </a:ext>
              </a:extLst>
            </p:cNvPr>
            <p:cNvSpPr txBox="1"/>
            <p:nvPr/>
          </p:nvSpPr>
          <p:spPr>
            <a:xfrm>
              <a:off x="76200" y="38100"/>
              <a:ext cx="660400" cy="69850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CE920113-6645-2ACE-FCE5-D20C1AEB5A10}"/>
              </a:ext>
            </a:extLst>
          </p:cNvPr>
          <p:cNvGrpSpPr/>
          <p:nvPr/>
        </p:nvGrpSpPr>
        <p:grpSpPr>
          <a:xfrm rot="-5400000">
            <a:off x="8594944" y="-2285681"/>
            <a:ext cx="1143206" cy="12648356"/>
            <a:chOff x="0" y="0"/>
            <a:chExt cx="181146" cy="2004184"/>
          </a:xfrm>
        </p:grpSpPr>
        <p:sp>
          <p:nvSpPr>
            <p:cNvPr id="12" name="Freeform 12">
              <a:extLst>
                <a:ext uri="{FF2B5EF4-FFF2-40B4-BE49-F238E27FC236}">
                  <a16:creationId xmlns:a16="http://schemas.microsoft.com/office/drawing/2014/main" id="{D64FE394-34DE-E985-0686-42099641E6C3}"/>
                </a:ext>
              </a:extLst>
            </p:cNvPr>
            <p:cNvSpPr/>
            <p:nvPr/>
          </p:nvSpPr>
          <p:spPr>
            <a:xfrm>
              <a:off x="0" y="0"/>
              <a:ext cx="181146" cy="2004184"/>
            </a:xfrm>
            <a:custGeom>
              <a:avLst/>
              <a:gdLst/>
              <a:ahLst/>
              <a:cxnLst/>
              <a:rect l="l" t="t" r="r" b="b"/>
              <a:pathLst>
                <a:path w="181146" h="2004184">
                  <a:moveTo>
                    <a:pt x="90573" y="0"/>
                  </a:moveTo>
                  <a:lnTo>
                    <a:pt x="90573" y="0"/>
                  </a:lnTo>
                  <a:cubicBezTo>
                    <a:pt x="114594" y="0"/>
                    <a:pt x="137632" y="9542"/>
                    <a:pt x="154618" y="26528"/>
                  </a:cubicBezTo>
                  <a:cubicBezTo>
                    <a:pt x="171603" y="43514"/>
                    <a:pt x="181146" y="66551"/>
                    <a:pt x="181146" y="90573"/>
                  </a:cubicBezTo>
                  <a:lnTo>
                    <a:pt x="181146" y="1913611"/>
                  </a:lnTo>
                  <a:cubicBezTo>
                    <a:pt x="181146" y="1937633"/>
                    <a:pt x="171603" y="1960670"/>
                    <a:pt x="154618" y="1977656"/>
                  </a:cubicBezTo>
                  <a:cubicBezTo>
                    <a:pt x="137632" y="1994642"/>
                    <a:pt x="114594" y="2004184"/>
                    <a:pt x="90573" y="2004184"/>
                  </a:cubicBezTo>
                  <a:lnTo>
                    <a:pt x="90573" y="2004184"/>
                  </a:lnTo>
                  <a:cubicBezTo>
                    <a:pt x="66551" y="2004184"/>
                    <a:pt x="43514" y="1994642"/>
                    <a:pt x="26528" y="1977656"/>
                  </a:cubicBezTo>
                  <a:cubicBezTo>
                    <a:pt x="9542" y="1960670"/>
                    <a:pt x="0" y="1937633"/>
                    <a:pt x="0" y="1913611"/>
                  </a:cubicBezTo>
                  <a:lnTo>
                    <a:pt x="0" y="90573"/>
                  </a:lnTo>
                  <a:cubicBezTo>
                    <a:pt x="0" y="66551"/>
                    <a:pt x="9542" y="43514"/>
                    <a:pt x="26528" y="26528"/>
                  </a:cubicBezTo>
                  <a:cubicBezTo>
                    <a:pt x="43514" y="9542"/>
                    <a:pt x="66551" y="0"/>
                    <a:pt x="90573" y="0"/>
                  </a:cubicBezTo>
                  <a:close/>
                </a:path>
              </a:pathLst>
            </a:custGeom>
            <a:solidFill>
              <a:srgbClr val="F7B9A1"/>
            </a:solidFill>
            <a:ln cap="rnd">
              <a:noFill/>
              <a:prstDash val="solid"/>
              <a:round/>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0077A405-FF93-5096-2532-BE44D441DC84}"/>
                </a:ext>
              </a:extLst>
            </p:cNvPr>
            <p:cNvSpPr txBox="1"/>
            <p:nvPr/>
          </p:nvSpPr>
          <p:spPr>
            <a:xfrm>
              <a:off x="0" y="-38100"/>
              <a:ext cx="181146" cy="204228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CEBD48E5-AF54-0E6C-61B6-483E75DCA758}"/>
              </a:ext>
            </a:extLst>
          </p:cNvPr>
          <p:cNvGrpSpPr/>
          <p:nvPr/>
        </p:nvGrpSpPr>
        <p:grpSpPr>
          <a:xfrm rot="-5400000">
            <a:off x="1247775" y="4962525"/>
            <a:ext cx="1143206" cy="1143206"/>
            <a:chOff x="0" y="0"/>
            <a:chExt cx="812800" cy="812800"/>
          </a:xfrm>
        </p:grpSpPr>
        <p:sp>
          <p:nvSpPr>
            <p:cNvPr id="15" name="Freeform 15">
              <a:extLst>
                <a:ext uri="{FF2B5EF4-FFF2-40B4-BE49-F238E27FC236}">
                  <a16:creationId xmlns:a16="http://schemas.microsoft.com/office/drawing/2014/main" id="{3EBB28E8-56C8-B947-99D5-FA16C379EE2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A1"/>
            </a:solidFill>
            <a:ln cap="sq">
              <a:noFill/>
              <a:prstDash val="solid"/>
              <a:miter/>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4C71CFDA-FA54-0B72-6F70-CAFAE633918B}"/>
                </a:ext>
              </a:extLst>
            </p:cNvPr>
            <p:cNvSpPr txBox="1"/>
            <p:nvPr/>
          </p:nvSpPr>
          <p:spPr>
            <a:xfrm>
              <a:off x="76200" y="38100"/>
              <a:ext cx="660400" cy="69850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DAE0F598-AD88-0770-B182-2089FA272F74}"/>
              </a:ext>
            </a:extLst>
          </p:cNvPr>
          <p:cNvGrpSpPr/>
          <p:nvPr/>
        </p:nvGrpSpPr>
        <p:grpSpPr>
          <a:xfrm rot="-5400000">
            <a:off x="8604469" y="-790050"/>
            <a:ext cx="1143206" cy="12648356"/>
            <a:chOff x="0" y="0"/>
            <a:chExt cx="181146" cy="2004184"/>
          </a:xfrm>
        </p:grpSpPr>
        <p:sp>
          <p:nvSpPr>
            <p:cNvPr id="18" name="Freeform 18">
              <a:extLst>
                <a:ext uri="{FF2B5EF4-FFF2-40B4-BE49-F238E27FC236}">
                  <a16:creationId xmlns:a16="http://schemas.microsoft.com/office/drawing/2014/main" id="{7A07A15B-7F9C-F3FE-9506-B115F3A80A20}"/>
                </a:ext>
              </a:extLst>
            </p:cNvPr>
            <p:cNvSpPr/>
            <p:nvPr/>
          </p:nvSpPr>
          <p:spPr>
            <a:xfrm>
              <a:off x="0" y="0"/>
              <a:ext cx="181146" cy="2004184"/>
            </a:xfrm>
            <a:custGeom>
              <a:avLst/>
              <a:gdLst/>
              <a:ahLst/>
              <a:cxnLst/>
              <a:rect l="l" t="t" r="r" b="b"/>
              <a:pathLst>
                <a:path w="181146" h="2004184">
                  <a:moveTo>
                    <a:pt x="90573" y="0"/>
                  </a:moveTo>
                  <a:lnTo>
                    <a:pt x="90573" y="0"/>
                  </a:lnTo>
                  <a:cubicBezTo>
                    <a:pt x="114594" y="0"/>
                    <a:pt x="137632" y="9542"/>
                    <a:pt x="154618" y="26528"/>
                  </a:cubicBezTo>
                  <a:cubicBezTo>
                    <a:pt x="171603" y="43514"/>
                    <a:pt x="181146" y="66551"/>
                    <a:pt x="181146" y="90573"/>
                  </a:cubicBezTo>
                  <a:lnTo>
                    <a:pt x="181146" y="1913611"/>
                  </a:lnTo>
                  <a:cubicBezTo>
                    <a:pt x="181146" y="1937633"/>
                    <a:pt x="171603" y="1960670"/>
                    <a:pt x="154618" y="1977656"/>
                  </a:cubicBezTo>
                  <a:cubicBezTo>
                    <a:pt x="137632" y="1994642"/>
                    <a:pt x="114594" y="2004184"/>
                    <a:pt x="90573" y="2004184"/>
                  </a:cubicBezTo>
                  <a:lnTo>
                    <a:pt x="90573" y="2004184"/>
                  </a:lnTo>
                  <a:cubicBezTo>
                    <a:pt x="66551" y="2004184"/>
                    <a:pt x="43514" y="1994642"/>
                    <a:pt x="26528" y="1977656"/>
                  </a:cubicBezTo>
                  <a:cubicBezTo>
                    <a:pt x="9542" y="1960670"/>
                    <a:pt x="0" y="1937633"/>
                    <a:pt x="0" y="1913611"/>
                  </a:cubicBezTo>
                  <a:lnTo>
                    <a:pt x="0" y="90573"/>
                  </a:lnTo>
                  <a:cubicBezTo>
                    <a:pt x="0" y="66551"/>
                    <a:pt x="9542" y="43514"/>
                    <a:pt x="26528" y="26528"/>
                  </a:cubicBezTo>
                  <a:cubicBezTo>
                    <a:pt x="43514" y="9542"/>
                    <a:pt x="66551" y="0"/>
                    <a:pt x="90573" y="0"/>
                  </a:cubicBezTo>
                  <a:close/>
                </a:path>
              </a:pathLst>
            </a:custGeom>
            <a:solidFill>
              <a:srgbClr val="F7B9A1"/>
            </a:solidFill>
            <a:ln cap="rnd">
              <a:noFill/>
              <a:prstDash val="solid"/>
              <a:round/>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463C3BE4-C9E7-038F-066F-446F5BE9B594}"/>
                </a:ext>
              </a:extLst>
            </p:cNvPr>
            <p:cNvSpPr txBox="1"/>
            <p:nvPr/>
          </p:nvSpPr>
          <p:spPr>
            <a:xfrm>
              <a:off x="0" y="-38100"/>
              <a:ext cx="181146" cy="204228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20" name="Group 20">
            <a:extLst>
              <a:ext uri="{FF2B5EF4-FFF2-40B4-BE49-F238E27FC236}">
                <a16:creationId xmlns:a16="http://schemas.microsoft.com/office/drawing/2014/main" id="{178D0887-97B5-BE6A-A01F-392C17658A00}"/>
              </a:ext>
            </a:extLst>
          </p:cNvPr>
          <p:cNvGrpSpPr/>
          <p:nvPr/>
        </p:nvGrpSpPr>
        <p:grpSpPr>
          <a:xfrm rot="-5400000">
            <a:off x="1247775" y="6458156"/>
            <a:ext cx="1143206" cy="1143206"/>
            <a:chOff x="0" y="0"/>
            <a:chExt cx="812800" cy="812800"/>
          </a:xfrm>
        </p:grpSpPr>
        <p:sp>
          <p:nvSpPr>
            <p:cNvPr id="21" name="Freeform 21">
              <a:extLst>
                <a:ext uri="{FF2B5EF4-FFF2-40B4-BE49-F238E27FC236}">
                  <a16:creationId xmlns:a16="http://schemas.microsoft.com/office/drawing/2014/main" id="{C6932B2C-4147-A88E-8A65-9596B1FA269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A1"/>
            </a:solidFill>
            <a:ln cap="sq">
              <a:noFill/>
              <a:prstDash val="solid"/>
              <a:miter/>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2" name="TextBox 22">
              <a:extLst>
                <a:ext uri="{FF2B5EF4-FFF2-40B4-BE49-F238E27FC236}">
                  <a16:creationId xmlns:a16="http://schemas.microsoft.com/office/drawing/2014/main" id="{2501E110-4EC6-D0EE-35D6-D81F8C4F0545}"/>
                </a:ext>
              </a:extLst>
            </p:cNvPr>
            <p:cNvSpPr txBox="1"/>
            <p:nvPr/>
          </p:nvSpPr>
          <p:spPr>
            <a:xfrm>
              <a:off x="76200" y="38100"/>
              <a:ext cx="660400" cy="69850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23" name="Group 23">
            <a:extLst>
              <a:ext uri="{FF2B5EF4-FFF2-40B4-BE49-F238E27FC236}">
                <a16:creationId xmlns:a16="http://schemas.microsoft.com/office/drawing/2014/main" id="{13DAE277-1D3E-2100-A712-73990236883D}"/>
              </a:ext>
            </a:extLst>
          </p:cNvPr>
          <p:cNvGrpSpPr/>
          <p:nvPr/>
        </p:nvGrpSpPr>
        <p:grpSpPr>
          <a:xfrm rot="-5400000">
            <a:off x="8604469" y="705581"/>
            <a:ext cx="1143206" cy="12648356"/>
            <a:chOff x="0" y="0"/>
            <a:chExt cx="181146" cy="2004184"/>
          </a:xfrm>
        </p:grpSpPr>
        <p:sp>
          <p:nvSpPr>
            <p:cNvPr id="24" name="Freeform 24">
              <a:extLst>
                <a:ext uri="{FF2B5EF4-FFF2-40B4-BE49-F238E27FC236}">
                  <a16:creationId xmlns:a16="http://schemas.microsoft.com/office/drawing/2014/main" id="{1B58937E-5EA5-D146-86EE-9BC4FA4B85B0}"/>
                </a:ext>
              </a:extLst>
            </p:cNvPr>
            <p:cNvSpPr/>
            <p:nvPr/>
          </p:nvSpPr>
          <p:spPr>
            <a:xfrm>
              <a:off x="0" y="0"/>
              <a:ext cx="181146" cy="2004184"/>
            </a:xfrm>
            <a:custGeom>
              <a:avLst/>
              <a:gdLst/>
              <a:ahLst/>
              <a:cxnLst/>
              <a:rect l="l" t="t" r="r" b="b"/>
              <a:pathLst>
                <a:path w="181146" h="2004184">
                  <a:moveTo>
                    <a:pt x="90573" y="0"/>
                  </a:moveTo>
                  <a:lnTo>
                    <a:pt x="90573" y="0"/>
                  </a:lnTo>
                  <a:cubicBezTo>
                    <a:pt x="114594" y="0"/>
                    <a:pt x="137632" y="9542"/>
                    <a:pt x="154618" y="26528"/>
                  </a:cubicBezTo>
                  <a:cubicBezTo>
                    <a:pt x="171603" y="43514"/>
                    <a:pt x="181146" y="66551"/>
                    <a:pt x="181146" y="90573"/>
                  </a:cubicBezTo>
                  <a:lnTo>
                    <a:pt x="181146" y="1913611"/>
                  </a:lnTo>
                  <a:cubicBezTo>
                    <a:pt x="181146" y="1937633"/>
                    <a:pt x="171603" y="1960670"/>
                    <a:pt x="154618" y="1977656"/>
                  </a:cubicBezTo>
                  <a:cubicBezTo>
                    <a:pt x="137632" y="1994642"/>
                    <a:pt x="114594" y="2004184"/>
                    <a:pt x="90573" y="2004184"/>
                  </a:cubicBezTo>
                  <a:lnTo>
                    <a:pt x="90573" y="2004184"/>
                  </a:lnTo>
                  <a:cubicBezTo>
                    <a:pt x="66551" y="2004184"/>
                    <a:pt x="43514" y="1994642"/>
                    <a:pt x="26528" y="1977656"/>
                  </a:cubicBezTo>
                  <a:cubicBezTo>
                    <a:pt x="9542" y="1960670"/>
                    <a:pt x="0" y="1937633"/>
                    <a:pt x="0" y="1913611"/>
                  </a:cubicBezTo>
                  <a:lnTo>
                    <a:pt x="0" y="90573"/>
                  </a:lnTo>
                  <a:cubicBezTo>
                    <a:pt x="0" y="66551"/>
                    <a:pt x="9542" y="43514"/>
                    <a:pt x="26528" y="26528"/>
                  </a:cubicBezTo>
                  <a:cubicBezTo>
                    <a:pt x="43514" y="9542"/>
                    <a:pt x="66551" y="0"/>
                    <a:pt x="90573" y="0"/>
                  </a:cubicBezTo>
                  <a:close/>
                </a:path>
              </a:pathLst>
            </a:custGeom>
            <a:solidFill>
              <a:srgbClr val="F7B9A1"/>
            </a:solidFill>
            <a:ln cap="rnd">
              <a:noFill/>
              <a:prstDash val="solid"/>
              <a:round/>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5" name="TextBox 25">
              <a:extLst>
                <a:ext uri="{FF2B5EF4-FFF2-40B4-BE49-F238E27FC236}">
                  <a16:creationId xmlns:a16="http://schemas.microsoft.com/office/drawing/2014/main" id="{EAB9E0CC-6E71-D0A7-74DA-F13EA48BBF8D}"/>
                </a:ext>
              </a:extLst>
            </p:cNvPr>
            <p:cNvSpPr txBox="1"/>
            <p:nvPr/>
          </p:nvSpPr>
          <p:spPr>
            <a:xfrm>
              <a:off x="0" y="-38100"/>
              <a:ext cx="181146" cy="204228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26" name="TextBox 26">
            <a:extLst>
              <a:ext uri="{FF2B5EF4-FFF2-40B4-BE49-F238E27FC236}">
                <a16:creationId xmlns:a16="http://schemas.microsoft.com/office/drawing/2014/main" id="{14492532-9EC1-5C63-868F-DF704A474615}"/>
              </a:ext>
            </a:extLst>
          </p:cNvPr>
          <p:cNvSpPr txBox="1"/>
          <p:nvPr/>
        </p:nvSpPr>
        <p:spPr>
          <a:xfrm>
            <a:off x="713300" y="525031"/>
            <a:ext cx="5612659" cy="1510665"/>
          </a:xfrm>
          <a:prstGeom prst="rect">
            <a:avLst/>
          </a:prstGeom>
        </p:spPr>
        <p:txBody>
          <a:bodyPr lIns="0" tIns="0" rIns="0" bIns="0" rtlCol="0" anchor="t">
            <a:spAutoFit/>
          </a:bodyPr>
          <a:lstStyle/>
          <a:p>
            <a:pPr marL="0" marR="0" lvl="0" indent="0" algn="l" defTabSz="914400" rtl="0" eaLnBrk="1" fontAlgn="auto" latinLnBrk="0" hangingPunct="1">
              <a:lnSpc>
                <a:spcPts val="9630"/>
              </a:lnSpc>
              <a:spcBef>
                <a:spcPts val="0"/>
              </a:spcBef>
              <a:spcAft>
                <a:spcPts val="0"/>
              </a:spcAft>
              <a:buClrTx/>
              <a:buSzTx/>
              <a:buFontTx/>
              <a:buNone/>
              <a:tabLst/>
              <a:defRPr/>
            </a:pPr>
            <a:r>
              <a:rPr kumimoji="0" lang="es-AR" sz="9000" b="0" i="0" u="none" strike="noStrike" kern="1200" cap="none" spc="0" normalizeH="0" baseline="0" noProof="0" dirty="0">
                <a:ln>
                  <a:noFill/>
                </a:ln>
                <a:solidFill>
                  <a:srgbClr val="291B25"/>
                </a:solidFill>
                <a:effectLst/>
                <a:uLnTx/>
                <a:uFillTx/>
                <a:latin typeface="Agrandir"/>
                <a:ea typeface="Agrandir"/>
                <a:cs typeface="Agrandir"/>
                <a:sym typeface="Agrandir"/>
              </a:rPr>
              <a:t>Índice</a:t>
            </a:r>
          </a:p>
        </p:txBody>
      </p:sp>
      <p:sp>
        <p:nvSpPr>
          <p:cNvPr id="27" name="TextBox 27">
            <a:extLst>
              <a:ext uri="{FF2B5EF4-FFF2-40B4-BE49-F238E27FC236}">
                <a16:creationId xmlns:a16="http://schemas.microsoft.com/office/drawing/2014/main" id="{E357FC2A-22B9-7621-2690-1D4E69F09C2B}"/>
              </a:ext>
            </a:extLst>
          </p:cNvPr>
          <p:cNvSpPr txBox="1"/>
          <p:nvPr/>
        </p:nvSpPr>
        <p:spPr>
          <a:xfrm>
            <a:off x="1247775" y="2220233"/>
            <a:ext cx="1099476" cy="692497"/>
          </a:xfrm>
          <a:prstGeom prst="rect">
            <a:avLst/>
          </a:prstGeom>
        </p:spPr>
        <p:txBody>
          <a:bodyPr lIns="0" tIns="0" rIns="0" bIns="0" rtlCol="0" anchor="ctr">
            <a:spAutoFit/>
          </a:bodyPr>
          <a:lstStyle/>
          <a:p>
            <a:pPr marL="0" marR="0" lvl="0" indent="0" algn="ctr" defTabSz="914400" rtl="0" eaLnBrk="1" fontAlgn="auto" latinLnBrk="0" hangingPunct="1">
              <a:lnSpc>
                <a:spcPts val="5350"/>
              </a:lnSpc>
              <a:spcBef>
                <a:spcPts val="0"/>
              </a:spcBef>
              <a:spcAft>
                <a:spcPts val="0"/>
              </a:spcAft>
              <a:buClrTx/>
              <a:buSzTx/>
              <a:buFontTx/>
              <a:buNone/>
              <a:tabLst/>
              <a:defRPr/>
            </a:pPr>
            <a:r>
              <a:rPr lang="es-AR" sz="5000" noProof="0" dirty="0">
                <a:solidFill>
                  <a:srgbClr val="291B25"/>
                </a:solidFill>
                <a:latin typeface="Agrandir"/>
                <a:ea typeface="Agrandir"/>
                <a:cs typeface="Agrandir"/>
                <a:sym typeface="Agrandir"/>
              </a:rPr>
              <a:t>14</a:t>
            </a:r>
            <a:endParaRPr kumimoji="0" lang="es-AR" sz="5000" b="0" i="0" u="none" strike="noStrike" kern="1200" cap="none" spc="0" normalizeH="0" baseline="0" noProof="0" dirty="0">
              <a:ln>
                <a:noFill/>
              </a:ln>
              <a:solidFill>
                <a:srgbClr val="291B25"/>
              </a:solidFill>
              <a:effectLst/>
              <a:uLnTx/>
              <a:uFillTx/>
              <a:latin typeface="Agrandir"/>
              <a:ea typeface="Agrandir"/>
              <a:cs typeface="Agrandir"/>
              <a:sym typeface="Agrandir"/>
            </a:endParaRPr>
          </a:p>
        </p:txBody>
      </p:sp>
      <p:sp>
        <p:nvSpPr>
          <p:cNvPr id="28" name="TextBox 28">
            <a:extLst>
              <a:ext uri="{FF2B5EF4-FFF2-40B4-BE49-F238E27FC236}">
                <a16:creationId xmlns:a16="http://schemas.microsoft.com/office/drawing/2014/main" id="{8D6E17CE-DBB4-A38B-B3DC-42CB11F0EEA1}"/>
              </a:ext>
            </a:extLst>
          </p:cNvPr>
          <p:cNvSpPr txBox="1"/>
          <p:nvPr/>
        </p:nvSpPr>
        <p:spPr>
          <a:xfrm>
            <a:off x="3393891" y="2191658"/>
            <a:ext cx="11830773" cy="692497"/>
          </a:xfrm>
          <a:prstGeom prst="rect">
            <a:avLst/>
          </a:prstGeom>
        </p:spPr>
        <p:txBody>
          <a:bodyPr lIns="0" tIns="0" rIns="0" bIns="0" rtlCol="0" anchor="ctr">
            <a:spAutoFit/>
          </a:bodyPr>
          <a:lstStyle/>
          <a:p>
            <a:pPr marL="0" marR="0" lvl="0" indent="0" algn="l" defTabSz="914400" rtl="0" eaLnBrk="1" fontAlgn="auto" latinLnBrk="0" hangingPunct="1">
              <a:lnSpc>
                <a:spcPts val="5350"/>
              </a:lnSpc>
              <a:spcBef>
                <a:spcPts val="0"/>
              </a:spcBef>
              <a:spcAft>
                <a:spcPts val="0"/>
              </a:spcAft>
              <a:buClrTx/>
              <a:buSzTx/>
              <a:buFontTx/>
              <a:buNone/>
              <a:tabLst/>
              <a:defRPr/>
            </a:pPr>
            <a:r>
              <a:rPr kumimoji="0" lang="es-AR" sz="5000" b="0" i="0" u="none" strike="noStrike" kern="1200" cap="none" spc="0" normalizeH="0" baseline="0" noProof="0" dirty="0">
                <a:ln>
                  <a:noFill/>
                </a:ln>
                <a:solidFill>
                  <a:srgbClr val="291B25"/>
                </a:solidFill>
                <a:effectLst/>
                <a:uLnTx/>
                <a:uFillTx/>
                <a:latin typeface="Agrandir"/>
                <a:ea typeface="Agrandir"/>
                <a:cs typeface="Agrandir"/>
                <a:sym typeface="Agrandir"/>
              </a:rPr>
              <a:t>Test de chi-cuadrado</a:t>
            </a:r>
          </a:p>
        </p:txBody>
      </p:sp>
      <p:sp>
        <p:nvSpPr>
          <p:cNvPr id="29" name="TextBox 29">
            <a:extLst>
              <a:ext uri="{FF2B5EF4-FFF2-40B4-BE49-F238E27FC236}">
                <a16:creationId xmlns:a16="http://schemas.microsoft.com/office/drawing/2014/main" id="{B86E44E8-5C15-F24F-F5BE-20FB82340DED}"/>
              </a:ext>
            </a:extLst>
          </p:cNvPr>
          <p:cNvSpPr txBox="1"/>
          <p:nvPr/>
        </p:nvSpPr>
        <p:spPr>
          <a:xfrm>
            <a:off x="1247775" y="3711938"/>
            <a:ext cx="1099476" cy="692497"/>
          </a:xfrm>
          <a:prstGeom prst="rect">
            <a:avLst/>
          </a:prstGeom>
        </p:spPr>
        <p:txBody>
          <a:bodyPr lIns="0" tIns="0" rIns="0" bIns="0" rtlCol="0" anchor="ctr">
            <a:spAutoFit/>
          </a:bodyPr>
          <a:lstStyle/>
          <a:p>
            <a:pPr marL="0" marR="0" lvl="0" indent="0" algn="ctr" defTabSz="914400" rtl="0" eaLnBrk="1" fontAlgn="auto" latinLnBrk="0" hangingPunct="1">
              <a:lnSpc>
                <a:spcPts val="5350"/>
              </a:lnSpc>
              <a:spcBef>
                <a:spcPts val="0"/>
              </a:spcBef>
              <a:spcAft>
                <a:spcPts val="0"/>
              </a:spcAft>
              <a:buClrTx/>
              <a:buSzTx/>
              <a:buFontTx/>
              <a:buNone/>
              <a:tabLst/>
              <a:defRPr/>
            </a:pPr>
            <a:r>
              <a:rPr kumimoji="0" lang="es-AR" sz="5000" b="0" i="0" u="none" strike="noStrike" kern="1200" cap="none" spc="0" normalizeH="0" baseline="0" noProof="0" dirty="0">
                <a:ln>
                  <a:noFill/>
                </a:ln>
                <a:solidFill>
                  <a:srgbClr val="291B25"/>
                </a:solidFill>
                <a:effectLst/>
                <a:uLnTx/>
                <a:uFillTx/>
                <a:latin typeface="Agrandir"/>
                <a:ea typeface="Agrandir"/>
                <a:cs typeface="Agrandir"/>
                <a:sym typeface="Agrandir"/>
              </a:rPr>
              <a:t>16</a:t>
            </a:r>
          </a:p>
        </p:txBody>
      </p:sp>
      <p:sp>
        <p:nvSpPr>
          <p:cNvPr id="30" name="TextBox 30">
            <a:extLst>
              <a:ext uri="{FF2B5EF4-FFF2-40B4-BE49-F238E27FC236}">
                <a16:creationId xmlns:a16="http://schemas.microsoft.com/office/drawing/2014/main" id="{8F3011D1-F6C9-B07C-BB12-45A8169BFC4C}"/>
              </a:ext>
            </a:extLst>
          </p:cNvPr>
          <p:cNvSpPr txBox="1"/>
          <p:nvPr/>
        </p:nvSpPr>
        <p:spPr>
          <a:xfrm>
            <a:off x="3403416" y="3683363"/>
            <a:ext cx="11830773" cy="692497"/>
          </a:xfrm>
          <a:prstGeom prst="rect">
            <a:avLst/>
          </a:prstGeom>
        </p:spPr>
        <p:txBody>
          <a:bodyPr lIns="0" tIns="0" rIns="0" bIns="0" rtlCol="0" anchor="ctr">
            <a:spAutoFit/>
          </a:bodyPr>
          <a:lstStyle/>
          <a:p>
            <a:pPr marL="0" marR="0" lvl="0" indent="0" algn="l" defTabSz="914400" rtl="0" eaLnBrk="1" fontAlgn="auto" latinLnBrk="0" hangingPunct="1">
              <a:lnSpc>
                <a:spcPts val="5350"/>
              </a:lnSpc>
              <a:spcBef>
                <a:spcPts val="0"/>
              </a:spcBef>
              <a:spcAft>
                <a:spcPts val="0"/>
              </a:spcAft>
              <a:buClrTx/>
              <a:buSzTx/>
              <a:buFontTx/>
              <a:buNone/>
              <a:tabLst/>
              <a:defRPr/>
            </a:pPr>
            <a:r>
              <a:rPr kumimoji="0" lang="es-AR" sz="5000" b="0" i="0" u="none" strike="noStrike" kern="1200" cap="none" spc="0" normalizeH="0" baseline="0" noProof="0" dirty="0">
                <a:ln>
                  <a:noFill/>
                </a:ln>
                <a:solidFill>
                  <a:srgbClr val="291B25"/>
                </a:solidFill>
                <a:effectLst/>
                <a:uLnTx/>
                <a:uFillTx/>
                <a:latin typeface="Agrandir"/>
                <a:ea typeface="Agrandir"/>
                <a:cs typeface="Agrandir"/>
                <a:sym typeface="Agrandir"/>
              </a:rPr>
              <a:t>Regresión logística</a:t>
            </a:r>
          </a:p>
        </p:txBody>
      </p:sp>
      <p:sp>
        <p:nvSpPr>
          <p:cNvPr id="31" name="TextBox 31">
            <a:extLst>
              <a:ext uri="{FF2B5EF4-FFF2-40B4-BE49-F238E27FC236}">
                <a16:creationId xmlns:a16="http://schemas.microsoft.com/office/drawing/2014/main" id="{EF576734-4ADF-63D4-1DE9-3A224E20411E}"/>
              </a:ext>
            </a:extLst>
          </p:cNvPr>
          <p:cNvSpPr txBox="1"/>
          <p:nvPr/>
        </p:nvSpPr>
        <p:spPr>
          <a:xfrm>
            <a:off x="1247775" y="5207568"/>
            <a:ext cx="1099476" cy="692497"/>
          </a:xfrm>
          <a:prstGeom prst="rect">
            <a:avLst/>
          </a:prstGeom>
        </p:spPr>
        <p:txBody>
          <a:bodyPr lIns="0" tIns="0" rIns="0" bIns="0" rtlCol="0" anchor="ctr">
            <a:spAutoFit/>
          </a:bodyPr>
          <a:lstStyle/>
          <a:p>
            <a:pPr marL="0" marR="0" lvl="0" indent="0" algn="ctr" defTabSz="914400" rtl="0" eaLnBrk="1" fontAlgn="auto" latinLnBrk="0" hangingPunct="1">
              <a:lnSpc>
                <a:spcPts val="5350"/>
              </a:lnSpc>
              <a:spcBef>
                <a:spcPts val="0"/>
              </a:spcBef>
              <a:spcAft>
                <a:spcPts val="0"/>
              </a:spcAft>
              <a:buClrTx/>
              <a:buSzTx/>
              <a:buFontTx/>
              <a:buNone/>
              <a:tabLst/>
              <a:defRPr/>
            </a:pPr>
            <a:r>
              <a:rPr kumimoji="0" lang="es-AR" sz="5000" b="0" i="0" u="none" strike="noStrike" kern="1200" cap="none" spc="0" normalizeH="0" baseline="0" noProof="0" dirty="0">
                <a:ln>
                  <a:noFill/>
                </a:ln>
                <a:solidFill>
                  <a:srgbClr val="291B25"/>
                </a:solidFill>
                <a:effectLst/>
                <a:uLnTx/>
                <a:uFillTx/>
                <a:latin typeface="Agrandir"/>
                <a:ea typeface="Agrandir"/>
                <a:cs typeface="Agrandir"/>
                <a:sym typeface="Agrandir"/>
              </a:rPr>
              <a:t>18</a:t>
            </a:r>
          </a:p>
        </p:txBody>
      </p:sp>
      <p:sp>
        <p:nvSpPr>
          <p:cNvPr id="32" name="TextBox 32">
            <a:extLst>
              <a:ext uri="{FF2B5EF4-FFF2-40B4-BE49-F238E27FC236}">
                <a16:creationId xmlns:a16="http://schemas.microsoft.com/office/drawing/2014/main" id="{C7AC7F6A-5F01-6A7B-D666-EAD55D072C24}"/>
              </a:ext>
            </a:extLst>
          </p:cNvPr>
          <p:cNvSpPr txBox="1"/>
          <p:nvPr/>
        </p:nvSpPr>
        <p:spPr>
          <a:xfrm>
            <a:off x="3412941" y="5178993"/>
            <a:ext cx="11811723" cy="692497"/>
          </a:xfrm>
          <a:prstGeom prst="rect">
            <a:avLst/>
          </a:prstGeom>
        </p:spPr>
        <p:txBody>
          <a:bodyPr lIns="0" tIns="0" rIns="0" bIns="0" rtlCol="0" anchor="ctr">
            <a:spAutoFit/>
          </a:bodyPr>
          <a:lstStyle/>
          <a:p>
            <a:pPr marL="0" marR="0" lvl="0" indent="0" algn="l" defTabSz="914400" rtl="0" eaLnBrk="1" fontAlgn="auto" latinLnBrk="0" hangingPunct="1">
              <a:lnSpc>
                <a:spcPts val="5350"/>
              </a:lnSpc>
              <a:spcBef>
                <a:spcPts val="0"/>
              </a:spcBef>
              <a:spcAft>
                <a:spcPts val="0"/>
              </a:spcAft>
              <a:buClrTx/>
              <a:buSzTx/>
              <a:buFontTx/>
              <a:buNone/>
              <a:tabLst/>
              <a:defRPr/>
            </a:pPr>
            <a:r>
              <a:rPr kumimoji="0" lang="es-AR" sz="5000" b="0" i="0" u="none" strike="noStrike" kern="1200" cap="none" spc="0" normalizeH="0" baseline="0" noProof="0" dirty="0">
                <a:ln>
                  <a:noFill/>
                </a:ln>
                <a:solidFill>
                  <a:srgbClr val="291B25"/>
                </a:solidFill>
                <a:effectLst/>
                <a:uLnTx/>
                <a:uFillTx/>
                <a:latin typeface="Agrandir"/>
                <a:ea typeface="Agrandir"/>
                <a:cs typeface="Agrandir"/>
                <a:sym typeface="Agrandir"/>
              </a:rPr>
              <a:t>ANOVA de la regresión logística</a:t>
            </a:r>
          </a:p>
        </p:txBody>
      </p:sp>
      <p:sp>
        <p:nvSpPr>
          <p:cNvPr id="33" name="TextBox 33">
            <a:extLst>
              <a:ext uri="{FF2B5EF4-FFF2-40B4-BE49-F238E27FC236}">
                <a16:creationId xmlns:a16="http://schemas.microsoft.com/office/drawing/2014/main" id="{51D3CA47-9522-8A7B-E329-DD5CA61E8DC9}"/>
              </a:ext>
            </a:extLst>
          </p:cNvPr>
          <p:cNvSpPr txBox="1"/>
          <p:nvPr/>
        </p:nvSpPr>
        <p:spPr>
          <a:xfrm>
            <a:off x="1291505" y="6700870"/>
            <a:ext cx="1099476" cy="692497"/>
          </a:xfrm>
          <a:prstGeom prst="rect">
            <a:avLst/>
          </a:prstGeom>
        </p:spPr>
        <p:txBody>
          <a:bodyPr lIns="0" tIns="0" rIns="0" bIns="0" rtlCol="0" anchor="ctr">
            <a:spAutoFit/>
          </a:bodyPr>
          <a:lstStyle/>
          <a:p>
            <a:pPr marL="0" marR="0" lvl="0" indent="0" algn="ctr" defTabSz="914400" rtl="0" eaLnBrk="1" fontAlgn="auto" latinLnBrk="0" hangingPunct="1">
              <a:lnSpc>
                <a:spcPts val="5350"/>
              </a:lnSpc>
              <a:spcBef>
                <a:spcPts val="0"/>
              </a:spcBef>
              <a:spcAft>
                <a:spcPts val="0"/>
              </a:spcAft>
              <a:buClrTx/>
              <a:buSzTx/>
              <a:buFontTx/>
              <a:buNone/>
              <a:tabLst/>
              <a:defRPr/>
            </a:pPr>
            <a:r>
              <a:rPr kumimoji="0" lang="es-AR" sz="5000" b="0" i="0" u="none" strike="noStrike" kern="1200" cap="none" spc="0" normalizeH="0" baseline="0" noProof="0" dirty="0">
                <a:ln>
                  <a:noFill/>
                </a:ln>
                <a:solidFill>
                  <a:srgbClr val="291B25"/>
                </a:solidFill>
                <a:effectLst/>
                <a:uLnTx/>
                <a:uFillTx/>
                <a:latin typeface="Agrandir"/>
                <a:ea typeface="Agrandir"/>
                <a:cs typeface="Agrandir"/>
                <a:sym typeface="Agrandir"/>
              </a:rPr>
              <a:t>20</a:t>
            </a:r>
          </a:p>
        </p:txBody>
      </p:sp>
      <p:sp>
        <p:nvSpPr>
          <p:cNvPr id="34" name="TextBox 34">
            <a:extLst>
              <a:ext uri="{FF2B5EF4-FFF2-40B4-BE49-F238E27FC236}">
                <a16:creationId xmlns:a16="http://schemas.microsoft.com/office/drawing/2014/main" id="{609E5F05-47F0-2680-3278-AB47997584A0}"/>
              </a:ext>
            </a:extLst>
          </p:cNvPr>
          <p:cNvSpPr txBox="1"/>
          <p:nvPr/>
        </p:nvSpPr>
        <p:spPr>
          <a:xfrm>
            <a:off x="3412941" y="6674624"/>
            <a:ext cx="11830773" cy="692497"/>
          </a:xfrm>
          <a:prstGeom prst="rect">
            <a:avLst/>
          </a:prstGeom>
        </p:spPr>
        <p:txBody>
          <a:bodyPr lIns="0" tIns="0" rIns="0" bIns="0" rtlCol="0" anchor="ctr">
            <a:spAutoFit/>
          </a:bodyPr>
          <a:lstStyle/>
          <a:p>
            <a:pPr marL="0" marR="0" lvl="0" indent="0" algn="l" defTabSz="914400" rtl="0" eaLnBrk="1" fontAlgn="auto" latinLnBrk="0" hangingPunct="1">
              <a:lnSpc>
                <a:spcPts val="5350"/>
              </a:lnSpc>
              <a:spcBef>
                <a:spcPts val="0"/>
              </a:spcBef>
              <a:spcAft>
                <a:spcPts val="0"/>
              </a:spcAft>
              <a:buClrTx/>
              <a:buSzTx/>
              <a:buFontTx/>
              <a:buNone/>
              <a:tabLst/>
              <a:defRPr/>
            </a:pPr>
            <a:r>
              <a:rPr kumimoji="0" lang="es-AR" sz="5000" b="0" i="0" u="none" strike="noStrike" kern="1200" cap="none" spc="0" normalizeH="0" baseline="0" noProof="0" dirty="0">
                <a:ln>
                  <a:noFill/>
                </a:ln>
                <a:solidFill>
                  <a:srgbClr val="291B25"/>
                </a:solidFill>
                <a:effectLst/>
                <a:uLnTx/>
                <a:uFillTx/>
                <a:latin typeface="Agrandir"/>
                <a:ea typeface="Agrandir"/>
                <a:cs typeface="Agrandir"/>
                <a:sym typeface="Agrandir"/>
              </a:rPr>
              <a:t>Gráficos</a:t>
            </a:r>
          </a:p>
        </p:txBody>
      </p:sp>
      <p:grpSp>
        <p:nvGrpSpPr>
          <p:cNvPr id="35" name="Group 35">
            <a:extLst>
              <a:ext uri="{FF2B5EF4-FFF2-40B4-BE49-F238E27FC236}">
                <a16:creationId xmlns:a16="http://schemas.microsoft.com/office/drawing/2014/main" id="{1AB53956-9EB9-38C9-B01C-FCD70B2891D8}"/>
              </a:ext>
            </a:extLst>
          </p:cNvPr>
          <p:cNvGrpSpPr/>
          <p:nvPr/>
        </p:nvGrpSpPr>
        <p:grpSpPr>
          <a:xfrm rot="-5400000">
            <a:off x="1228725" y="7953787"/>
            <a:ext cx="1143206" cy="1143206"/>
            <a:chOff x="0" y="0"/>
            <a:chExt cx="812800" cy="812800"/>
          </a:xfrm>
        </p:grpSpPr>
        <p:sp>
          <p:nvSpPr>
            <p:cNvPr id="36" name="Freeform 36">
              <a:extLst>
                <a:ext uri="{FF2B5EF4-FFF2-40B4-BE49-F238E27FC236}">
                  <a16:creationId xmlns:a16="http://schemas.microsoft.com/office/drawing/2014/main" id="{4AB2B2BB-EF25-5078-EC91-BF524B8DA44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B9A1"/>
            </a:solidFill>
            <a:ln cap="sq">
              <a:noFill/>
              <a:prstDash val="solid"/>
              <a:miter/>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7" name="TextBox 37">
              <a:extLst>
                <a:ext uri="{FF2B5EF4-FFF2-40B4-BE49-F238E27FC236}">
                  <a16:creationId xmlns:a16="http://schemas.microsoft.com/office/drawing/2014/main" id="{54DBE58A-BE5C-D070-FCC2-9046B14A5FE1}"/>
                </a:ext>
              </a:extLst>
            </p:cNvPr>
            <p:cNvSpPr txBox="1"/>
            <p:nvPr/>
          </p:nvSpPr>
          <p:spPr>
            <a:xfrm>
              <a:off x="76200" y="38100"/>
              <a:ext cx="660400" cy="69850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38" name="Group 38">
            <a:extLst>
              <a:ext uri="{FF2B5EF4-FFF2-40B4-BE49-F238E27FC236}">
                <a16:creationId xmlns:a16="http://schemas.microsoft.com/office/drawing/2014/main" id="{1E681342-2E97-E1D9-B508-1F443550F1FE}"/>
              </a:ext>
            </a:extLst>
          </p:cNvPr>
          <p:cNvGrpSpPr/>
          <p:nvPr/>
        </p:nvGrpSpPr>
        <p:grpSpPr>
          <a:xfrm rot="-5400000">
            <a:off x="8585419" y="2201212"/>
            <a:ext cx="1143206" cy="12648356"/>
            <a:chOff x="0" y="0"/>
            <a:chExt cx="181146" cy="2004184"/>
          </a:xfrm>
        </p:grpSpPr>
        <p:sp>
          <p:nvSpPr>
            <p:cNvPr id="39" name="Freeform 39">
              <a:extLst>
                <a:ext uri="{FF2B5EF4-FFF2-40B4-BE49-F238E27FC236}">
                  <a16:creationId xmlns:a16="http://schemas.microsoft.com/office/drawing/2014/main" id="{9873EAAD-A3F5-EA48-53DA-D3717B194720}"/>
                </a:ext>
              </a:extLst>
            </p:cNvPr>
            <p:cNvSpPr/>
            <p:nvPr/>
          </p:nvSpPr>
          <p:spPr>
            <a:xfrm>
              <a:off x="0" y="0"/>
              <a:ext cx="181146" cy="2004184"/>
            </a:xfrm>
            <a:custGeom>
              <a:avLst/>
              <a:gdLst/>
              <a:ahLst/>
              <a:cxnLst/>
              <a:rect l="l" t="t" r="r" b="b"/>
              <a:pathLst>
                <a:path w="181146" h="2004184">
                  <a:moveTo>
                    <a:pt x="90573" y="0"/>
                  </a:moveTo>
                  <a:lnTo>
                    <a:pt x="90573" y="0"/>
                  </a:lnTo>
                  <a:cubicBezTo>
                    <a:pt x="114594" y="0"/>
                    <a:pt x="137632" y="9542"/>
                    <a:pt x="154618" y="26528"/>
                  </a:cubicBezTo>
                  <a:cubicBezTo>
                    <a:pt x="171603" y="43514"/>
                    <a:pt x="181146" y="66551"/>
                    <a:pt x="181146" y="90573"/>
                  </a:cubicBezTo>
                  <a:lnTo>
                    <a:pt x="181146" y="1913611"/>
                  </a:lnTo>
                  <a:cubicBezTo>
                    <a:pt x="181146" y="1937633"/>
                    <a:pt x="171603" y="1960670"/>
                    <a:pt x="154618" y="1977656"/>
                  </a:cubicBezTo>
                  <a:cubicBezTo>
                    <a:pt x="137632" y="1994642"/>
                    <a:pt x="114594" y="2004184"/>
                    <a:pt x="90573" y="2004184"/>
                  </a:cubicBezTo>
                  <a:lnTo>
                    <a:pt x="90573" y="2004184"/>
                  </a:lnTo>
                  <a:cubicBezTo>
                    <a:pt x="66551" y="2004184"/>
                    <a:pt x="43514" y="1994642"/>
                    <a:pt x="26528" y="1977656"/>
                  </a:cubicBezTo>
                  <a:cubicBezTo>
                    <a:pt x="9542" y="1960670"/>
                    <a:pt x="0" y="1937633"/>
                    <a:pt x="0" y="1913611"/>
                  </a:cubicBezTo>
                  <a:lnTo>
                    <a:pt x="0" y="90573"/>
                  </a:lnTo>
                  <a:cubicBezTo>
                    <a:pt x="0" y="66551"/>
                    <a:pt x="9542" y="43514"/>
                    <a:pt x="26528" y="26528"/>
                  </a:cubicBezTo>
                  <a:cubicBezTo>
                    <a:pt x="43514" y="9542"/>
                    <a:pt x="66551" y="0"/>
                    <a:pt x="90573" y="0"/>
                  </a:cubicBezTo>
                  <a:close/>
                </a:path>
              </a:pathLst>
            </a:custGeom>
            <a:solidFill>
              <a:srgbClr val="F7B9A1"/>
            </a:solidFill>
            <a:ln cap="rnd">
              <a:noFill/>
              <a:prstDash val="solid"/>
              <a:round/>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0" name="TextBox 40">
              <a:extLst>
                <a:ext uri="{FF2B5EF4-FFF2-40B4-BE49-F238E27FC236}">
                  <a16:creationId xmlns:a16="http://schemas.microsoft.com/office/drawing/2014/main" id="{F16C2028-56C0-E490-19D6-36B87649D5C4}"/>
                </a:ext>
              </a:extLst>
            </p:cNvPr>
            <p:cNvSpPr txBox="1"/>
            <p:nvPr/>
          </p:nvSpPr>
          <p:spPr>
            <a:xfrm>
              <a:off x="0" y="-38100"/>
              <a:ext cx="181146" cy="204228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41" name="TextBox 41">
            <a:extLst>
              <a:ext uri="{FF2B5EF4-FFF2-40B4-BE49-F238E27FC236}">
                <a16:creationId xmlns:a16="http://schemas.microsoft.com/office/drawing/2014/main" id="{4E11CDF1-2C8C-1694-F429-5AF24FDCC026}"/>
              </a:ext>
            </a:extLst>
          </p:cNvPr>
          <p:cNvSpPr txBox="1"/>
          <p:nvPr/>
        </p:nvSpPr>
        <p:spPr>
          <a:xfrm>
            <a:off x="1272455" y="8196501"/>
            <a:ext cx="1099476" cy="692497"/>
          </a:xfrm>
          <a:prstGeom prst="rect">
            <a:avLst/>
          </a:prstGeom>
        </p:spPr>
        <p:txBody>
          <a:bodyPr lIns="0" tIns="0" rIns="0" bIns="0" rtlCol="0" anchor="ctr">
            <a:spAutoFit/>
          </a:bodyPr>
          <a:lstStyle/>
          <a:p>
            <a:pPr marL="0" marR="0" lvl="0" indent="0" algn="ctr" defTabSz="914400" rtl="0" eaLnBrk="1" fontAlgn="auto" latinLnBrk="0" hangingPunct="1">
              <a:lnSpc>
                <a:spcPts val="5350"/>
              </a:lnSpc>
              <a:spcBef>
                <a:spcPts val="0"/>
              </a:spcBef>
              <a:spcAft>
                <a:spcPts val="0"/>
              </a:spcAft>
              <a:buClrTx/>
              <a:buSzTx/>
              <a:buFontTx/>
              <a:buNone/>
              <a:tabLst/>
              <a:defRPr/>
            </a:pPr>
            <a:r>
              <a:rPr kumimoji="0" lang="es-AR" sz="5000" b="0" i="0" u="none" strike="noStrike" kern="1200" cap="none" spc="0" normalizeH="0" baseline="0" noProof="0" dirty="0">
                <a:ln>
                  <a:noFill/>
                </a:ln>
                <a:solidFill>
                  <a:srgbClr val="291B25"/>
                </a:solidFill>
                <a:effectLst/>
                <a:uLnTx/>
                <a:uFillTx/>
                <a:latin typeface="Agrandir"/>
                <a:ea typeface="Agrandir"/>
                <a:cs typeface="Agrandir"/>
                <a:sym typeface="Agrandir"/>
              </a:rPr>
              <a:t>22</a:t>
            </a:r>
          </a:p>
        </p:txBody>
      </p:sp>
      <p:sp>
        <p:nvSpPr>
          <p:cNvPr id="42" name="TextBox 42">
            <a:extLst>
              <a:ext uri="{FF2B5EF4-FFF2-40B4-BE49-F238E27FC236}">
                <a16:creationId xmlns:a16="http://schemas.microsoft.com/office/drawing/2014/main" id="{8133DD2A-8B6A-7922-C9F3-192E2F60B43C}"/>
              </a:ext>
            </a:extLst>
          </p:cNvPr>
          <p:cNvSpPr txBox="1"/>
          <p:nvPr/>
        </p:nvSpPr>
        <p:spPr>
          <a:xfrm>
            <a:off x="3393891" y="8170255"/>
            <a:ext cx="11830773" cy="692497"/>
          </a:xfrm>
          <a:prstGeom prst="rect">
            <a:avLst/>
          </a:prstGeom>
        </p:spPr>
        <p:txBody>
          <a:bodyPr lIns="0" tIns="0" rIns="0" bIns="0" rtlCol="0" anchor="ctr">
            <a:spAutoFit/>
          </a:bodyPr>
          <a:lstStyle/>
          <a:p>
            <a:pPr marL="0" marR="0" lvl="0" indent="0" algn="l" defTabSz="914400" rtl="0" eaLnBrk="1" fontAlgn="auto" latinLnBrk="0" hangingPunct="1">
              <a:lnSpc>
                <a:spcPts val="5350"/>
              </a:lnSpc>
              <a:spcBef>
                <a:spcPts val="0"/>
              </a:spcBef>
              <a:spcAft>
                <a:spcPts val="0"/>
              </a:spcAft>
              <a:buClrTx/>
              <a:buSzTx/>
              <a:buFontTx/>
              <a:buNone/>
              <a:tabLst/>
              <a:defRPr/>
            </a:pPr>
            <a:r>
              <a:rPr kumimoji="0" lang="es-AR" sz="5000" b="0" i="0" u="none" strike="noStrike" kern="1200" cap="none" spc="0" normalizeH="0" baseline="0" noProof="0" dirty="0">
                <a:ln>
                  <a:noFill/>
                </a:ln>
                <a:solidFill>
                  <a:srgbClr val="291B25"/>
                </a:solidFill>
                <a:effectLst/>
                <a:uLnTx/>
                <a:uFillTx/>
                <a:latin typeface="Agrandir"/>
                <a:ea typeface="Agrandir"/>
                <a:cs typeface="Agrandir"/>
                <a:sym typeface="Agrandir"/>
              </a:rPr>
              <a:t>Conclusiones</a:t>
            </a:r>
          </a:p>
        </p:txBody>
      </p:sp>
    </p:spTree>
    <p:extLst>
      <p:ext uri="{BB962C8B-B14F-4D97-AF65-F5344CB8AC3E}">
        <p14:creationId xmlns:p14="http://schemas.microsoft.com/office/powerpoint/2010/main" val="1427031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p:cNvGrpSpPr/>
        <p:nvPr/>
      </p:nvGrpSpPr>
      <p:grpSpPr>
        <a:xfrm>
          <a:off x="0" y="0"/>
          <a:ext cx="0" cy="0"/>
          <a:chOff x="0" y="0"/>
          <a:chExt cx="0" cy="0"/>
        </a:xfrm>
      </p:grpSpPr>
      <p:sp>
        <p:nvSpPr>
          <p:cNvPr id="2" name="TextBox 2"/>
          <p:cNvSpPr txBox="1"/>
          <p:nvPr/>
        </p:nvSpPr>
        <p:spPr>
          <a:xfrm>
            <a:off x="997384" y="3351830"/>
            <a:ext cx="8583344" cy="2751010"/>
          </a:xfrm>
          <a:prstGeom prst="rect">
            <a:avLst/>
          </a:prstGeom>
        </p:spPr>
        <p:txBody>
          <a:bodyPr wrap="square" lIns="0" tIns="0" rIns="0" bIns="0" rtlCol="0" anchor="t">
            <a:spAutoFit/>
          </a:bodyPr>
          <a:lstStyle/>
          <a:p>
            <a:pPr algn="just">
              <a:lnSpc>
                <a:spcPts val="3600"/>
              </a:lnSpc>
              <a:spcBef>
                <a:spcPct val="0"/>
              </a:spcBef>
            </a:pPr>
            <a:r>
              <a:rPr lang="es-AR" sz="2600" noProof="0" dirty="0">
                <a:solidFill>
                  <a:srgbClr val="291B25"/>
                </a:solidFill>
                <a:latin typeface="Agrandir Narrow" panose="020B0604020202020204" charset="0"/>
                <a:ea typeface="Agrandir"/>
                <a:cs typeface="Agrandir"/>
                <a:sym typeface="Agrandir"/>
              </a:rPr>
              <a:t>El presente trabajo analiza el uso de bicicletas de Ecobici en la Ciudad Autónoma de Buenos Aires, con especial énfasis en el impacto que tiene en su uso el género de los usuarios, las comunas en las que se encuentran las estaciones y el momento del día de los viajes; así como también la interacción entre estas variables.</a:t>
            </a:r>
          </a:p>
        </p:txBody>
      </p:sp>
      <p:grpSp>
        <p:nvGrpSpPr>
          <p:cNvPr id="14" name="Group 14"/>
          <p:cNvGrpSpPr/>
          <p:nvPr/>
        </p:nvGrpSpPr>
        <p:grpSpPr>
          <a:xfrm rot="-5400000">
            <a:off x="15932021" y="8243693"/>
            <a:ext cx="831964" cy="2034756"/>
            <a:chOff x="0" y="-38100"/>
            <a:chExt cx="233609" cy="571343"/>
          </a:xfrm>
        </p:grpSpPr>
        <p:sp>
          <p:nvSpPr>
            <p:cNvPr id="15" name="Freeform 15"/>
            <p:cNvSpPr/>
            <p:nvPr/>
          </p:nvSpPr>
          <p:spPr>
            <a:xfrm>
              <a:off x="0" y="0"/>
              <a:ext cx="233609" cy="533243"/>
            </a:xfrm>
            <a:custGeom>
              <a:avLst/>
              <a:gdLst/>
              <a:ahLst/>
              <a:cxnLst/>
              <a:rect l="l" t="t" r="r" b="b"/>
              <a:pathLst>
                <a:path w="233609" h="533243">
                  <a:moveTo>
                    <a:pt x="116804" y="0"/>
                  </a:moveTo>
                  <a:lnTo>
                    <a:pt x="116804" y="0"/>
                  </a:lnTo>
                  <a:cubicBezTo>
                    <a:pt x="181314" y="0"/>
                    <a:pt x="233609" y="52295"/>
                    <a:pt x="233609" y="116804"/>
                  </a:cubicBezTo>
                  <a:lnTo>
                    <a:pt x="233609" y="416438"/>
                  </a:lnTo>
                  <a:cubicBezTo>
                    <a:pt x="233609" y="480948"/>
                    <a:pt x="181314" y="533243"/>
                    <a:pt x="116804" y="533243"/>
                  </a:cubicBezTo>
                  <a:lnTo>
                    <a:pt x="116804" y="533243"/>
                  </a:lnTo>
                  <a:cubicBezTo>
                    <a:pt x="52295" y="533243"/>
                    <a:pt x="0" y="480948"/>
                    <a:pt x="0" y="416438"/>
                  </a:cubicBezTo>
                  <a:lnTo>
                    <a:pt x="0" y="116804"/>
                  </a:lnTo>
                  <a:cubicBezTo>
                    <a:pt x="0" y="52295"/>
                    <a:pt x="52295" y="0"/>
                    <a:pt x="116804" y="0"/>
                  </a:cubicBezTo>
                  <a:close/>
                </a:path>
              </a:pathLst>
            </a:custGeom>
            <a:solidFill>
              <a:srgbClr val="F7B9A1"/>
            </a:solidFill>
            <a:ln cap="rnd">
              <a:noFill/>
              <a:prstDash val="solid"/>
              <a:round/>
            </a:ln>
          </p:spPr>
          <p:txBody>
            <a:bodyPr/>
            <a:lstStyle/>
            <a:p>
              <a:endParaRPr lang="es-AR" noProof="0" dirty="0"/>
            </a:p>
          </p:txBody>
        </p:sp>
        <p:sp>
          <p:nvSpPr>
            <p:cNvPr id="16" name="TextBox 16"/>
            <p:cNvSpPr txBox="1"/>
            <p:nvPr/>
          </p:nvSpPr>
          <p:spPr>
            <a:xfrm>
              <a:off x="0" y="-38100"/>
              <a:ext cx="233609" cy="571343"/>
            </a:xfrm>
            <a:prstGeom prst="rect">
              <a:avLst/>
            </a:prstGeom>
          </p:spPr>
          <p:txBody>
            <a:bodyPr lIns="50800" tIns="50800" rIns="50800" bIns="50800" rtlCol="0" anchor="ctr"/>
            <a:lstStyle/>
            <a:p>
              <a:pPr algn="ctr">
                <a:lnSpc>
                  <a:spcPts val="2659"/>
                </a:lnSpc>
              </a:pPr>
              <a:endParaRPr lang="es-AR" noProof="0" dirty="0"/>
            </a:p>
          </p:txBody>
        </p:sp>
      </p:grpSp>
      <p:sp>
        <p:nvSpPr>
          <p:cNvPr id="17" name="TextBox 17"/>
          <p:cNvSpPr txBox="1"/>
          <p:nvPr/>
        </p:nvSpPr>
        <p:spPr>
          <a:xfrm>
            <a:off x="15742943" y="8966117"/>
            <a:ext cx="1345808" cy="589905"/>
          </a:xfrm>
          <a:prstGeom prst="rect">
            <a:avLst/>
          </a:prstGeom>
        </p:spPr>
        <p:txBody>
          <a:bodyPr lIns="0" tIns="0" rIns="0" bIns="0" rtlCol="0" anchor="t">
            <a:spAutoFit/>
          </a:bodyPr>
          <a:lstStyle/>
          <a:p>
            <a:pPr algn="ctr">
              <a:lnSpc>
                <a:spcPts val="4555"/>
              </a:lnSpc>
            </a:pPr>
            <a:r>
              <a:rPr lang="es-AR" sz="4257" noProof="0" dirty="0">
                <a:solidFill>
                  <a:srgbClr val="291B25"/>
                </a:solidFill>
                <a:latin typeface="Agrandir"/>
                <a:ea typeface="Agrandir"/>
                <a:cs typeface="Agrandir"/>
                <a:sym typeface="Agrandir"/>
              </a:rPr>
              <a:t>04</a:t>
            </a:r>
          </a:p>
        </p:txBody>
      </p:sp>
      <p:sp>
        <p:nvSpPr>
          <p:cNvPr id="18" name="TextBox 18"/>
          <p:cNvSpPr txBox="1"/>
          <p:nvPr/>
        </p:nvSpPr>
        <p:spPr>
          <a:xfrm>
            <a:off x="720177" y="739267"/>
            <a:ext cx="16015105" cy="1233415"/>
          </a:xfrm>
          <a:prstGeom prst="rect">
            <a:avLst/>
          </a:prstGeom>
        </p:spPr>
        <p:txBody>
          <a:bodyPr lIns="0" tIns="0" rIns="0" bIns="0" rtlCol="0" anchor="t">
            <a:spAutoFit/>
          </a:bodyPr>
          <a:lstStyle/>
          <a:p>
            <a:pPr algn="l">
              <a:lnSpc>
                <a:spcPts val="9630"/>
              </a:lnSpc>
            </a:pPr>
            <a:r>
              <a:rPr lang="es-AR" sz="9000" noProof="0" dirty="0">
                <a:solidFill>
                  <a:srgbClr val="291B25"/>
                </a:solidFill>
                <a:latin typeface="Agrandir"/>
                <a:ea typeface="Agrandir"/>
                <a:cs typeface="Agrandir"/>
                <a:sym typeface="Agrandir"/>
              </a:rPr>
              <a:t>Introducción</a:t>
            </a:r>
          </a:p>
        </p:txBody>
      </p:sp>
      <p:pic>
        <p:nvPicPr>
          <p:cNvPr id="21" name="Picture 20" descr="Tembici – Disfrutá de la Ciudad en bicicleta">
            <a:extLst>
              <a:ext uri="{FF2B5EF4-FFF2-40B4-BE49-F238E27FC236}">
                <a16:creationId xmlns:a16="http://schemas.microsoft.com/office/drawing/2014/main" id="{3A733D1A-C676-412A-4F66-790DBD4E4879}"/>
              </a:ext>
            </a:extLst>
          </p:cNvPr>
          <p:cNvPicPr>
            <a:picLocks noChangeAspect="1"/>
          </p:cNvPicPr>
          <p:nvPr/>
        </p:nvPicPr>
        <p:blipFill>
          <a:blip r:embed="rId2"/>
          <a:stretch>
            <a:fillRect/>
          </a:stretch>
        </p:blipFill>
        <p:spPr>
          <a:xfrm>
            <a:off x="10874303" y="1075996"/>
            <a:ext cx="5473700" cy="776909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a:extLst>
            <a:ext uri="{FF2B5EF4-FFF2-40B4-BE49-F238E27FC236}">
              <a16:creationId xmlns:a16="http://schemas.microsoft.com/office/drawing/2014/main" id="{1D687453-606A-CD61-04BD-39423227C024}"/>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13EF37CC-3278-9D1F-4847-CCEB037190E5}"/>
              </a:ext>
            </a:extLst>
          </p:cNvPr>
          <p:cNvSpPr txBox="1"/>
          <p:nvPr/>
        </p:nvSpPr>
        <p:spPr>
          <a:xfrm>
            <a:off x="1651379" y="2856935"/>
            <a:ext cx="14152700" cy="2744149"/>
          </a:xfrm>
          <a:prstGeom prst="rect">
            <a:avLst/>
          </a:prstGeom>
        </p:spPr>
        <p:txBody>
          <a:bodyPr wrap="square" lIns="0" tIns="0" rIns="0" bIns="0" rtlCol="0" anchor="t">
            <a:spAutoFit/>
          </a:bodyPr>
          <a:lstStyle/>
          <a:p>
            <a:pPr algn="just">
              <a:lnSpc>
                <a:spcPts val="3600"/>
              </a:lnSpc>
              <a:spcBef>
                <a:spcPct val="0"/>
              </a:spcBef>
            </a:pPr>
            <a:r>
              <a:rPr lang="es-AR" sz="2600" noProof="0" dirty="0">
                <a:solidFill>
                  <a:srgbClr val="291B25"/>
                </a:solidFill>
                <a:latin typeface="Agrandir Narrow" panose="020B0604020202020204" charset="0"/>
              </a:rPr>
              <a:t>Nos preguntamos si la proporción de mujeres que utiliza bicicletas de Ecobici varía entre el día y la noche. Para testear ello, realizamos un test de proporciones.</a:t>
            </a:r>
          </a:p>
          <a:p>
            <a:pPr algn="just">
              <a:lnSpc>
                <a:spcPts val="3600"/>
              </a:lnSpc>
              <a:spcBef>
                <a:spcPct val="0"/>
              </a:spcBef>
            </a:pPr>
            <a:r>
              <a:rPr lang="es-AR" sz="2600" noProof="0" dirty="0">
                <a:solidFill>
                  <a:srgbClr val="291B25"/>
                </a:solidFill>
                <a:latin typeface="Agrandir Narrow" panose="020B0604020202020204" charset="0"/>
              </a:rPr>
              <a:t>Luego, quisimos profundizar aún más e investigamos si la proporción de usuarios mujeres variaba según la comuna en la que se encontraba la estación. En este caso, empleamos un test chi-cuadrado.</a:t>
            </a:r>
          </a:p>
          <a:p>
            <a:pPr algn="just">
              <a:lnSpc>
                <a:spcPts val="3600"/>
              </a:lnSpc>
              <a:spcBef>
                <a:spcPct val="0"/>
              </a:spcBef>
            </a:pPr>
            <a:r>
              <a:rPr lang="es-AR" sz="2600" noProof="0" dirty="0">
                <a:solidFill>
                  <a:srgbClr val="291B25"/>
                </a:solidFill>
                <a:latin typeface="Agrandir Narrow" panose="020B0604020202020204" charset="0"/>
              </a:rPr>
              <a:t>Finalmente, mediante una regresión logística analizamos nuevamente ambos efectos, así como también la interacción entre sí. </a:t>
            </a:r>
            <a:endParaRPr lang="es-AR" sz="2600" noProof="0" dirty="0">
              <a:latin typeface="Agrandir Narrow" panose="020B0604020202020204" charset="0"/>
            </a:endParaRPr>
          </a:p>
        </p:txBody>
      </p:sp>
      <p:grpSp>
        <p:nvGrpSpPr>
          <p:cNvPr id="14" name="Group 14">
            <a:extLst>
              <a:ext uri="{FF2B5EF4-FFF2-40B4-BE49-F238E27FC236}">
                <a16:creationId xmlns:a16="http://schemas.microsoft.com/office/drawing/2014/main" id="{2FA7659F-B865-702A-0398-744D3ED6D8C6}"/>
              </a:ext>
            </a:extLst>
          </p:cNvPr>
          <p:cNvGrpSpPr/>
          <p:nvPr/>
        </p:nvGrpSpPr>
        <p:grpSpPr>
          <a:xfrm rot="-5400000">
            <a:off x="15932021" y="8243693"/>
            <a:ext cx="831964" cy="2034756"/>
            <a:chOff x="0" y="-38100"/>
            <a:chExt cx="233609" cy="571343"/>
          </a:xfrm>
        </p:grpSpPr>
        <p:sp>
          <p:nvSpPr>
            <p:cNvPr id="15" name="Freeform 15">
              <a:extLst>
                <a:ext uri="{FF2B5EF4-FFF2-40B4-BE49-F238E27FC236}">
                  <a16:creationId xmlns:a16="http://schemas.microsoft.com/office/drawing/2014/main" id="{2DB23269-3141-FBC4-9B91-C2566C825952}"/>
                </a:ext>
              </a:extLst>
            </p:cNvPr>
            <p:cNvSpPr/>
            <p:nvPr/>
          </p:nvSpPr>
          <p:spPr>
            <a:xfrm>
              <a:off x="0" y="0"/>
              <a:ext cx="233609" cy="533243"/>
            </a:xfrm>
            <a:custGeom>
              <a:avLst/>
              <a:gdLst/>
              <a:ahLst/>
              <a:cxnLst/>
              <a:rect l="l" t="t" r="r" b="b"/>
              <a:pathLst>
                <a:path w="233609" h="533243">
                  <a:moveTo>
                    <a:pt x="116804" y="0"/>
                  </a:moveTo>
                  <a:lnTo>
                    <a:pt x="116804" y="0"/>
                  </a:lnTo>
                  <a:cubicBezTo>
                    <a:pt x="181314" y="0"/>
                    <a:pt x="233609" y="52295"/>
                    <a:pt x="233609" y="116804"/>
                  </a:cubicBezTo>
                  <a:lnTo>
                    <a:pt x="233609" y="416438"/>
                  </a:lnTo>
                  <a:cubicBezTo>
                    <a:pt x="233609" y="480948"/>
                    <a:pt x="181314" y="533243"/>
                    <a:pt x="116804" y="533243"/>
                  </a:cubicBezTo>
                  <a:lnTo>
                    <a:pt x="116804" y="533243"/>
                  </a:lnTo>
                  <a:cubicBezTo>
                    <a:pt x="52295" y="533243"/>
                    <a:pt x="0" y="480948"/>
                    <a:pt x="0" y="416438"/>
                  </a:cubicBezTo>
                  <a:lnTo>
                    <a:pt x="0" y="116804"/>
                  </a:lnTo>
                  <a:cubicBezTo>
                    <a:pt x="0" y="52295"/>
                    <a:pt x="52295" y="0"/>
                    <a:pt x="116804" y="0"/>
                  </a:cubicBezTo>
                  <a:close/>
                </a:path>
              </a:pathLst>
            </a:custGeom>
            <a:solidFill>
              <a:srgbClr val="F7B9A1"/>
            </a:solidFill>
            <a:ln cap="rnd">
              <a:noFill/>
              <a:prstDash val="solid"/>
              <a:round/>
            </a:ln>
          </p:spPr>
          <p:txBody>
            <a:bodyPr/>
            <a:lstStyle/>
            <a:p>
              <a:endParaRPr lang="es-AR" noProof="0" dirty="0"/>
            </a:p>
          </p:txBody>
        </p:sp>
        <p:sp>
          <p:nvSpPr>
            <p:cNvPr id="16" name="TextBox 16">
              <a:extLst>
                <a:ext uri="{FF2B5EF4-FFF2-40B4-BE49-F238E27FC236}">
                  <a16:creationId xmlns:a16="http://schemas.microsoft.com/office/drawing/2014/main" id="{9E4F2457-1804-F679-199F-18EFB7F5039B}"/>
                </a:ext>
              </a:extLst>
            </p:cNvPr>
            <p:cNvSpPr txBox="1"/>
            <p:nvPr/>
          </p:nvSpPr>
          <p:spPr>
            <a:xfrm>
              <a:off x="0" y="-38100"/>
              <a:ext cx="233609" cy="571343"/>
            </a:xfrm>
            <a:prstGeom prst="rect">
              <a:avLst/>
            </a:prstGeom>
          </p:spPr>
          <p:txBody>
            <a:bodyPr lIns="50800" tIns="50800" rIns="50800" bIns="50800" rtlCol="0" anchor="ctr"/>
            <a:lstStyle/>
            <a:p>
              <a:pPr algn="ctr">
                <a:lnSpc>
                  <a:spcPts val="2659"/>
                </a:lnSpc>
              </a:pPr>
              <a:endParaRPr lang="es-AR" noProof="0" dirty="0"/>
            </a:p>
          </p:txBody>
        </p:sp>
      </p:grpSp>
      <p:sp>
        <p:nvSpPr>
          <p:cNvPr id="17" name="TextBox 17">
            <a:extLst>
              <a:ext uri="{FF2B5EF4-FFF2-40B4-BE49-F238E27FC236}">
                <a16:creationId xmlns:a16="http://schemas.microsoft.com/office/drawing/2014/main" id="{A7FF5B9D-FF5C-7ACB-879C-96581C79E512}"/>
              </a:ext>
            </a:extLst>
          </p:cNvPr>
          <p:cNvSpPr txBox="1"/>
          <p:nvPr/>
        </p:nvSpPr>
        <p:spPr>
          <a:xfrm>
            <a:off x="15742943" y="8966117"/>
            <a:ext cx="1345808" cy="589905"/>
          </a:xfrm>
          <a:prstGeom prst="rect">
            <a:avLst/>
          </a:prstGeom>
        </p:spPr>
        <p:txBody>
          <a:bodyPr lIns="0" tIns="0" rIns="0" bIns="0" rtlCol="0" anchor="t">
            <a:spAutoFit/>
          </a:bodyPr>
          <a:lstStyle/>
          <a:p>
            <a:pPr algn="ctr">
              <a:lnSpc>
                <a:spcPts val="4555"/>
              </a:lnSpc>
            </a:pPr>
            <a:r>
              <a:rPr lang="es-AR" sz="4257" noProof="0" dirty="0">
                <a:solidFill>
                  <a:srgbClr val="291B25"/>
                </a:solidFill>
                <a:latin typeface="Agrandir"/>
                <a:ea typeface="Agrandir"/>
                <a:cs typeface="Agrandir"/>
                <a:sym typeface="Agrandir"/>
              </a:rPr>
              <a:t>05</a:t>
            </a:r>
          </a:p>
        </p:txBody>
      </p:sp>
      <p:sp>
        <p:nvSpPr>
          <p:cNvPr id="18" name="TextBox 18">
            <a:extLst>
              <a:ext uri="{FF2B5EF4-FFF2-40B4-BE49-F238E27FC236}">
                <a16:creationId xmlns:a16="http://schemas.microsoft.com/office/drawing/2014/main" id="{000A545A-723E-BB94-F856-04E92E397607}"/>
              </a:ext>
            </a:extLst>
          </p:cNvPr>
          <p:cNvSpPr txBox="1"/>
          <p:nvPr/>
        </p:nvSpPr>
        <p:spPr>
          <a:xfrm>
            <a:off x="720177" y="739267"/>
            <a:ext cx="16015105" cy="1233415"/>
          </a:xfrm>
          <a:prstGeom prst="rect">
            <a:avLst/>
          </a:prstGeom>
        </p:spPr>
        <p:txBody>
          <a:bodyPr lIns="0" tIns="0" rIns="0" bIns="0" rtlCol="0" anchor="t">
            <a:spAutoFit/>
          </a:bodyPr>
          <a:lstStyle/>
          <a:p>
            <a:pPr>
              <a:lnSpc>
                <a:spcPts val="9630"/>
              </a:lnSpc>
            </a:pPr>
            <a:r>
              <a:rPr lang="es-AR" sz="9000" noProof="0" dirty="0">
                <a:solidFill>
                  <a:srgbClr val="291B25"/>
                </a:solidFill>
                <a:latin typeface="Agrandir"/>
                <a:ea typeface="Agrandir"/>
                <a:cs typeface="Agrandir"/>
              </a:rPr>
              <a:t>Diseño de investigación</a:t>
            </a:r>
          </a:p>
        </p:txBody>
      </p:sp>
    </p:spTree>
    <p:extLst>
      <p:ext uri="{BB962C8B-B14F-4D97-AF65-F5344CB8AC3E}">
        <p14:creationId xmlns:p14="http://schemas.microsoft.com/office/powerpoint/2010/main" val="1216858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B9A1"/>
        </a:solidFill>
        <a:effectLst/>
      </p:bgPr>
    </p:bg>
    <p:spTree>
      <p:nvGrpSpPr>
        <p:cNvPr id="1" name=""/>
        <p:cNvGrpSpPr/>
        <p:nvPr/>
      </p:nvGrpSpPr>
      <p:grpSpPr>
        <a:xfrm>
          <a:off x="0" y="0"/>
          <a:ext cx="0" cy="0"/>
          <a:chOff x="0" y="0"/>
          <a:chExt cx="0" cy="0"/>
        </a:xfrm>
      </p:grpSpPr>
      <p:grpSp>
        <p:nvGrpSpPr>
          <p:cNvPr id="2" name="Group 2"/>
          <p:cNvGrpSpPr/>
          <p:nvPr/>
        </p:nvGrpSpPr>
        <p:grpSpPr>
          <a:xfrm>
            <a:off x="872892" y="2461228"/>
            <a:ext cx="16386408" cy="1486038"/>
            <a:chOff x="0" y="-38100"/>
            <a:chExt cx="4628974" cy="419789"/>
          </a:xfrm>
        </p:grpSpPr>
        <p:sp>
          <p:nvSpPr>
            <p:cNvPr id="3" name="Freeform 3"/>
            <p:cNvSpPr/>
            <p:nvPr/>
          </p:nvSpPr>
          <p:spPr>
            <a:xfrm>
              <a:off x="0" y="0"/>
              <a:ext cx="4628974" cy="381689"/>
            </a:xfrm>
            <a:custGeom>
              <a:avLst/>
              <a:gdLst/>
              <a:ahLst/>
              <a:cxnLst/>
              <a:rect l="l" t="t" r="r" b="b"/>
              <a:pathLst>
                <a:path w="4628974" h="381689">
                  <a:moveTo>
                    <a:pt x="14646" y="0"/>
                  </a:moveTo>
                  <a:lnTo>
                    <a:pt x="4614327" y="0"/>
                  </a:lnTo>
                  <a:cubicBezTo>
                    <a:pt x="4622416" y="0"/>
                    <a:pt x="4628974" y="6557"/>
                    <a:pt x="4628974" y="14646"/>
                  </a:cubicBezTo>
                  <a:lnTo>
                    <a:pt x="4628974" y="367042"/>
                  </a:lnTo>
                  <a:cubicBezTo>
                    <a:pt x="4628974" y="370927"/>
                    <a:pt x="4627431" y="374652"/>
                    <a:pt x="4624684" y="377399"/>
                  </a:cubicBezTo>
                  <a:cubicBezTo>
                    <a:pt x="4621937" y="380146"/>
                    <a:pt x="4618212" y="381689"/>
                    <a:pt x="4614327" y="381689"/>
                  </a:cubicBezTo>
                  <a:lnTo>
                    <a:pt x="14646" y="381689"/>
                  </a:lnTo>
                  <a:cubicBezTo>
                    <a:pt x="10762" y="381689"/>
                    <a:pt x="7036" y="380146"/>
                    <a:pt x="4290" y="377399"/>
                  </a:cubicBezTo>
                  <a:cubicBezTo>
                    <a:pt x="1543" y="374652"/>
                    <a:pt x="0" y="370927"/>
                    <a:pt x="0" y="367042"/>
                  </a:cubicBezTo>
                  <a:lnTo>
                    <a:pt x="0" y="14646"/>
                  </a:lnTo>
                  <a:cubicBezTo>
                    <a:pt x="0" y="10762"/>
                    <a:pt x="1543" y="7036"/>
                    <a:pt x="4290" y="4290"/>
                  </a:cubicBezTo>
                  <a:cubicBezTo>
                    <a:pt x="7036" y="1543"/>
                    <a:pt x="10762" y="0"/>
                    <a:pt x="14646" y="0"/>
                  </a:cubicBezTo>
                  <a:close/>
                </a:path>
              </a:pathLst>
            </a:custGeom>
            <a:solidFill>
              <a:srgbClr val="F6F6E9"/>
            </a:solidFill>
          </p:spPr>
          <p:txBody>
            <a:bodyPr/>
            <a:lstStyle/>
            <a:p>
              <a:endParaRPr lang="es-AR" noProof="0" dirty="0"/>
            </a:p>
          </p:txBody>
        </p:sp>
        <p:sp>
          <p:nvSpPr>
            <p:cNvPr id="4" name="TextBox 4"/>
            <p:cNvSpPr txBox="1"/>
            <p:nvPr/>
          </p:nvSpPr>
          <p:spPr>
            <a:xfrm>
              <a:off x="0" y="-38100"/>
              <a:ext cx="4628974" cy="419789"/>
            </a:xfrm>
            <a:prstGeom prst="rect">
              <a:avLst/>
            </a:prstGeom>
          </p:spPr>
          <p:txBody>
            <a:bodyPr lIns="50800" tIns="50800" rIns="50800" bIns="50800" rtlCol="0" anchor="ctr"/>
            <a:lstStyle/>
            <a:p>
              <a:pPr algn="ctr">
                <a:lnSpc>
                  <a:spcPts val="2659"/>
                </a:lnSpc>
              </a:pPr>
              <a:endParaRPr lang="es-AR" noProof="0" dirty="0"/>
            </a:p>
          </p:txBody>
        </p:sp>
      </p:grpSp>
      <p:sp>
        <p:nvSpPr>
          <p:cNvPr id="5" name="TextBox 5"/>
          <p:cNvSpPr txBox="1"/>
          <p:nvPr/>
        </p:nvSpPr>
        <p:spPr>
          <a:xfrm>
            <a:off x="1141220" y="2040788"/>
            <a:ext cx="7047791" cy="477888"/>
          </a:xfrm>
          <a:prstGeom prst="rect">
            <a:avLst/>
          </a:prstGeom>
        </p:spPr>
        <p:txBody>
          <a:bodyPr lIns="0" tIns="0" rIns="0" bIns="0" rtlCol="0" anchor="t">
            <a:spAutoFit/>
          </a:bodyPr>
          <a:lstStyle/>
          <a:p>
            <a:pPr algn="l">
              <a:lnSpc>
                <a:spcPts val="3878"/>
              </a:lnSpc>
            </a:pPr>
            <a:r>
              <a:rPr lang="es-AR" sz="2983" noProof="0" dirty="0">
                <a:solidFill>
                  <a:srgbClr val="291B25"/>
                </a:solidFill>
                <a:latin typeface="Agrandir Narrow"/>
                <a:ea typeface="Agrandir Narrow"/>
                <a:cs typeface="Agrandir Narrow"/>
                <a:sym typeface="Agrandir Narrow"/>
              </a:rPr>
              <a:t>Base de datos</a:t>
            </a:r>
          </a:p>
        </p:txBody>
      </p:sp>
      <p:grpSp>
        <p:nvGrpSpPr>
          <p:cNvPr id="6" name="Group 6"/>
          <p:cNvGrpSpPr/>
          <p:nvPr/>
        </p:nvGrpSpPr>
        <p:grpSpPr>
          <a:xfrm>
            <a:off x="872892" y="4564867"/>
            <a:ext cx="16386408" cy="1488563"/>
            <a:chOff x="0" y="-38100"/>
            <a:chExt cx="4628974" cy="420502"/>
          </a:xfrm>
        </p:grpSpPr>
        <p:sp>
          <p:nvSpPr>
            <p:cNvPr id="7" name="Freeform 7"/>
            <p:cNvSpPr/>
            <p:nvPr/>
          </p:nvSpPr>
          <p:spPr>
            <a:xfrm>
              <a:off x="0" y="0"/>
              <a:ext cx="4628974" cy="382402"/>
            </a:xfrm>
            <a:custGeom>
              <a:avLst/>
              <a:gdLst/>
              <a:ahLst/>
              <a:cxnLst/>
              <a:rect l="l" t="t" r="r" b="b"/>
              <a:pathLst>
                <a:path w="4628974" h="382402">
                  <a:moveTo>
                    <a:pt x="14646" y="0"/>
                  </a:moveTo>
                  <a:lnTo>
                    <a:pt x="4614327" y="0"/>
                  </a:lnTo>
                  <a:cubicBezTo>
                    <a:pt x="4622416" y="0"/>
                    <a:pt x="4628974" y="6557"/>
                    <a:pt x="4628974" y="14646"/>
                  </a:cubicBezTo>
                  <a:lnTo>
                    <a:pt x="4628974" y="367756"/>
                  </a:lnTo>
                  <a:cubicBezTo>
                    <a:pt x="4628974" y="375845"/>
                    <a:pt x="4622416" y="382402"/>
                    <a:pt x="4614327" y="382402"/>
                  </a:cubicBezTo>
                  <a:lnTo>
                    <a:pt x="14646" y="382402"/>
                  </a:lnTo>
                  <a:cubicBezTo>
                    <a:pt x="10762" y="382402"/>
                    <a:pt x="7036" y="380859"/>
                    <a:pt x="4290" y="378112"/>
                  </a:cubicBezTo>
                  <a:cubicBezTo>
                    <a:pt x="1543" y="375366"/>
                    <a:pt x="0" y="371640"/>
                    <a:pt x="0" y="367756"/>
                  </a:cubicBezTo>
                  <a:lnTo>
                    <a:pt x="0" y="14646"/>
                  </a:lnTo>
                  <a:cubicBezTo>
                    <a:pt x="0" y="10762"/>
                    <a:pt x="1543" y="7036"/>
                    <a:pt x="4290" y="4290"/>
                  </a:cubicBezTo>
                  <a:cubicBezTo>
                    <a:pt x="7036" y="1543"/>
                    <a:pt x="10762" y="0"/>
                    <a:pt x="14646" y="0"/>
                  </a:cubicBezTo>
                  <a:close/>
                </a:path>
              </a:pathLst>
            </a:custGeom>
            <a:solidFill>
              <a:srgbClr val="F6F6E9"/>
            </a:solidFill>
          </p:spPr>
          <p:txBody>
            <a:bodyPr/>
            <a:lstStyle/>
            <a:p>
              <a:endParaRPr lang="es-AR" noProof="0" dirty="0"/>
            </a:p>
          </p:txBody>
        </p:sp>
        <p:sp>
          <p:nvSpPr>
            <p:cNvPr id="8" name="TextBox 8"/>
            <p:cNvSpPr txBox="1"/>
            <p:nvPr/>
          </p:nvSpPr>
          <p:spPr>
            <a:xfrm>
              <a:off x="0" y="-38100"/>
              <a:ext cx="4628974" cy="420502"/>
            </a:xfrm>
            <a:prstGeom prst="rect">
              <a:avLst/>
            </a:prstGeom>
          </p:spPr>
          <p:txBody>
            <a:bodyPr lIns="50800" tIns="50800" rIns="50800" bIns="50800" rtlCol="0" anchor="ctr"/>
            <a:lstStyle/>
            <a:p>
              <a:pPr algn="ctr">
                <a:lnSpc>
                  <a:spcPts val="2659"/>
                </a:lnSpc>
              </a:pPr>
              <a:endParaRPr lang="es-AR" noProof="0" dirty="0"/>
            </a:p>
          </p:txBody>
        </p:sp>
      </p:grpSp>
      <p:sp>
        <p:nvSpPr>
          <p:cNvPr id="9" name="TextBox 9"/>
          <p:cNvSpPr txBox="1"/>
          <p:nvPr/>
        </p:nvSpPr>
        <p:spPr>
          <a:xfrm>
            <a:off x="1141220" y="4144428"/>
            <a:ext cx="7047791" cy="477888"/>
          </a:xfrm>
          <a:prstGeom prst="rect">
            <a:avLst/>
          </a:prstGeom>
        </p:spPr>
        <p:txBody>
          <a:bodyPr lIns="0" tIns="0" rIns="0" bIns="0" rtlCol="0" anchor="t">
            <a:spAutoFit/>
          </a:bodyPr>
          <a:lstStyle/>
          <a:p>
            <a:pPr>
              <a:lnSpc>
                <a:spcPts val="3878"/>
              </a:lnSpc>
            </a:pPr>
            <a:r>
              <a:rPr lang="es-AR" sz="2950" noProof="0" dirty="0">
                <a:solidFill>
                  <a:srgbClr val="291B25"/>
                </a:solidFill>
                <a:latin typeface="Agrandir Narrow"/>
                <a:ea typeface="Agrandir Narrow"/>
                <a:cs typeface="Agrandir Narrow"/>
                <a:sym typeface="Agrandir Narrow"/>
              </a:rPr>
              <a:t>Variables relevantes</a:t>
            </a:r>
            <a:endParaRPr lang="es-AR" sz="2983" noProof="0" dirty="0">
              <a:solidFill>
                <a:srgbClr val="291B25"/>
              </a:solidFill>
              <a:latin typeface="Agrandir Narrow"/>
              <a:ea typeface="Agrandir Narrow"/>
              <a:cs typeface="Agrandir Narrow"/>
              <a:sym typeface="Agrandir Narrow"/>
            </a:endParaRPr>
          </a:p>
        </p:txBody>
      </p:sp>
      <p:grpSp>
        <p:nvGrpSpPr>
          <p:cNvPr id="10" name="Group 10"/>
          <p:cNvGrpSpPr/>
          <p:nvPr/>
        </p:nvGrpSpPr>
        <p:grpSpPr>
          <a:xfrm>
            <a:off x="872892" y="6671032"/>
            <a:ext cx="16386408" cy="1470405"/>
            <a:chOff x="0" y="-38100"/>
            <a:chExt cx="4628974" cy="415373"/>
          </a:xfrm>
        </p:grpSpPr>
        <p:sp>
          <p:nvSpPr>
            <p:cNvPr id="11" name="Freeform 11"/>
            <p:cNvSpPr/>
            <p:nvPr/>
          </p:nvSpPr>
          <p:spPr>
            <a:xfrm>
              <a:off x="0" y="0"/>
              <a:ext cx="4628974" cy="377273"/>
            </a:xfrm>
            <a:custGeom>
              <a:avLst/>
              <a:gdLst/>
              <a:ahLst/>
              <a:cxnLst/>
              <a:rect l="l" t="t" r="r" b="b"/>
              <a:pathLst>
                <a:path w="4628974" h="377273">
                  <a:moveTo>
                    <a:pt x="14646" y="0"/>
                  </a:moveTo>
                  <a:lnTo>
                    <a:pt x="4614327" y="0"/>
                  </a:lnTo>
                  <a:cubicBezTo>
                    <a:pt x="4622416" y="0"/>
                    <a:pt x="4628974" y="6557"/>
                    <a:pt x="4628974" y="14646"/>
                  </a:cubicBezTo>
                  <a:lnTo>
                    <a:pt x="4628974" y="362626"/>
                  </a:lnTo>
                  <a:cubicBezTo>
                    <a:pt x="4628974" y="366511"/>
                    <a:pt x="4627431" y="370236"/>
                    <a:pt x="4624684" y="372983"/>
                  </a:cubicBezTo>
                  <a:cubicBezTo>
                    <a:pt x="4621937" y="375729"/>
                    <a:pt x="4618212" y="377273"/>
                    <a:pt x="4614327" y="377273"/>
                  </a:cubicBezTo>
                  <a:lnTo>
                    <a:pt x="14646" y="377273"/>
                  </a:lnTo>
                  <a:cubicBezTo>
                    <a:pt x="10762" y="377273"/>
                    <a:pt x="7036" y="375729"/>
                    <a:pt x="4290" y="372983"/>
                  </a:cubicBezTo>
                  <a:cubicBezTo>
                    <a:pt x="1543" y="370236"/>
                    <a:pt x="0" y="366511"/>
                    <a:pt x="0" y="362626"/>
                  </a:cubicBezTo>
                  <a:lnTo>
                    <a:pt x="0" y="14646"/>
                  </a:lnTo>
                  <a:cubicBezTo>
                    <a:pt x="0" y="10762"/>
                    <a:pt x="1543" y="7036"/>
                    <a:pt x="4290" y="4290"/>
                  </a:cubicBezTo>
                  <a:cubicBezTo>
                    <a:pt x="7036" y="1543"/>
                    <a:pt x="10762" y="0"/>
                    <a:pt x="14646" y="0"/>
                  </a:cubicBezTo>
                  <a:close/>
                </a:path>
              </a:pathLst>
            </a:custGeom>
            <a:solidFill>
              <a:srgbClr val="F6F6E9"/>
            </a:solidFill>
          </p:spPr>
          <p:txBody>
            <a:bodyPr/>
            <a:lstStyle/>
            <a:p>
              <a:endParaRPr lang="es-AR" noProof="0" dirty="0"/>
            </a:p>
          </p:txBody>
        </p:sp>
        <p:sp>
          <p:nvSpPr>
            <p:cNvPr id="12" name="TextBox 12"/>
            <p:cNvSpPr txBox="1"/>
            <p:nvPr/>
          </p:nvSpPr>
          <p:spPr>
            <a:xfrm>
              <a:off x="0" y="-38100"/>
              <a:ext cx="4628974" cy="415373"/>
            </a:xfrm>
            <a:prstGeom prst="rect">
              <a:avLst/>
            </a:prstGeom>
          </p:spPr>
          <p:txBody>
            <a:bodyPr lIns="50800" tIns="50800" rIns="50800" bIns="50800" rtlCol="0" anchor="ctr"/>
            <a:lstStyle/>
            <a:p>
              <a:pPr algn="ctr">
                <a:lnSpc>
                  <a:spcPts val="2659"/>
                </a:lnSpc>
              </a:pPr>
              <a:endParaRPr lang="es-AR" noProof="0" dirty="0"/>
            </a:p>
          </p:txBody>
        </p:sp>
      </p:grpSp>
      <p:sp>
        <p:nvSpPr>
          <p:cNvPr id="13" name="TextBox 13"/>
          <p:cNvSpPr txBox="1"/>
          <p:nvPr/>
        </p:nvSpPr>
        <p:spPr>
          <a:xfrm>
            <a:off x="1141220" y="6250593"/>
            <a:ext cx="7306335" cy="477888"/>
          </a:xfrm>
          <a:prstGeom prst="rect">
            <a:avLst/>
          </a:prstGeom>
        </p:spPr>
        <p:txBody>
          <a:bodyPr lIns="0" tIns="0" rIns="0" bIns="0" rtlCol="0" anchor="t">
            <a:spAutoFit/>
          </a:bodyPr>
          <a:lstStyle/>
          <a:p>
            <a:pPr>
              <a:lnSpc>
                <a:spcPts val="3878"/>
              </a:lnSpc>
            </a:pPr>
            <a:r>
              <a:rPr lang="es-AR" sz="2950" noProof="0" dirty="0">
                <a:solidFill>
                  <a:srgbClr val="291B25"/>
                </a:solidFill>
                <a:latin typeface="Agrandir Narrow"/>
                <a:sym typeface="Agrandir Narrow"/>
              </a:rPr>
              <a:t>Bases adicionales</a:t>
            </a:r>
            <a:endParaRPr lang="es-AR" noProof="0" dirty="0"/>
          </a:p>
        </p:txBody>
      </p:sp>
      <p:grpSp>
        <p:nvGrpSpPr>
          <p:cNvPr id="20" name="Group 20"/>
          <p:cNvGrpSpPr/>
          <p:nvPr/>
        </p:nvGrpSpPr>
        <p:grpSpPr>
          <a:xfrm rot="-5400000">
            <a:off x="15932021" y="8243693"/>
            <a:ext cx="831964" cy="2034756"/>
            <a:chOff x="0" y="-38100"/>
            <a:chExt cx="233609" cy="571343"/>
          </a:xfrm>
        </p:grpSpPr>
        <p:sp>
          <p:nvSpPr>
            <p:cNvPr id="21" name="Freeform 21"/>
            <p:cNvSpPr/>
            <p:nvPr/>
          </p:nvSpPr>
          <p:spPr>
            <a:xfrm>
              <a:off x="0" y="0"/>
              <a:ext cx="233609" cy="533243"/>
            </a:xfrm>
            <a:custGeom>
              <a:avLst/>
              <a:gdLst/>
              <a:ahLst/>
              <a:cxnLst/>
              <a:rect l="l" t="t" r="r" b="b"/>
              <a:pathLst>
                <a:path w="233609" h="533243">
                  <a:moveTo>
                    <a:pt x="116804" y="0"/>
                  </a:moveTo>
                  <a:lnTo>
                    <a:pt x="116804" y="0"/>
                  </a:lnTo>
                  <a:cubicBezTo>
                    <a:pt x="181314" y="0"/>
                    <a:pt x="233609" y="52295"/>
                    <a:pt x="233609" y="116804"/>
                  </a:cubicBezTo>
                  <a:lnTo>
                    <a:pt x="233609" y="416438"/>
                  </a:lnTo>
                  <a:cubicBezTo>
                    <a:pt x="233609" y="480948"/>
                    <a:pt x="181314" y="533243"/>
                    <a:pt x="116804" y="533243"/>
                  </a:cubicBezTo>
                  <a:lnTo>
                    <a:pt x="116804" y="533243"/>
                  </a:lnTo>
                  <a:cubicBezTo>
                    <a:pt x="52295" y="533243"/>
                    <a:pt x="0" y="480948"/>
                    <a:pt x="0" y="416438"/>
                  </a:cubicBezTo>
                  <a:lnTo>
                    <a:pt x="0" y="116804"/>
                  </a:lnTo>
                  <a:cubicBezTo>
                    <a:pt x="0" y="52295"/>
                    <a:pt x="52295" y="0"/>
                    <a:pt x="116804" y="0"/>
                  </a:cubicBezTo>
                  <a:close/>
                </a:path>
              </a:pathLst>
            </a:custGeom>
            <a:solidFill>
              <a:srgbClr val="F6F6E9"/>
            </a:solidFill>
            <a:ln cap="rnd">
              <a:noFill/>
              <a:prstDash val="solid"/>
              <a:round/>
            </a:ln>
          </p:spPr>
          <p:txBody>
            <a:bodyPr/>
            <a:lstStyle/>
            <a:p>
              <a:endParaRPr lang="es-AR" noProof="0" dirty="0"/>
            </a:p>
          </p:txBody>
        </p:sp>
        <p:sp>
          <p:nvSpPr>
            <p:cNvPr id="22" name="TextBox 22"/>
            <p:cNvSpPr txBox="1"/>
            <p:nvPr/>
          </p:nvSpPr>
          <p:spPr>
            <a:xfrm>
              <a:off x="0" y="-38100"/>
              <a:ext cx="233609" cy="571343"/>
            </a:xfrm>
            <a:prstGeom prst="rect">
              <a:avLst/>
            </a:prstGeom>
          </p:spPr>
          <p:txBody>
            <a:bodyPr lIns="50800" tIns="50800" rIns="50800" bIns="50800" rtlCol="0" anchor="ctr"/>
            <a:lstStyle/>
            <a:p>
              <a:pPr algn="ctr">
                <a:lnSpc>
                  <a:spcPts val="2659"/>
                </a:lnSpc>
              </a:pPr>
              <a:endParaRPr lang="es-AR" noProof="0" dirty="0"/>
            </a:p>
          </p:txBody>
        </p:sp>
      </p:grpSp>
      <p:sp>
        <p:nvSpPr>
          <p:cNvPr id="23" name="TextBox 23"/>
          <p:cNvSpPr txBox="1"/>
          <p:nvPr/>
        </p:nvSpPr>
        <p:spPr>
          <a:xfrm>
            <a:off x="15742943" y="8966117"/>
            <a:ext cx="1345808" cy="589905"/>
          </a:xfrm>
          <a:prstGeom prst="rect">
            <a:avLst/>
          </a:prstGeom>
        </p:spPr>
        <p:txBody>
          <a:bodyPr lIns="0" tIns="0" rIns="0" bIns="0" rtlCol="0" anchor="ctr">
            <a:spAutoFit/>
          </a:bodyPr>
          <a:lstStyle/>
          <a:p>
            <a:pPr algn="ctr">
              <a:lnSpc>
                <a:spcPts val="4555"/>
              </a:lnSpc>
            </a:pPr>
            <a:r>
              <a:rPr lang="es-AR" sz="4257" noProof="0" dirty="0">
                <a:solidFill>
                  <a:srgbClr val="291B25"/>
                </a:solidFill>
                <a:latin typeface="Agrandir"/>
                <a:ea typeface="Agrandir"/>
                <a:cs typeface="Agrandir"/>
                <a:sym typeface="Agrandir"/>
              </a:rPr>
              <a:t>06</a:t>
            </a:r>
          </a:p>
        </p:txBody>
      </p:sp>
      <p:sp>
        <p:nvSpPr>
          <p:cNvPr id="24" name="TextBox 24"/>
          <p:cNvSpPr txBox="1"/>
          <p:nvPr/>
        </p:nvSpPr>
        <p:spPr>
          <a:xfrm>
            <a:off x="1338148" y="3011886"/>
            <a:ext cx="14891090" cy="384721"/>
          </a:xfrm>
          <a:prstGeom prst="rect">
            <a:avLst/>
          </a:prstGeom>
        </p:spPr>
        <p:txBody>
          <a:bodyPr lIns="0" tIns="0" rIns="0" bIns="0" rtlCol="0" anchor="t">
            <a:spAutoFit/>
          </a:bodyPr>
          <a:lstStyle/>
          <a:p>
            <a:pPr marL="0" lvl="0" indent="0" algn="just">
              <a:lnSpc>
                <a:spcPts val="3030"/>
              </a:lnSpc>
              <a:spcBef>
                <a:spcPct val="0"/>
              </a:spcBef>
            </a:pPr>
            <a:r>
              <a:rPr lang="es-AR" sz="2600" noProof="0" dirty="0">
                <a:solidFill>
                  <a:srgbClr val="291B25"/>
                </a:solidFill>
                <a:latin typeface="Agrandir Narrow"/>
                <a:ea typeface="Agrandir Narrow"/>
                <a:cs typeface="Agrandir Narrow"/>
                <a:sym typeface="Agrandir Narrow"/>
              </a:rPr>
              <a:t>Principalmente, utilizamos la base de recorridos de los usuarios de 2024 que provee el GCBA. </a:t>
            </a:r>
          </a:p>
        </p:txBody>
      </p:sp>
      <p:sp>
        <p:nvSpPr>
          <p:cNvPr id="25" name="TextBox 25"/>
          <p:cNvSpPr txBox="1"/>
          <p:nvPr/>
        </p:nvSpPr>
        <p:spPr>
          <a:xfrm>
            <a:off x="1338148" y="4799504"/>
            <a:ext cx="14891090" cy="1154162"/>
          </a:xfrm>
          <a:prstGeom prst="rect">
            <a:avLst/>
          </a:prstGeom>
        </p:spPr>
        <p:txBody>
          <a:bodyPr lIns="0" tIns="0" rIns="0" bIns="0" rtlCol="0" anchor="t">
            <a:spAutoFit/>
          </a:bodyPr>
          <a:lstStyle/>
          <a:p>
            <a:pPr algn="just">
              <a:lnSpc>
                <a:spcPts val="3030"/>
              </a:lnSpc>
              <a:spcBef>
                <a:spcPct val="0"/>
              </a:spcBef>
            </a:pPr>
            <a:r>
              <a:rPr lang="es-AR" sz="2600" noProof="0" dirty="0">
                <a:solidFill>
                  <a:srgbClr val="291B25"/>
                </a:solidFill>
                <a:latin typeface="Agrandir Narrow"/>
                <a:ea typeface="Agrandir Narrow"/>
                <a:cs typeface="Agrandir Narrow"/>
                <a:sym typeface="Agrandir Narrow"/>
              </a:rPr>
              <a:t>Decidimos utilizar las siguientes variables: duración del recorrido (</a:t>
            </a:r>
            <a:r>
              <a:rPr lang="es-AR" sz="2600" noProof="0" dirty="0" err="1">
                <a:solidFill>
                  <a:srgbClr val="291B25"/>
                </a:solidFill>
                <a:latin typeface="Agrandir Narrow"/>
                <a:ea typeface="Agrandir Narrow"/>
                <a:cs typeface="Agrandir Narrow"/>
                <a:sym typeface="Agrandir Narrow"/>
              </a:rPr>
              <a:t>integer</a:t>
            </a:r>
            <a:r>
              <a:rPr lang="es-AR" sz="2600" noProof="0" dirty="0">
                <a:solidFill>
                  <a:srgbClr val="291B25"/>
                </a:solidFill>
                <a:latin typeface="Agrandir Narrow"/>
                <a:ea typeface="Agrandir Narrow"/>
                <a:cs typeface="Agrandir Narrow"/>
                <a:sym typeface="Agrandir Narrow"/>
              </a:rPr>
              <a:t>), fecha y hora de origen (</a:t>
            </a:r>
            <a:r>
              <a:rPr lang="es-AR" sz="2600" noProof="0" dirty="0" err="1">
                <a:solidFill>
                  <a:srgbClr val="291B25"/>
                </a:solidFill>
                <a:latin typeface="Agrandir Narrow"/>
                <a:ea typeface="Agrandir Narrow"/>
                <a:cs typeface="Agrandir Narrow"/>
                <a:sym typeface="Agrandir Narrow"/>
              </a:rPr>
              <a:t>character</a:t>
            </a:r>
            <a:r>
              <a:rPr lang="es-AR" sz="2600" noProof="0" dirty="0">
                <a:solidFill>
                  <a:srgbClr val="291B25"/>
                </a:solidFill>
                <a:ea typeface="+mn-lt"/>
                <a:cs typeface="+mn-lt"/>
                <a:sym typeface="Agrandir Narrow"/>
              </a:rPr>
              <a:t>)</a:t>
            </a:r>
            <a:r>
              <a:rPr lang="es-AR" sz="2600" noProof="0" dirty="0">
                <a:solidFill>
                  <a:srgbClr val="291B25"/>
                </a:solidFill>
                <a:latin typeface="Agrandir Narrow"/>
                <a:ea typeface="+mn-lt"/>
                <a:cs typeface="+mn-lt"/>
                <a:sym typeface="Agrandir Narrow"/>
              </a:rPr>
              <a:t>,</a:t>
            </a:r>
            <a:r>
              <a:rPr lang="es-AR" sz="2600" noProof="0" dirty="0">
                <a:solidFill>
                  <a:srgbClr val="291B25"/>
                </a:solidFill>
                <a:latin typeface="Agrandir Narrow"/>
                <a:ea typeface="Agrandir Narrow"/>
                <a:cs typeface="Agrandir Narrow"/>
                <a:sym typeface="Agrandir Narrow"/>
              </a:rPr>
              <a:t> fecha y hora de destino (</a:t>
            </a:r>
            <a:r>
              <a:rPr lang="es-AR" sz="2600" noProof="0" dirty="0" err="1">
                <a:solidFill>
                  <a:srgbClr val="291B25"/>
                </a:solidFill>
                <a:latin typeface="Agrandir Narrow"/>
                <a:ea typeface="Agrandir Narrow"/>
                <a:cs typeface="Agrandir Narrow"/>
                <a:sym typeface="Agrandir Narrow"/>
              </a:rPr>
              <a:t>character</a:t>
            </a:r>
            <a:r>
              <a:rPr lang="es-AR" sz="2600" noProof="0" dirty="0">
                <a:solidFill>
                  <a:srgbClr val="291B25"/>
                </a:solidFill>
                <a:latin typeface="Calibri"/>
                <a:ea typeface="Calibri"/>
                <a:cs typeface="Calibri"/>
                <a:sym typeface="Agrandir Narrow"/>
              </a:rPr>
              <a:t>)</a:t>
            </a:r>
            <a:r>
              <a:rPr lang="es-AR" sz="2600" noProof="0" dirty="0">
                <a:solidFill>
                  <a:srgbClr val="291B25"/>
                </a:solidFill>
                <a:latin typeface="Agrandir Narrow"/>
                <a:ea typeface="Agrandir Narrow"/>
                <a:cs typeface="Agrandir Narrow"/>
                <a:sym typeface="Agrandir Narrow"/>
              </a:rPr>
              <a:t>, género del usuario (</a:t>
            </a:r>
            <a:r>
              <a:rPr lang="es-AR" sz="2600" noProof="0" dirty="0" err="1">
                <a:solidFill>
                  <a:srgbClr val="291B25"/>
                </a:solidFill>
                <a:latin typeface="Agrandir Narrow"/>
                <a:ea typeface="Agrandir Narrow"/>
                <a:cs typeface="Agrandir Narrow"/>
                <a:sym typeface="Agrandir Narrow"/>
              </a:rPr>
              <a:t>character</a:t>
            </a:r>
            <a:r>
              <a:rPr lang="es-AR" sz="2600" noProof="0" dirty="0">
                <a:solidFill>
                  <a:srgbClr val="291B25"/>
                </a:solidFill>
                <a:latin typeface="Calibri"/>
                <a:ea typeface="Calibri"/>
                <a:cs typeface="Calibri"/>
                <a:sym typeface="Agrandir Narrow"/>
              </a:rPr>
              <a:t>)</a:t>
            </a:r>
            <a:r>
              <a:rPr lang="es-AR" sz="2600" noProof="0" dirty="0">
                <a:solidFill>
                  <a:srgbClr val="291B25"/>
                </a:solidFill>
                <a:latin typeface="Agrandir Narrow"/>
                <a:ea typeface="Agrandir Narrow"/>
                <a:cs typeface="Agrandir Narrow"/>
                <a:sym typeface="Agrandir Narrow"/>
              </a:rPr>
              <a:t> y el id de la estación de origen (</a:t>
            </a:r>
            <a:r>
              <a:rPr lang="es-AR" sz="2600" noProof="0" dirty="0" err="1">
                <a:solidFill>
                  <a:srgbClr val="291B25"/>
                </a:solidFill>
                <a:latin typeface="Agrandir Narrow"/>
                <a:ea typeface="Agrandir Narrow"/>
                <a:cs typeface="Agrandir Narrow"/>
                <a:sym typeface="Agrandir Narrow"/>
              </a:rPr>
              <a:t>integer</a:t>
            </a:r>
            <a:r>
              <a:rPr lang="es-AR" sz="2600" noProof="0" dirty="0">
                <a:solidFill>
                  <a:srgbClr val="291B25"/>
                </a:solidFill>
                <a:latin typeface="Agrandir Narrow"/>
                <a:ea typeface="Agrandir Narrow"/>
                <a:cs typeface="Agrandir Narrow"/>
                <a:sym typeface="Agrandir Narrow"/>
              </a:rPr>
              <a:t>).</a:t>
            </a:r>
          </a:p>
        </p:txBody>
      </p:sp>
      <p:sp>
        <p:nvSpPr>
          <p:cNvPr id="26" name="TextBox 26"/>
          <p:cNvSpPr txBox="1"/>
          <p:nvPr/>
        </p:nvSpPr>
        <p:spPr>
          <a:xfrm>
            <a:off x="1338148" y="7088950"/>
            <a:ext cx="14891090" cy="769441"/>
          </a:xfrm>
          <a:prstGeom prst="rect">
            <a:avLst/>
          </a:prstGeom>
        </p:spPr>
        <p:txBody>
          <a:bodyPr lIns="0" tIns="0" rIns="0" bIns="0" rtlCol="0" anchor="t">
            <a:spAutoFit/>
          </a:bodyPr>
          <a:lstStyle/>
          <a:p>
            <a:pPr algn="just">
              <a:lnSpc>
                <a:spcPts val="3030"/>
              </a:lnSpc>
              <a:spcBef>
                <a:spcPct val="0"/>
              </a:spcBef>
            </a:pPr>
            <a:r>
              <a:rPr lang="es-AR" sz="2600" noProof="0" dirty="0">
                <a:solidFill>
                  <a:srgbClr val="291B25"/>
                </a:solidFill>
                <a:latin typeface="Agrandir Narrow"/>
                <a:ea typeface="Agrandir Narrow"/>
                <a:cs typeface="Agrandir Narrow"/>
              </a:rPr>
              <a:t>Adicionalmente, utilizamos las siguientes bases: barrios (GCBA) y Salida y Puesta de Sol - ciudad (Servicio de Hidrografía Naval).</a:t>
            </a:r>
          </a:p>
        </p:txBody>
      </p:sp>
      <p:sp>
        <p:nvSpPr>
          <p:cNvPr id="27" name="TextBox 27"/>
          <p:cNvSpPr txBox="1"/>
          <p:nvPr/>
        </p:nvSpPr>
        <p:spPr>
          <a:xfrm>
            <a:off x="872891" y="469859"/>
            <a:ext cx="16492489" cy="1384995"/>
          </a:xfrm>
          <a:prstGeom prst="rect">
            <a:avLst/>
          </a:prstGeom>
        </p:spPr>
        <p:txBody>
          <a:bodyPr wrap="square" lIns="0" tIns="0" rIns="0" bIns="0" rtlCol="0" anchor="t">
            <a:spAutoFit/>
          </a:bodyPr>
          <a:lstStyle/>
          <a:p>
            <a:pPr algn="l">
              <a:lnSpc>
                <a:spcPts val="10800"/>
              </a:lnSpc>
            </a:pPr>
            <a:r>
              <a:rPr lang="es-AR" sz="9000" noProof="0" dirty="0">
                <a:solidFill>
                  <a:srgbClr val="291B25"/>
                </a:solidFill>
                <a:latin typeface="Agrandir"/>
                <a:ea typeface="Agrandir"/>
                <a:cs typeface="Agrandir"/>
                <a:sym typeface="Agrandir"/>
              </a:rPr>
              <a:t>Análisis exploratorio de datos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a:extLst>
            <a:ext uri="{FF2B5EF4-FFF2-40B4-BE49-F238E27FC236}">
              <a16:creationId xmlns:a16="http://schemas.microsoft.com/office/drawing/2014/main" id="{83654D20-2FEC-9A04-7528-D3395A98767E}"/>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B3FC1EA0-699C-AFF6-260B-3892647DC1B6}"/>
              </a:ext>
            </a:extLst>
          </p:cNvPr>
          <p:cNvSpPr txBox="1"/>
          <p:nvPr/>
        </p:nvSpPr>
        <p:spPr>
          <a:xfrm>
            <a:off x="1324612" y="1893411"/>
            <a:ext cx="14806234" cy="7367658"/>
          </a:xfrm>
          <a:prstGeom prst="rect">
            <a:avLst/>
          </a:prstGeom>
        </p:spPr>
        <p:txBody>
          <a:bodyPr wrap="square" lIns="0" tIns="0" rIns="0" bIns="0" numCol="2" spcCol="720000" rtlCol="0" anchor="t">
            <a:spAutoFit/>
          </a:bodyPr>
          <a:lstStyle/>
          <a:p>
            <a:pPr algn="just">
              <a:lnSpc>
                <a:spcPts val="3600"/>
              </a:lnSpc>
              <a:spcBef>
                <a:spcPct val="0"/>
              </a:spcBef>
              <a:defRPr/>
            </a:pPr>
            <a:r>
              <a:rPr kumimoji="0" lang="es-AR" sz="2600" b="0" i="0" u="none" strike="noStrike" kern="1200" cap="none" spc="0" normalizeH="0" noProof="0" dirty="0">
                <a:ln>
                  <a:noFill/>
                </a:ln>
                <a:solidFill>
                  <a:prstClr val="black"/>
                </a:solidFill>
                <a:effectLst/>
                <a:uLnTx/>
                <a:uFillTx/>
                <a:latin typeface="Agrandir Narrow" panose="020B0604020202020204" charset="0"/>
              </a:rPr>
              <a:t>En primer lugar, eliminamos los viajes con una duración igual a 0 segundos o mayor a 4 horas, ya que los consideramos producto de errores</a:t>
            </a:r>
            <a:r>
              <a:rPr lang="es-AR" sz="2600" noProof="0" dirty="0">
                <a:solidFill>
                  <a:prstClr val="black"/>
                </a:solidFill>
                <a:latin typeface="Agrandir Narrow" panose="020B0604020202020204" charset="0"/>
              </a:rPr>
              <a:t>, y asumimos que se deben al azar y que no se encuentran correlacionados con las variables utilizadas.</a:t>
            </a:r>
            <a:endParaRPr lang="es-AR" sz="2600" b="0" i="0" u="none" strike="noStrike" kern="1200" cap="none" spc="0" normalizeH="0" noProof="0" dirty="0">
              <a:ln>
                <a:noFill/>
              </a:ln>
              <a:solidFill>
                <a:prstClr val="black"/>
              </a:solidFill>
              <a:effectLst/>
              <a:uLnTx/>
              <a:uFillTx/>
              <a:latin typeface="Agrandir Narrow" panose="020B0604020202020204" charset="0"/>
            </a:endParaRPr>
          </a:p>
          <a:p>
            <a:pPr algn="just">
              <a:lnSpc>
                <a:spcPts val="3600"/>
              </a:lnSpc>
              <a:spcBef>
                <a:spcPct val="0"/>
              </a:spcBef>
              <a:defRPr/>
            </a:pPr>
            <a:r>
              <a:rPr kumimoji="0" lang="es-AR" sz="2600" b="0" i="0" u="none" strike="noStrike" kern="1200" cap="none" spc="0" normalizeH="0" noProof="0" dirty="0">
                <a:ln>
                  <a:noFill/>
                </a:ln>
                <a:solidFill>
                  <a:prstClr val="black"/>
                </a:solidFill>
                <a:effectLst/>
                <a:uLnTx/>
                <a:uFillTx/>
                <a:latin typeface="Agrandir Narrow" panose="020B0604020202020204" charset="0"/>
              </a:rPr>
              <a:t>Luego, creamos una variable para analizar si los viajes eran circulares (aquellos que inician y finalizan en la misma estación). Utilizamos esa información para quitar los viajes circulares de duración inferior a los 3 minutos</a:t>
            </a:r>
            <a:r>
              <a:rPr lang="es-AR" sz="2600" noProof="0" dirty="0">
                <a:solidFill>
                  <a:prstClr val="black"/>
                </a:solidFill>
                <a:latin typeface="Agrandir Narrow" panose="020B0604020202020204" charset="0"/>
              </a:rPr>
              <a:t>.</a:t>
            </a:r>
            <a:r>
              <a:rPr kumimoji="0" lang="es-AR" sz="2600" b="0" i="0" u="none" strike="noStrike" kern="1200" cap="none" spc="0" normalizeH="0" noProof="0" dirty="0">
                <a:ln>
                  <a:noFill/>
                </a:ln>
                <a:solidFill>
                  <a:prstClr val="black"/>
                </a:solidFill>
                <a:effectLst/>
                <a:uLnTx/>
                <a:uFillTx/>
                <a:latin typeface="Agrandir Narrow" panose="020B0604020202020204" charset="0"/>
              </a:rPr>
              <a:t> </a:t>
            </a:r>
            <a:r>
              <a:rPr lang="es-AR" sz="2600" noProof="0" dirty="0">
                <a:solidFill>
                  <a:prstClr val="black"/>
                </a:solidFill>
                <a:latin typeface="Agrandir Narrow" panose="020B0604020202020204" charset="0"/>
              </a:rPr>
              <a:t>Esto se debe a que, si un usuario toma una bicicleta de una estación y regresa rápidamente a la misma, posiblemente se deba a que la bicicleta tiene algún desperfecto o a que se arrepintió de realizar el viaje. Entonces, no consideramos que sean recorridos relevantes para nuestro análisis. </a:t>
            </a:r>
          </a:p>
          <a:p>
            <a:pPr algn="just">
              <a:lnSpc>
                <a:spcPts val="3600"/>
              </a:lnSpc>
              <a:spcBef>
                <a:spcPct val="0"/>
              </a:spcBef>
              <a:defRPr/>
            </a:pPr>
            <a:r>
              <a:rPr lang="es-AR" sz="2600" noProof="0" dirty="0">
                <a:solidFill>
                  <a:prstClr val="black"/>
                </a:solidFill>
                <a:latin typeface="Agrandir Narrow" panose="020B0604020202020204" charset="0"/>
              </a:rPr>
              <a:t>Por otro lado, </a:t>
            </a:r>
            <a:r>
              <a:rPr kumimoji="0" lang="es-AR" sz="2600" b="0" i="0" u="none" strike="noStrike" kern="1200" cap="none" spc="0" normalizeH="0" noProof="0" dirty="0">
                <a:ln>
                  <a:noFill/>
                </a:ln>
                <a:solidFill>
                  <a:prstClr val="black"/>
                </a:solidFill>
                <a:effectLst/>
                <a:uLnTx/>
                <a:uFillTx/>
                <a:latin typeface="Agrandir Narrow" panose="020B0604020202020204" charset="0"/>
              </a:rPr>
              <a:t>establecimos el límite inferior en 2 minutos para el resto de los viajes. Esto se debe a que</a:t>
            </a:r>
            <a:r>
              <a:rPr lang="es-AR" sz="2600" noProof="0" dirty="0">
                <a:solidFill>
                  <a:prstClr val="black"/>
                </a:solidFill>
                <a:latin typeface="Agrandir Narrow" panose="020B0604020202020204" charset="0"/>
              </a:rPr>
              <a:t> consideramos que es un tiempo mínimo de viaje coherente.</a:t>
            </a:r>
          </a:p>
          <a:p>
            <a:pPr algn="just">
              <a:lnSpc>
                <a:spcPts val="3600"/>
              </a:lnSpc>
              <a:spcBef>
                <a:spcPct val="0"/>
              </a:spcBef>
              <a:defRPr/>
            </a:pPr>
            <a:r>
              <a:rPr lang="es-AR" sz="2600" noProof="0" dirty="0">
                <a:solidFill>
                  <a:prstClr val="black"/>
                </a:solidFill>
                <a:latin typeface="Agrandir Narrow" panose="020B0604020202020204" charset="0"/>
              </a:rPr>
              <a:t>Por otra parte, quitamos los </a:t>
            </a:r>
            <a:r>
              <a:rPr lang="es-AR" sz="2600" noProof="0" dirty="0" err="1">
                <a:solidFill>
                  <a:prstClr val="black"/>
                </a:solidFill>
                <a:latin typeface="Agrandir Narrow" panose="020B0604020202020204" charset="0"/>
              </a:rPr>
              <a:t>NAs</a:t>
            </a:r>
            <a:r>
              <a:rPr lang="es-AR" sz="2600" noProof="0" dirty="0">
                <a:solidFill>
                  <a:prstClr val="black"/>
                </a:solidFill>
                <a:latin typeface="Agrandir Narrow" panose="020B0604020202020204" charset="0"/>
              </a:rPr>
              <a:t> de todas las columnas y los viajes realizados por usuarios del género OTHER. Esto último se debe a que representaban un número inusualmente elevado de recorridos. Posiblemente, se deba a errores de la app o a que los usuarios prefirieron no reportar su género.</a:t>
            </a:r>
          </a:p>
          <a:p>
            <a:pPr algn="just">
              <a:lnSpc>
                <a:spcPts val="3600"/>
              </a:lnSpc>
              <a:spcBef>
                <a:spcPct val="0"/>
              </a:spcBef>
              <a:defRPr/>
            </a:pPr>
            <a:r>
              <a:rPr lang="es-AR" sz="2600" noProof="0" dirty="0">
                <a:solidFill>
                  <a:prstClr val="black"/>
                </a:solidFill>
                <a:latin typeface="Agrandir Narrow" panose="020B0604020202020204" charset="0"/>
              </a:rPr>
              <a:t>Este filtrado de la base implicó una reducción del número de observaciones: se pasó de 3.559.284 a 2.945.237.</a:t>
            </a:r>
          </a:p>
        </p:txBody>
      </p:sp>
      <p:grpSp>
        <p:nvGrpSpPr>
          <p:cNvPr id="14" name="Group 14">
            <a:extLst>
              <a:ext uri="{FF2B5EF4-FFF2-40B4-BE49-F238E27FC236}">
                <a16:creationId xmlns:a16="http://schemas.microsoft.com/office/drawing/2014/main" id="{172C7458-7856-AB58-C0C5-D87C11EB152A}"/>
              </a:ext>
            </a:extLst>
          </p:cNvPr>
          <p:cNvGrpSpPr/>
          <p:nvPr/>
        </p:nvGrpSpPr>
        <p:grpSpPr>
          <a:xfrm rot="-5400000">
            <a:off x="15932021" y="8243693"/>
            <a:ext cx="831964" cy="2034756"/>
            <a:chOff x="0" y="-38100"/>
            <a:chExt cx="233609" cy="571343"/>
          </a:xfrm>
        </p:grpSpPr>
        <p:sp>
          <p:nvSpPr>
            <p:cNvPr id="15" name="Freeform 15">
              <a:extLst>
                <a:ext uri="{FF2B5EF4-FFF2-40B4-BE49-F238E27FC236}">
                  <a16:creationId xmlns:a16="http://schemas.microsoft.com/office/drawing/2014/main" id="{B7048696-A025-15B0-4F70-C1F6F3957318}"/>
                </a:ext>
              </a:extLst>
            </p:cNvPr>
            <p:cNvSpPr/>
            <p:nvPr/>
          </p:nvSpPr>
          <p:spPr>
            <a:xfrm>
              <a:off x="0" y="0"/>
              <a:ext cx="233609" cy="533243"/>
            </a:xfrm>
            <a:custGeom>
              <a:avLst/>
              <a:gdLst/>
              <a:ahLst/>
              <a:cxnLst/>
              <a:rect l="l" t="t" r="r" b="b"/>
              <a:pathLst>
                <a:path w="233609" h="533243">
                  <a:moveTo>
                    <a:pt x="116804" y="0"/>
                  </a:moveTo>
                  <a:lnTo>
                    <a:pt x="116804" y="0"/>
                  </a:lnTo>
                  <a:cubicBezTo>
                    <a:pt x="181314" y="0"/>
                    <a:pt x="233609" y="52295"/>
                    <a:pt x="233609" y="116804"/>
                  </a:cubicBezTo>
                  <a:lnTo>
                    <a:pt x="233609" y="416438"/>
                  </a:lnTo>
                  <a:cubicBezTo>
                    <a:pt x="233609" y="480948"/>
                    <a:pt x="181314" y="533243"/>
                    <a:pt x="116804" y="533243"/>
                  </a:cubicBezTo>
                  <a:lnTo>
                    <a:pt x="116804" y="533243"/>
                  </a:lnTo>
                  <a:cubicBezTo>
                    <a:pt x="52295" y="533243"/>
                    <a:pt x="0" y="480948"/>
                    <a:pt x="0" y="416438"/>
                  </a:cubicBezTo>
                  <a:lnTo>
                    <a:pt x="0" y="116804"/>
                  </a:lnTo>
                  <a:cubicBezTo>
                    <a:pt x="0" y="52295"/>
                    <a:pt x="52295" y="0"/>
                    <a:pt x="116804" y="0"/>
                  </a:cubicBezTo>
                  <a:close/>
                </a:path>
              </a:pathLst>
            </a:custGeom>
            <a:solidFill>
              <a:srgbClr val="F7B9A1"/>
            </a:solidFill>
            <a:ln cap="rnd">
              <a:no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CA889ABB-A149-8CAC-E3D3-4B334C564DE7}"/>
                </a:ext>
              </a:extLst>
            </p:cNvPr>
            <p:cNvSpPr txBox="1"/>
            <p:nvPr/>
          </p:nvSpPr>
          <p:spPr>
            <a:xfrm>
              <a:off x="0" y="-38100"/>
              <a:ext cx="233609" cy="571343"/>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17" name="TextBox 17">
            <a:extLst>
              <a:ext uri="{FF2B5EF4-FFF2-40B4-BE49-F238E27FC236}">
                <a16:creationId xmlns:a16="http://schemas.microsoft.com/office/drawing/2014/main" id="{495D79AA-765B-1244-E96F-9F2E689C2E47}"/>
              </a:ext>
            </a:extLst>
          </p:cNvPr>
          <p:cNvSpPr txBox="1"/>
          <p:nvPr/>
        </p:nvSpPr>
        <p:spPr>
          <a:xfrm>
            <a:off x="15742943" y="8966117"/>
            <a:ext cx="1345808" cy="589905"/>
          </a:xfrm>
          <a:prstGeom prst="rect">
            <a:avLst/>
          </a:prstGeom>
        </p:spPr>
        <p:txBody>
          <a:bodyPr lIns="0" tIns="0" rIns="0" bIns="0" rtlCol="0" anchor="t">
            <a:spAutoFit/>
          </a:bodyPr>
          <a:lstStyle/>
          <a:p>
            <a:pPr marL="0" marR="0" lvl="0" indent="0" algn="ctr" defTabSz="914400" rtl="0" eaLnBrk="1" fontAlgn="auto" latinLnBrk="0" hangingPunct="1">
              <a:lnSpc>
                <a:spcPts val="4555"/>
              </a:lnSpc>
              <a:spcBef>
                <a:spcPts val="0"/>
              </a:spcBef>
              <a:spcAft>
                <a:spcPts val="0"/>
              </a:spcAft>
              <a:buClrTx/>
              <a:buSzTx/>
              <a:buFontTx/>
              <a:buNone/>
              <a:tabLst/>
              <a:defRPr/>
            </a:pPr>
            <a:r>
              <a:rPr lang="es-AR" sz="4250" noProof="0" dirty="0">
                <a:solidFill>
                  <a:srgbClr val="291B25"/>
                </a:solidFill>
                <a:latin typeface="Agrandir"/>
                <a:ea typeface="Agrandir"/>
                <a:cs typeface="Agrandir"/>
                <a:sym typeface="Agrandir"/>
              </a:rPr>
              <a:t>07</a:t>
            </a:r>
            <a:endParaRPr kumimoji="0" lang="es-AR" sz="4257" b="0" i="0" u="none" strike="noStrike" kern="1200" cap="none" spc="0" normalizeH="0" baseline="0" noProof="0" dirty="0">
              <a:ln>
                <a:noFill/>
              </a:ln>
              <a:solidFill>
                <a:srgbClr val="291B25"/>
              </a:solidFill>
              <a:effectLst/>
              <a:uLnTx/>
              <a:uFillTx/>
              <a:latin typeface="Agrandir"/>
              <a:ea typeface="Agrandir"/>
              <a:cs typeface="Agrandir"/>
              <a:sym typeface="Agrandir"/>
            </a:endParaRPr>
          </a:p>
        </p:txBody>
      </p:sp>
      <p:sp>
        <p:nvSpPr>
          <p:cNvPr id="18" name="TextBox 18">
            <a:extLst>
              <a:ext uri="{FF2B5EF4-FFF2-40B4-BE49-F238E27FC236}">
                <a16:creationId xmlns:a16="http://schemas.microsoft.com/office/drawing/2014/main" id="{4F8489BE-245D-1398-1F88-73DCB4EAA18F}"/>
              </a:ext>
            </a:extLst>
          </p:cNvPr>
          <p:cNvSpPr txBox="1"/>
          <p:nvPr/>
        </p:nvSpPr>
        <p:spPr>
          <a:xfrm>
            <a:off x="720177" y="457431"/>
            <a:ext cx="16015105" cy="1233415"/>
          </a:xfrm>
          <a:prstGeom prst="rect">
            <a:avLst/>
          </a:prstGeom>
        </p:spPr>
        <p:txBody>
          <a:bodyPr lIns="0" tIns="0" rIns="0" bIns="0" rtlCol="0" anchor="t">
            <a:spAutoFit/>
          </a:bodyPr>
          <a:lstStyle/>
          <a:p>
            <a:pPr marL="0" marR="0" lvl="0" indent="0" algn="l" defTabSz="914400" rtl="0" eaLnBrk="1" fontAlgn="auto" latinLnBrk="0" hangingPunct="1">
              <a:lnSpc>
                <a:spcPts val="9630"/>
              </a:lnSpc>
              <a:spcBef>
                <a:spcPts val="0"/>
              </a:spcBef>
              <a:spcAft>
                <a:spcPts val="0"/>
              </a:spcAft>
              <a:buClrTx/>
              <a:buSzTx/>
              <a:buFontTx/>
              <a:buNone/>
              <a:tabLst/>
              <a:defRPr/>
            </a:pPr>
            <a:r>
              <a:rPr kumimoji="0" lang="es-AR" sz="9000" b="0" i="0" u="none" strike="noStrike" kern="1200" cap="none" spc="0" normalizeH="0" baseline="0" noProof="0" dirty="0">
                <a:ln>
                  <a:noFill/>
                </a:ln>
                <a:solidFill>
                  <a:srgbClr val="291B25"/>
                </a:solidFill>
                <a:effectLst/>
                <a:uLnTx/>
                <a:uFillTx/>
                <a:latin typeface="Agrandir"/>
                <a:ea typeface="Agrandir"/>
                <a:cs typeface="Agrandir"/>
              </a:rPr>
              <a:t>Análisis exploratorio de datos</a:t>
            </a:r>
          </a:p>
        </p:txBody>
      </p:sp>
    </p:spTree>
    <p:extLst>
      <p:ext uri="{BB962C8B-B14F-4D97-AF65-F5344CB8AC3E}">
        <p14:creationId xmlns:p14="http://schemas.microsoft.com/office/powerpoint/2010/main" val="3425404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a:extLst>
            <a:ext uri="{FF2B5EF4-FFF2-40B4-BE49-F238E27FC236}">
              <a16:creationId xmlns:a16="http://schemas.microsoft.com/office/drawing/2014/main" id="{F4F399C0-6D24-C342-AA2A-0ACF1927BC48}"/>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BAF0C584-69D6-23BA-229B-5822425F0FE7}"/>
              </a:ext>
            </a:extLst>
          </p:cNvPr>
          <p:cNvSpPr txBox="1"/>
          <p:nvPr/>
        </p:nvSpPr>
        <p:spPr>
          <a:xfrm>
            <a:off x="1324612" y="1922572"/>
            <a:ext cx="14806234" cy="4583947"/>
          </a:xfrm>
          <a:prstGeom prst="rect">
            <a:avLst/>
          </a:prstGeom>
        </p:spPr>
        <p:txBody>
          <a:bodyPr wrap="square" lIns="0" tIns="0" rIns="0" bIns="0" numCol="2" spcCol="720000" rtlCol="0" anchor="t">
            <a:spAutoFit/>
          </a:bodyPr>
          <a:lstStyle/>
          <a:p>
            <a:pPr algn="just">
              <a:lnSpc>
                <a:spcPts val="3600"/>
              </a:lnSpc>
              <a:spcBef>
                <a:spcPct val="0"/>
              </a:spcBef>
              <a:defRPr/>
            </a:pPr>
            <a:r>
              <a:rPr lang="es-AR" sz="2600" noProof="0" dirty="0">
                <a:solidFill>
                  <a:prstClr val="black"/>
                </a:solidFill>
                <a:latin typeface="Agrandir Narrow" panose="020B0604020202020204" charset="0"/>
              </a:rPr>
              <a:t>Para clasificar a los viajes como nocturnos, descargamos mediante web </a:t>
            </a:r>
            <a:r>
              <a:rPr lang="es-AR" sz="2600" noProof="0" dirty="0" err="1">
                <a:solidFill>
                  <a:prstClr val="black"/>
                </a:solidFill>
                <a:latin typeface="Agrandir Narrow" panose="020B0604020202020204" charset="0"/>
              </a:rPr>
              <a:t>scraping</a:t>
            </a:r>
            <a:r>
              <a:rPr lang="es-AR" sz="2600" noProof="0" dirty="0">
                <a:solidFill>
                  <a:prstClr val="black"/>
                </a:solidFill>
                <a:latin typeface="Agrandir Narrow" panose="020B0604020202020204" charset="0"/>
              </a:rPr>
              <a:t> el horario de salida y  puesta del sol de todo 2024 en Buenos Aires. </a:t>
            </a:r>
          </a:p>
          <a:p>
            <a:pPr algn="just">
              <a:lnSpc>
                <a:spcPts val="3600"/>
              </a:lnSpc>
              <a:spcBef>
                <a:spcPct val="0"/>
              </a:spcBef>
              <a:defRPr/>
            </a:pPr>
            <a:r>
              <a:rPr lang="es-AR" sz="2600" noProof="0" dirty="0">
                <a:solidFill>
                  <a:prstClr val="black"/>
                </a:solidFill>
                <a:latin typeface="Agrandir Narrow" panose="020B0604020202020204" charset="0"/>
              </a:rPr>
              <a:t>Decidimos clasificar un viaje como nocturno cuando inicia luego de la puesta o previo a la salida del sol. Además, también incluimos aquellos viajes que, aun comenzando de día, finalizan 30 minutos o más después de la puesta del sol. La razón de este criterio reside en que una persona que decide realizar ese viaje es consciente de que va a llegar a su destino durante la noche, y por lo tanto el recorrido debe ser clasificado como nocturno.</a:t>
            </a:r>
          </a:p>
          <a:p>
            <a:pPr algn="just">
              <a:lnSpc>
                <a:spcPts val="3600"/>
              </a:lnSpc>
              <a:spcBef>
                <a:spcPct val="0"/>
              </a:spcBef>
              <a:defRPr/>
            </a:pPr>
            <a:r>
              <a:rPr lang="es-AR" sz="2600" noProof="0" dirty="0">
                <a:solidFill>
                  <a:prstClr val="black"/>
                </a:solidFill>
                <a:latin typeface="Agrandir Narrow" panose="020B0604020202020204" charset="0"/>
              </a:rPr>
              <a:t>Decidimos que sean 30 minutos para considerar un margen de error, pues quizás el usuario se atrasó y arribó a su destino unos minutos luego de la puesta, pero su objetivo inicial era llegar antes. </a:t>
            </a:r>
          </a:p>
        </p:txBody>
      </p:sp>
      <p:grpSp>
        <p:nvGrpSpPr>
          <p:cNvPr id="14" name="Group 14">
            <a:extLst>
              <a:ext uri="{FF2B5EF4-FFF2-40B4-BE49-F238E27FC236}">
                <a16:creationId xmlns:a16="http://schemas.microsoft.com/office/drawing/2014/main" id="{53BFDF95-B2AD-CF57-2279-2EF2CF051E0F}"/>
              </a:ext>
            </a:extLst>
          </p:cNvPr>
          <p:cNvGrpSpPr/>
          <p:nvPr/>
        </p:nvGrpSpPr>
        <p:grpSpPr>
          <a:xfrm rot="-5400000">
            <a:off x="15932021" y="8243693"/>
            <a:ext cx="831964" cy="2034756"/>
            <a:chOff x="0" y="-38100"/>
            <a:chExt cx="233609" cy="571343"/>
          </a:xfrm>
        </p:grpSpPr>
        <p:sp>
          <p:nvSpPr>
            <p:cNvPr id="15" name="Freeform 15">
              <a:extLst>
                <a:ext uri="{FF2B5EF4-FFF2-40B4-BE49-F238E27FC236}">
                  <a16:creationId xmlns:a16="http://schemas.microsoft.com/office/drawing/2014/main" id="{A7D8D7AA-5235-BA42-FB73-41B6A17DCFDC}"/>
                </a:ext>
              </a:extLst>
            </p:cNvPr>
            <p:cNvSpPr/>
            <p:nvPr/>
          </p:nvSpPr>
          <p:spPr>
            <a:xfrm>
              <a:off x="0" y="0"/>
              <a:ext cx="233609" cy="533243"/>
            </a:xfrm>
            <a:custGeom>
              <a:avLst/>
              <a:gdLst/>
              <a:ahLst/>
              <a:cxnLst/>
              <a:rect l="l" t="t" r="r" b="b"/>
              <a:pathLst>
                <a:path w="233609" h="533243">
                  <a:moveTo>
                    <a:pt x="116804" y="0"/>
                  </a:moveTo>
                  <a:lnTo>
                    <a:pt x="116804" y="0"/>
                  </a:lnTo>
                  <a:cubicBezTo>
                    <a:pt x="181314" y="0"/>
                    <a:pt x="233609" y="52295"/>
                    <a:pt x="233609" y="116804"/>
                  </a:cubicBezTo>
                  <a:lnTo>
                    <a:pt x="233609" y="416438"/>
                  </a:lnTo>
                  <a:cubicBezTo>
                    <a:pt x="233609" y="480948"/>
                    <a:pt x="181314" y="533243"/>
                    <a:pt x="116804" y="533243"/>
                  </a:cubicBezTo>
                  <a:lnTo>
                    <a:pt x="116804" y="533243"/>
                  </a:lnTo>
                  <a:cubicBezTo>
                    <a:pt x="52295" y="533243"/>
                    <a:pt x="0" y="480948"/>
                    <a:pt x="0" y="416438"/>
                  </a:cubicBezTo>
                  <a:lnTo>
                    <a:pt x="0" y="116804"/>
                  </a:lnTo>
                  <a:cubicBezTo>
                    <a:pt x="0" y="52295"/>
                    <a:pt x="52295" y="0"/>
                    <a:pt x="116804" y="0"/>
                  </a:cubicBezTo>
                  <a:close/>
                </a:path>
              </a:pathLst>
            </a:custGeom>
            <a:solidFill>
              <a:srgbClr val="F7B9A1"/>
            </a:solidFill>
            <a:ln cap="rnd">
              <a:no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55798271-74B2-2056-3B15-C7A87B139201}"/>
                </a:ext>
              </a:extLst>
            </p:cNvPr>
            <p:cNvSpPr txBox="1"/>
            <p:nvPr/>
          </p:nvSpPr>
          <p:spPr>
            <a:xfrm>
              <a:off x="0" y="-38100"/>
              <a:ext cx="233609" cy="571343"/>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black"/>
                </a:solidFill>
                <a:effectLst/>
                <a:uLnTx/>
                <a:uFillTx/>
                <a:latin typeface="Calibri"/>
                <a:ea typeface="+mn-ea"/>
                <a:cs typeface="+mn-cs"/>
              </a:endParaRPr>
            </a:p>
          </p:txBody>
        </p:sp>
      </p:grpSp>
      <p:sp>
        <p:nvSpPr>
          <p:cNvPr id="17" name="TextBox 17">
            <a:extLst>
              <a:ext uri="{FF2B5EF4-FFF2-40B4-BE49-F238E27FC236}">
                <a16:creationId xmlns:a16="http://schemas.microsoft.com/office/drawing/2014/main" id="{298FAD07-014E-44F8-D486-19BB32970CA6}"/>
              </a:ext>
            </a:extLst>
          </p:cNvPr>
          <p:cNvSpPr txBox="1"/>
          <p:nvPr/>
        </p:nvSpPr>
        <p:spPr>
          <a:xfrm>
            <a:off x="15742943" y="8966117"/>
            <a:ext cx="1345808" cy="589905"/>
          </a:xfrm>
          <a:prstGeom prst="rect">
            <a:avLst/>
          </a:prstGeom>
        </p:spPr>
        <p:txBody>
          <a:bodyPr lIns="0" tIns="0" rIns="0" bIns="0" rtlCol="0" anchor="t">
            <a:spAutoFit/>
          </a:bodyPr>
          <a:lstStyle/>
          <a:p>
            <a:pPr marL="0" marR="0" lvl="0" indent="0" algn="ctr" defTabSz="914400" rtl="0" eaLnBrk="1" fontAlgn="auto" latinLnBrk="0" hangingPunct="1">
              <a:lnSpc>
                <a:spcPts val="4555"/>
              </a:lnSpc>
              <a:spcBef>
                <a:spcPts val="0"/>
              </a:spcBef>
              <a:spcAft>
                <a:spcPts val="0"/>
              </a:spcAft>
              <a:buClrTx/>
              <a:buSzTx/>
              <a:buFontTx/>
              <a:buNone/>
              <a:tabLst/>
              <a:defRPr/>
            </a:pPr>
            <a:r>
              <a:rPr lang="es-AR" sz="4250" noProof="0" dirty="0">
                <a:solidFill>
                  <a:srgbClr val="291B25"/>
                </a:solidFill>
                <a:latin typeface="Agrandir"/>
                <a:ea typeface="Agrandir"/>
                <a:cs typeface="Agrandir"/>
                <a:sym typeface="Agrandir"/>
              </a:rPr>
              <a:t>08</a:t>
            </a:r>
            <a:endParaRPr kumimoji="0" lang="es-AR" sz="4257" b="0" i="0" u="none" strike="noStrike" kern="1200" cap="none" spc="0" normalizeH="0" baseline="0" noProof="0" dirty="0">
              <a:ln>
                <a:noFill/>
              </a:ln>
              <a:solidFill>
                <a:srgbClr val="291B25"/>
              </a:solidFill>
              <a:effectLst/>
              <a:uLnTx/>
              <a:uFillTx/>
              <a:latin typeface="Agrandir"/>
              <a:ea typeface="Agrandir"/>
              <a:cs typeface="Agrandir"/>
              <a:sym typeface="Agrandir"/>
            </a:endParaRPr>
          </a:p>
        </p:txBody>
      </p:sp>
      <p:sp>
        <p:nvSpPr>
          <p:cNvPr id="18" name="TextBox 18">
            <a:extLst>
              <a:ext uri="{FF2B5EF4-FFF2-40B4-BE49-F238E27FC236}">
                <a16:creationId xmlns:a16="http://schemas.microsoft.com/office/drawing/2014/main" id="{584CE3CC-12C5-6E8A-488B-77A320D93A24}"/>
              </a:ext>
            </a:extLst>
          </p:cNvPr>
          <p:cNvSpPr txBox="1"/>
          <p:nvPr/>
        </p:nvSpPr>
        <p:spPr>
          <a:xfrm>
            <a:off x="720177" y="457431"/>
            <a:ext cx="16015105" cy="1233415"/>
          </a:xfrm>
          <a:prstGeom prst="rect">
            <a:avLst/>
          </a:prstGeom>
        </p:spPr>
        <p:txBody>
          <a:bodyPr lIns="0" tIns="0" rIns="0" bIns="0" rtlCol="0" anchor="t">
            <a:spAutoFit/>
          </a:bodyPr>
          <a:lstStyle/>
          <a:p>
            <a:pPr marL="0" marR="0" lvl="0" indent="0" algn="l" defTabSz="914400" rtl="0" eaLnBrk="1" fontAlgn="auto" latinLnBrk="0" hangingPunct="1">
              <a:lnSpc>
                <a:spcPts val="9630"/>
              </a:lnSpc>
              <a:spcBef>
                <a:spcPts val="0"/>
              </a:spcBef>
              <a:spcAft>
                <a:spcPts val="0"/>
              </a:spcAft>
              <a:buClrTx/>
              <a:buSzTx/>
              <a:buFontTx/>
              <a:buNone/>
              <a:tabLst/>
              <a:defRPr/>
            </a:pPr>
            <a:r>
              <a:rPr kumimoji="0" lang="es-AR" sz="9000" b="0" i="0" u="none" strike="noStrike" kern="1200" cap="none" spc="0" normalizeH="0" baseline="0" noProof="0" dirty="0">
                <a:ln>
                  <a:noFill/>
                </a:ln>
                <a:solidFill>
                  <a:srgbClr val="291B25"/>
                </a:solidFill>
                <a:effectLst/>
                <a:uLnTx/>
                <a:uFillTx/>
                <a:latin typeface="Agrandir"/>
                <a:ea typeface="Agrandir"/>
                <a:cs typeface="Agrandir"/>
              </a:rPr>
              <a:t>Análisis exploratorio de datos</a:t>
            </a:r>
          </a:p>
        </p:txBody>
      </p:sp>
    </p:spTree>
    <p:extLst>
      <p:ext uri="{BB962C8B-B14F-4D97-AF65-F5344CB8AC3E}">
        <p14:creationId xmlns:p14="http://schemas.microsoft.com/office/powerpoint/2010/main" val="925950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p:cNvGrpSpPr/>
        <p:nvPr/>
      </p:nvGrpSpPr>
      <p:grpSpPr>
        <a:xfrm>
          <a:off x="0" y="0"/>
          <a:ext cx="0" cy="0"/>
          <a:chOff x="0" y="0"/>
          <a:chExt cx="0" cy="0"/>
        </a:xfrm>
      </p:grpSpPr>
      <p:sp>
        <p:nvSpPr>
          <p:cNvPr id="5" name="TextBox 5"/>
          <p:cNvSpPr txBox="1"/>
          <p:nvPr/>
        </p:nvSpPr>
        <p:spPr>
          <a:xfrm>
            <a:off x="713300" y="525031"/>
            <a:ext cx="8430700" cy="2464521"/>
          </a:xfrm>
          <a:prstGeom prst="rect">
            <a:avLst/>
          </a:prstGeom>
        </p:spPr>
        <p:txBody>
          <a:bodyPr lIns="0" tIns="0" rIns="0" bIns="0" rtlCol="0" anchor="t">
            <a:spAutoFit/>
          </a:bodyPr>
          <a:lstStyle/>
          <a:p>
            <a:pPr algn="l">
              <a:lnSpc>
                <a:spcPts val="9630"/>
              </a:lnSpc>
            </a:pPr>
            <a:r>
              <a:rPr lang="es-AR" sz="9000" noProof="0" dirty="0">
                <a:solidFill>
                  <a:srgbClr val="291B25"/>
                </a:solidFill>
                <a:latin typeface="Agrandir"/>
                <a:ea typeface="Agrandir"/>
                <a:cs typeface="Agrandir"/>
                <a:sym typeface="Agrandir"/>
              </a:rPr>
              <a:t>Estadísticas descriptivas</a:t>
            </a:r>
          </a:p>
        </p:txBody>
      </p:sp>
      <p:grpSp>
        <p:nvGrpSpPr>
          <p:cNvPr id="12" name="Group 12"/>
          <p:cNvGrpSpPr/>
          <p:nvPr/>
        </p:nvGrpSpPr>
        <p:grpSpPr>
          <a:xfrm rot="-5400000">
            <a:off x="15932021" y="8243693"/>
            <a:ext cx="831964" cy="2034756"/>
            <a:chOff x="0" y="-38100"/>
            <a:chExt cx="233609" cy="571343"/>
          </a:xfrm>
        </p:grpSpPr>
        <p:sp>
          <p:nvSpPr>
            <p:cNvPr id="13" name="Freeform 13"/>
            <p:cNvSpPr/>
            <p:nvPr/>
          </p:nvSpPr>
          <p:spPr>
            <a:xfrm>
              <a:off x="0" y="0"/>
              <a:ext cx="233609" cy="533243"/>
            </a:xfrm>
            <a:custGeom>
              <a:avLst/>
              <a:gdLst/>
              <a:ahLst/>
              <a:cxnLst/>
              <a:rect l="l" t="t" r="r" b="b"/>
              <a:pathLst>
                <a:path w="233609" h="533243">
                  <a:moveTo>
                    <a:pt x="116804" y="0"/>
                  </a:moveTo>
                  <a:lnTo>
                    <a:pt x="116804" y="0"/>
                  </a:lnTo>
                  <a:cubicBezTo>
                    <a:pt x="181314" y="0"/>
                    <a:pt x="233609" y="52295"/>
                    <a:pt x="233609" y="116804"/>
                  </a:cubicBezTo>
                  <a:lnTo>
                    <a:pt x="233609" y="416438"/>
                  </a:lnTo>
                  <a:cubicBezTo>
                    <a:pt x="233609" y="480948"/>
                    <a:pt x="181314" y="533243"/>
                    <a:pt x="116804" y="533243"/>
                  </a:cubicBezTo>
                  <a:lnTo>
                    <a:pt x="116804" y="533243"/>
                  </a:lnTo>
                  <a:cubicBezTo>
                    <a:pt x="52295" y="533243"/>
                    <a:pt x="0" y="480948"/>
                    <a:pt x="0" y="416438"/>
                  </a:cubicBezTo>
                  <a:lnTo>
                    <a:pt x="0" y="116804"/>
                  </a:lnTo>
                  <a:cubicBezTo>
                    <a:pt x="0" y="52295"/>
                    <a:pt x="52295" y="0"/>
                    <a:pt x="116804" y="0"/>
                  </a:cubicBezTo>
                  <a:close/>
                </a:path>
              </a:pathLst>
            </a:custGeom>
            <a:solidFill>
              <a:srgbClr val="F7B9A1"/>
            </a:solidFill>
            <a:ln cap="rnd">
              <a:noFill/>
              <a:prstDash val="solid"/>
              <a:round/>
            </a:ln>
          </p:spPr>
          <p:txBody>
            <a:bodyPr/>
            <a:lstStyle/>
            <a:p>
              <a:endParaRPr lang="es-AR" noProof="0" dirty="0"/>
            </a:p>
          </p:txBody>
        </p:sp>
        <p:sp>
          <p:nvSpPr>
            <p:cNvPr id="14" name="TextBox 14"/>
            <p:cNvSpPr txBox="1"/>
            <p:nvPr/>
          </p:nvSpPr>
          <p:spPr>
            <a:xfrm>
              <a:off x="0" y="-38100"/>
              <a:ext cx="233609" cy="571343"/>
            </a:xfrm>
            <a:prstGeom prst="rect">
              <a:avLst/>
            </a:prstGeom>
          </p:spPr>
          <p:txBody>
            <a:bodyPr lIns="50800" tIns="50800" rIns="50800" bIns="50800" rtlCol="0" anchor="ctr"/>
            <a:lstStyle/>
            <a:p>
              <a:pPr algn="ctr">
                <a:lnSpc>
                  <a:spcPts val="2659"/>
                </a:lnSpc>
              </a:pPr>
              <a:endParaRPr lang="es-AR" noProof="0" dirty="0"/>
            </a:p>
          </p:txBody>
        </p:sp>
      </p:grpSp>
      <p:sp>
        <p:nvSpPr>
          <p:cNvPr id="16" name="TextBox 16"/>
          <p:cNvSpPr txBox="1"/>
          <p:nvPr/>
        </p:nvSpPr>
        <p:spPr>
          <a:xfrm>
            <a:off x="15742943" y="8966117"/>
            <a:ext cx="1345808" cy="589905"/>
          </a:xfrm>
          <a:prstGeom prst="rect">
            <a:avLst/>
          </a:prstGeom>
        </p:spPr>
        <p:txBody>
          <a:bodyPr lIns="0" tIns="0" rIns="0" bIns="0" rtlCol="0" anchor="t">
            <a:spAutoFit/>
          </a:bodyPr>
          <a:lstStyle/>
          <a:p>
            <a:pPr algn="ctr">
              <a:lnSpc>
                <a:spcPts val="4555"/>
              </a:lnSpc>
            </a:pPr>
            <a:r>
              <a:rPr lang="es-AR" sz="4250" noProof="0" dirty="0">
                <a:solidFill>
                  <a:srgbClr val="291B25"/>
                </a:solidFill>
                <a:latin typeface="Agrandir"/>
                <a:ea typeface="Agrandir"/>
                <a:cs typeface="Agrandir"/>
                <a:sym typeface="Agrandir"/>
              </a:rPr>
              <a:t>09</a:t>
            </a:r>
            <a:endParaRPr lang="es-AR" sz="4257" noProof="0" dirty="0">
              <a:solidFill>
                <a:srgbClr val="291B25"/>
              </a:solidFill>
              <a:latin typeface="Agrandir"/>
              <a:ea typeface="Agrandir"/>
              <a:cs typeface="Agrandir"/>
              <a:sym typeface="Agrandir"/>
            </a:endParaRPr>
          </a:p>
        </p:txBody>
      </p:sp>
      <p:sp>
        <p:nvSpPr>
          <p:cNvPr id="17" name="TextBox 17"/>
          <p:cNvSpPr txBox="1"/>
          <p:nvPr/>
        </p:nvSpPr>
        <p:spPr>
          <a:xfrm>
            <a:off x="1080588" y="4234875"/>
            <a:ext cx="6989473" cy="3269934"/>
          </a:xfrm>
          <a:prstGeom prst="rect">
            <a:avLst/>
          </a:prstGeom>
        </p:spPr>
        <p:txBody>
          <a:bodyPr lIns="0" tIns="0" rIns="0" bIns="0" rtlCol="0" anchor="t">
            <a:spAutoFit/>
          </a:bodyPr>
          <a:lstStyle/>
          <a:p>
            <a:pPr algn="just">
              <a:lnSpc>
                <a:spcPts val="3219"/>
              </a:lnSpc>
              <a:spcBef>
                <a:spcPct val="0"/>
              </a:spcBef>
            </a:pPr>
            <a:r>
              <a:rPr lang="es-AR" sz="2600" noProof="0" dirty="0">
                <a:solidFill>
                  <a:srgbClr val="291B25"/>
                </a:solidFill>
                <a:latin typeface="Agrandir Narrow"/>
                <a:ea typeface="Agrandir Narrow"/>
                <a:cs typeface="Agrandir Narrow"/>
                <a:sym typeface="Agrandir Narrow"/>
              </a:rPr>
              <a:t>La media refleja que, en promedio, las mujeres realizan viajes 3 minutos más largos que los hombres, así como también se observa que el viaje mediano es alrededor de 2 minutos y medio más extenso. De todos modos, ambos géneros presentan una variabilidad muy grande, pues el ratio desvío estándar/media (coeficiente de variabilidad) es elevado.</a:t>
            </a:r>
          </a:p>
        </p:txBody>
      </p:sp>
      <p:pic>
        <p:nvPicPr>
          <p:cNvPr id="3" name="Imagen 2">
            <a:extLst>
              <a:ext uri="{FF2B5EF4-FFF2-40B4-BE49-F238E27FC236}">
                <a16:creationId xmlns:a16="http://schemas.microsoft.com/office/drawing/2014/main" id="{5BD511FC-28BA-DA38-3538-BC40A5B6F2F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254618" y="855705"/>
            <a:ext cx="8110763" cy="5069226"/>
          </a:xfrm>
          <a:prstGeom prst="rect">
            <a:avLst/>
          </a:prstGeom>
        </p:spPr>
      </p:pic>
      <p:pic>
        <p:nvPicPr>
          <p:cNvPr id="20" name="Imagen 19">
            <a:extLst>
              <a:ext uri="{FF2B5EF4-FFF2-40B4-BE49-F238E27FC236}">
                <a16:creationId xmlns:a16="http://schemas.microsoft.com/office/drawing/2014/main" id="{4FE0350D-AA2A-8FD6-64BE-9F0D3D3203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0" y="6045961"/>
            <a:ext cx="8854127" cy="166617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a:extLst>
            <a:ext uri="{FF2B5EF4-FFF2-40B4-BE49-F238E27FC236}">
              <a16:creationId xmlns:a16="http://schemas.microsoft.com/office/drawing/2014/main" id="{94345FA0-CC8E-747B-4657-14C412ABB452}"/>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84A649E4-A88E-2D5E-4A63-F73216B74599}"/>
              </a:ext>
            </a:extLst>
          </p:cNvPr>
          <p:cNvSpPr txBox="1"/>
          <p:nvPr/>
        </p:nvSpPr>
        <p:spPr>
          <a:xfrm>
            <a:off x="713300" y="525031"/>
            <a:ext cx="8430700" cy="2464521"/>
          </a:xfrm>
          <a:prstGeom prst="rect">
            <a:avLst/>
          </a:prstGeom>
        </p:spPr>
        <p:txBody>
          <a:bodyPr lIns="0" tIns="0" rIns="0" bIns="0" rtlCol="0" anchor="t">
            <a:spAutoFit/>
          </a:bodyPr>
          <a:lstStyle/>
          <a:p>
            <a:pPr algn="l">
              <a:lnSpc>
                <a:spcPts val="9630"/>
              </a:lnSpc>
            </a:pPr>
            <a:r>
              <a:rPr lang="es-AR" sz="9000" noProof="0" dirty="0">
                <a:solidFill>
                  <a:srgbClr val="291B25"/>
                </a:solidFill>
                <a:latin typeface="Agrandir"/>
                <a:ea typeface="Agrandir"/>
                <a:cs typeface="Agrandir"/>
                <a:sym typeface="Agrandir"/>
              </a:rPr>
              <a:t>Estadísticas descriptivas</a:t>
            </a:r>
          </a:p>
        </p:txBody>
      </p:sp>
      <p:grpSp>
        <p:nvGrpSpPr>
          <p:cNvPr id="12" name="Group 12">
            <a:extLst>
              <a:ext uri="{FF2B5EF4-FFF2-40B4-BE49-F238E27FC236}">
                <a16:creationId xmlns:a16="http://schemas.microsoft.com/office/drawing/2014/main" id="{27077C2D-B986-97B2-902D-40B30E6C82A3}"/>
              </a:ext>
            </a:extLst>
          </p:cNvPr>
          <p:cNvGrpSpPr/>
          <p:nvPr/>
        </p:nvGrpSpPr>
        <p:grpSpPr>
          <a:xfrm rot="-5400000">
            <a:off x="15939849" y="8235866"/>
            <a:ext cx="831964" cy="2050412"/>
            <a:chOff x="0" y="-38100"/>
            <a:chExt cx="233609" cy="575739"/>
          </a:xfrm>
        </p:grpSpPr>
        <p:sp>
          <p:nvSpPr>
            <p:cNvPr id="13" name="Freeform 13">
              <a:extLst>
                <a:ext uri="{FF2B5EF4-FFF2-40B4-BE49-F238E27FC236}">
                  <a16:creationId xmlns:a16="http://schemas.microsoft.com/office/drawing/2014/main" id="{542D063F-F78B-9B0D-C5B1-0FEE900B6920}"/>
                </a:ext>
              </a:extLst>
            </p:cNvPr>
            <p:cNvSpPr/>
            <p:nvPr/>
          </p:nvSpPr>
          <p:spPr>
            <a:xfrm>
              <a:off x="0" y="4396"/>
              <a:ext cx="233609" cy="533243"/>
            </a:xfrm>
            <a:custGeom>
              <a:avLst/>
              <a:gdLst/>
              <a:ahLst/>
              <a:cxnLst/>
              <a:rect l="l" t="t" r="r" b="b"/>
              <a:pathLst>
                <a:path w="233609" h="533243">
                  <a:moveTo>
                    <a:pt x="116804" y="0"/>
                  </a:moveTo>
                  <a:lnTo>
                    <a:pt x="116804" y="0"/>
                  </a:lnTo>
                  <a:cubicBezTo>
                    <a:pt x="181314" y="0"/>
                    <a:pt x="233609" y="52295"/>
                    <a:pt x="233609" y="116804"/>
                  </a:cubicBezTo>
                  <a:lnTo>
                    <a:pt x="233609" y="416438"/>
                  </a:lnTo>
                  <a:cubicBezTo>
                    <a:pt x="233609" y="480948"/>
                    <a:pt x="181314" y="533243"/>
                    <a:pt x="116804" y="533243"/>
                  </a:cubicBezTo>
                  <a:lnTo>
                    <a:pt x="116804" y="533243"/>
                  </a:lnTo>
                  <a:cubicBezTo>
                    <a:pt x="52295" y="533243"/>
                    <a:pt x="0" y="480948"/>
                    <a:pt x="0" y="416438"/>
                  </a:cubicBezTo>
                  <a:lnTo>
                    <a:pt x="0" y="116804"/>
                  </a:lnTo>
                  <a:cubicBezTo>
                    <a:pt x="0" y="52295"/>
                    <a:pt x="52295" y="0"/>
                    <a:pt x="116804" y="0"/>
                  </a:cubicBezTo>
                  <a:close/>
                </a:path>
              </a:pathLst>
            </a:custGeom>
            <a:solidFill>
              <a:srgbClr val="F7B9A1"/>
            </a:solidFill>
            <a:ln cap="rnd">
              <a:noFill/>
              <a:prstDash val="solid"/>
              <a:round/>
            </a:ln>
          </p:spPr>
          <p:txBody>
            <a:bodyPr/>
            <a:lstStyle/>
            <a:p>
              <a:endParaRPr lang="es-AR" noProof="0" dirty="0"/>
            </a:p>
          </p:txBody>
        </p:sp>
        <p:sp>
          <p:nvSpPr>
            <p:cNvPr id="14" name="TextBox 14">
              <a:extLst>
                <a:ext uri="{FF2B5EF4-FFF2-40B4-BE49-F238E27FC236}">
                  <a16:creationId xmlns:a16="http://schemas.microsoft.com/office/drawing/2014/main" id="{D3178CED-763E-E812-08DE-0428108360AD}"/>
                </a:ext>
              </a:extLst>
            </p:cNvPr>
            <p:cNvSpPr txBox="1"/>
            <p:nvPr/>
          </p:nvSpPr>
          <p:spPr>
            <a:xfrm>
              <a:off x="0" y="-38100"/>
              <a:ext cx="233609" cy="571343"/>
            </a:xfrm>
            <a:prstGeom prst="rect">
              <a:avLst/>
            </a:prstGeom>
          </p:spPr>
          <p:txBody>
            <a:bodyPr lIns="50800" tIns="50800" rIns="50800" bIns="50800" rtlCol="0" anchor="ctr"/>
            <a:lstStyle/>
            <a:p>
              <a:pPr algn="ctr">
                <a:lnSpc>
                  <a:spcPts val="2659"/>
                </a:lnSpc>
              </a:pPr>
              <a:endParaRPr lang="es-AR" noProof="0" dirty="0"/>
            </a:p>
          </p:txBody>
        </p:sp>
      </p:grpSp>
      <p:sp>
        <p:nvSpPr>
          <p:cNvPr id="16" name="TextBox 16">
            <a:extLst>
              <a:ext uri="{FF2B5EF4-FFF2-40B4-BE49-F238E27FC236}">
                <a16:creationId xmlns:a16="http://schemas.microsoft.com/office/drawing/2014/main" id="{FF0E0EDA-7738-6A2C-D918-95071B7BE848}"/>
              </a:ext>
            </a:extLst>
          </p:cNvPr>
          <p:cNvSpPr txBox="1"/>
          <p:nvPr/>
        </p:nvSpPr>
        <p:spPr>
          <a:xfrm>
            <a:off x="15742943" y="8966117"/>
            <a:ext cx="1345808" cy="589905"/>
          </a:xfrm>
          <a:prstGeom prst="rect">
            <a:avLst/>
          </a:prstGeom>
        </p:spPr>
        <p:txBody>
          <a:bodyPr lIns="0" tIns="0" rIns="0" bIns="0" rtlCol="0" anchor="t">
            <a:spAutoFit/>
          </a:bodyPr>
          <a:lstStyle/>
          <a:p>
            <a:pPr algn="ctr">
              <a:lnSpc>
                <a:spcPts val="4555"/>
              </a:lnSpc>
            </a:pPr>
            <a:r>
              <a:rPr lang="es-AR" sz="4250" dirty="0">
                <a:solidFill>
                  <a:srgbClr val="291B25"/>
                </a:solidFill>
                <a:latin typeface="Agrandir"/>
                <a:ea typeface="Agrandir"/>
                <a:cs typeface="Agrandir"/>
                <a:sym typeface="Agrandir"/>
              </a:rPr>
              <a:t>10</a:t>
            </a:r>
            <a:endParaRPr lang="es-AR" sz="4257" noProof="0" dirty="0">
              <a:solidFill>
                <a:srgbClr val="291B25"/>
              </a:solidFill>
              <a:latin typeface="Agrandir"/>
              <a:ea typeface="Agrandir"/>
              <a:cs typeface="Agrandir"/>
              <a:sym typeface="Agrandir"/>
            </a:endParaRPr>
          </a:p>
        </p:txBody>
      </p:sp>
      <p:sp>
        <p:nvSpPr>
          <p:cNvPr id="11" name="TextBox 17">
            <a:extLst>
              <a:ext uri="{FF2B5EF4-FFF2-40B4-BE49-F238E27FC236}">
                <a16:creationId xmlns:a16="http://schemas.microsoft.com/office/drawing/2014/main" id="{AA350E0E-4A4D-0B55-76EC-61931E56CBDF}"/>
              </a:ext>
            </a:extLst>
          </p:cNvPr>
          <p:cNvSpPr txBox="1"/>
          <p:nvPr/>
        </p:nvSpPr>
        <p:spPr>
          <a:xfrm>
            <a:off x="1080588" y="3210409"/>
            <a:ext cx="6989473" cy="6552884"/>
          </a:xfrm>
          <a:prstGeom prst="rect">
            <a:avLst/>
          </a:prstGeom>
        </p:spPr>
        <p:txBody>
          <a:bodyPr lIns="0" tIns="0" rIns="0" bIns="0" rtlCol="0" anchor="t">
            <a:spAutoFit/>
          </a:bodyPr>
          <a:lstStyle/>
          <a:p>
            <a:pPr algn="just">
              <a:lnSpc>
                <a:spcPts val="3219"/>
              </a:lnSpc>
              <a:spcBef>
                <a:spcPct val="0"/>
              </a:spcBef>
            </a:pPr>
            <a:r>
              <a:rPr lang="es-AR" sz="2600" noProof="0" dirty="0">
                <a:solidFill>
                  <a:srgbClr val="291B25"/>
                </a:solidFill>
                <a:latin typeface="Agrandir Narrow"/>
                <a:ea typeface="Agrandir Narrow"/>
                <a:cs typeface="Agrandir Narrow"/>
                <a:sym typeface="Agrandir Narrow"/>
              </a:rPr>
              <a:t>El boxplot refleja que la distribución tiene una cola muy alargada hacia la derecha, con valores muy extremos. Verificamos mediante un histograma la frecuencia de esos viajes extremos y observamos que es muy reducida, como se puede apreciar en el gráfico de densidad.</a:t>
            </a:r>
          </a:p>
          <a:p>
            <a:pPr algn="just">
              <a:lnSpc>
                <a:spcPts val="3219"/>
              </a:lnSpc>
              <a:spcBef>
                <a:spcPct val="0"/>
              </a:spcBef>
            </a:pPr>
            <a:r>
              <a:rPr lang="es-AR" sz="2600" noProof="0" dirty="0">
                <a:solidFill>
                  <a:srgbClr val="291B25"/>
                </a:solidFill>
                <a:latin typeface="Agrandir Narrow"/>
                <a:ea typeface="+mn-lt"/>
                <a:cs typeface="+mn-lt"/>
              </a:rPr>
              <a:t>Por lo tanto, decidimos eliminar los viajes mayores a dos horas, umbral que consideramos razonable para usos típicos del servicio (transporte y recreación urbana). Este criterio resultó en la eliminación de solo 15.000 viajes (0,5% del total), concentrados en la cola derecha de la distribución.</a:t>
            </a:r>
          </a:p>
          <a:p>
            <a:pPr algn="just">
              <a:lnSpc>
                <a:spcPts val="3219"/>
              </a:lnSpc>
              <a:spcBef>
                <a:spcPct val="0"/>
              </a:spcBef>
            </a:pPr>
            <a:r>
              <a:rPr lang="es-AR" sz="2600" noProof="0" dirty="0">
                <a:solidFill>
                  <a:srgbClr val="291B25"/>
                </a:solidFill>
                <a:latin typeface="Agrandir Narrow"/>
                <a:ea typeface="Calibri"/>
                <a:cs typeface="Calibri"/>
              </a:rPr>
              <a:t>Si bien el método del IQR sugería un umbral más restrictivo, lo consideramos demasiado conservador.</a:t>
            </a:r>
          </a:p>
        </p:txBody>
      </p:sp>
      <p:pic>
        <p:nvPicPr>
          <p:cNvPr id="3" name="Imagen 2">
            <a:extLst>
              <a:ext uri="{FF2B5EF4-FFF2-40B4-BE49-F238E27FC236}">
                <a16:creationId xmlns:a16="http://schemas.microsoft.com/office/drawing/2014/main" id="{5FCEB660-9FB0-6120-2E67-8EC95DE284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66716" y="1511300"/>
            <a:ext cx="9939756" cy="7454817"/>
          </a:xfrm>
          <a:prstGeom prst="rect">
            <a:avLst/>
          </a:prstGeom>
        </p:spPr>
      </p:pic>
    </p:spTree>
    <p:extLst>
      <p:ext uri="{BB962C8B-B14F-4D97-AF65-F5344CB8AC3E}">
        <p14:creationId xmlns:p14="http://schemas.microsoft.com/office/powerpoint/2010/main" val="42087296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a:extLst>
            <a:ext uri="{FF2B5EF4-FFF2-40B4-BE49-F238E27FC236}">
              <a16:creationId xmlns:a16="http://schemas.microsoft.com/office/drawing/2014/main" id="{A59B4F50-B277-A9E6-1051-BAD13ECF0850}"/>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25AC2A79-EB58-AB87-B464-32B20D3F7D94}"/>
              </a:ext>
            </a:extLst>
          </p:cNvPr>
          <p:cNvSpPr txBox="1"/>
          <p:nvPr/>
        </p:nvSpPr>
        <p:spPr>
          <a:xfrm>
            <a:off x="713300" y="546198"/>
            <a:ext cx="8430700" cy="3694409"/>
          </a:xfrm>
          <a:prstGeom prst="rect">
            <a:avLst/>
          </a:prstGeom>
        </p:spPr>
        <p:txBody>
          <a:bodyPr lIns="0" tIns="0" rIns="0" bIns="0" rtlCol="0" anchor="t">
            <a:spAutoFit/>
          </a:bodyPr>
          <a:lstStyle/>
          <a:p>
            <a:pPr>
              <a:lnSpc>
                <a:spcPts val="9630"/>
              </a:lnSpc>
            </a:pPr>
            <a:r>
              <a:rPr lang="es-AR" sz="9000" noProof="0" dirty="0">
                <a:solidFill>
                  <a:srgbClr val="291B25"/>
                </a:solidFill>
                <a:latin typeface="Agrandir"/>
                <a:ea typeface="Agrandir"/>
                <a:cs typeface="Agrandir"/>
                <a:sym typeface="Agrandir"/>
              </a:rPr>
              <a:t>Estadísticas descriptivas (</a:t>
            </a:r>
            <a:r>
              <a:rPr lang="es-AR" sz="9000" noProof="0" dirty="0" err="1">
                <a:solidFill>
                  <a:srgbClr val="291B25"/>
                </a:solidFill>
                <a:latin typeface="Agrandir"/>
                <a:ea typeface="Agrandir"/>
                <a:cs typeface="Agrandir"/>
                <a:sym typeface="Agrandir"/>
              </a:rPr>
              <a:t>post-limpieza</a:t>
            </a:r>
            <a:r>
              <a:rPr lang="es-AR" sz="9000" noProof="0" dirty="0">
                <a:solidFill>
                  <a:srgbClr val="291B25"/>
                </a:solidFill>
                <a:latin typeface="Agrandir"/>
                <a:ea typeface="Agrandir"/>
                <a:cs typeface="Agrandir"/>
                <a:sym typeface="Agrandir"/>
              </a:rPr>
              <a:t>)</a:t>
            </a:r>
            <a:endParaRPr lang="es-AR" noProof="0" dirty="0"/>
          </a:p>
        </p:txBody>
      </p:sp>
      <p:grpSp>
        <p:nvGrpSpPr>
          <p:cNvPr id="12" name="Group 12">
            <a:extLst>
              <a:ext uri="{FF2B5EF4-FFF2-40B4-BE49-F238E27FC236}">
                <a16:creationId xmlns:a16="http://schemas.microsoft.com/office/drawing/2014/main" id="{F0B747FA-D9B7-4D36-4CFF-320F69835562}"/>
              </a:ext>
            </a:extLst>
          </p:cNvPr>
          <p:cNvGrpSpPr/>
          <p:nvPr/>
        </p:nvGrpSpPr>
        <p:grpSpPr>
          <a:xfrm rot="-5400000">
            <a:off x="15932021" y="8243693"/>
            <a:ext cx="831964" cy="2034756"/>
            <a:chOff x="0" y="-38100"/>
            <a:chExt cx="233609" cy="571343"/>
          </a:xfrm>
        </p:grpSpPr>
        <p:sp>
          <p:nvSpPr>
            <p:cNvPr id="13" name="Freeform 13">
              <a:extLst>
                <a:ext uri="{FF2B5EF4-FFF2-40B4-BE49-F238E27FC236}">
                  <a16:creationId xmlns:a16="http://schemas.microsoft.com/office/drawing/2014/main" id="{064186BC-729A-780E-97E8-4907956ADFE2}"/>
                </a:ext>
              </a:extLst>
            </p:cNvPr>
            <p:cNvSpPr/>
            <p:nvPr/>
          </p:nvSpPr>
          <p:spPr>
            <a:xfrm>
              <a:off x="0" y="0"/>
              <a:ext cx="233609" cy="533243"/>
            </a:xfrm>
            <a:custGeom>
              <a:avLst/>
              <a:gdLst/>
              <a:ahLst/>
              <a:cxnLst/>
              <a:rect l="l" t="t" r="r" b="b"/>
              <a:pathLst>
                <a:path w="233609" h="533243">
                  <a:moveTo>
                    <a:pt x="116804" y="0"/>
                  </a:moveTo>
                  <a:lnTo>
                    <a:pt x="116804" y="0"/>
                  </a:lnTo>
                  <a:cubicBezTo>
                    <a:pt x="181314" y="0"/>
                    <a:pt x="233609" y="52295"/>
                    <a:pt x="233609" y="116804"/>
                  </a:cubicBezTo>
                  <a:lnTo>
                    <a:pt x="233609" y="416438"/>
                  </a:lnTo>
                  <a:cubicBezTo>
                    <a:pt x="233609" y="480948"/>
                    <a:pt x="181314" y="533243"/>
                    <a:pt x="116804" y="533243"/>
                  </a:cubicBezTo>
                  <a:lnTo>
                    <a:pt x="116804" y="533243"/>
                  </a:lnTo>
                  <a:cubicBezTo>
                    <a:pt x="52295" y="533243"/>
                    <a:pt x="0" y="480948"/>
                    <a:pt x="0" y="416438"/>
                  </a:cubicBezTo>
                  <a:lnTo>
                    <a:pt x="0" y="116804"/>
                  </a:lnTo>
                  <a:cubicBezTo>
                    <a:pt x="0" y="52295"/>
                    <a:pt x="52295" y="0"/>
                    <a:pt x="116804" y="0"/>
                  </a:cubicBezTo>
                  <a:close/>
                </a:path>
              </a:pathLst>
            </a:custGeom>
            <a:solidFill>
              <a:srgbClr val="F7B9A1"/>
            </a:solidFill>
            <a:ln cap="rnd">
              <a:noFill/>
              <a:prstDash val="solid"/>
              <a:round/>
            </a:ln>
          </p:spPr>
          <p:txBody>
            <a:bodyPr/>
            <a:lstStyle/>
            <a:p>
              <a:endParaRPr lang="es-AR" noProof="0" dirty="0"/>
            </a:p>
          </p:txBody>
        </p:sp>
        <p:sp>
          <p:nvSpPr>
            <p:cNvPr id="14" name="TextBox 14">
              <a:extLst>
                <a:ext uri="{FF2B5EF4-FFF2-40B4-BE49-F238E27FC236}">
                  <a16:creationId xmlns:a16="http://schemas.microsoft.com/office/drawing/2014/main" id="{15AD597B-9EE1-E78D-62D5-9B59D9D15A39}"/>
                </a:ext>
              </a:extLst>
            </p:cNvPr>
            <p:cNvSpPr txBox="1"/>
            <p:nvPr/>
          </p:nvSpPr>
          <p:spPr>
            <a:xfrm>
              <a:off x="0" y="-38100"/>
              <a:ext cx="233609" cy="571343"/>
            </a:xfrm>
            <a:prstGeom prst="rect">
              <a:avLst/>
            </a:prstGeom>
          </p:spPr>
          <p:txBody>
            <a:bodyPr lIns="50800" tIns="50800" rIns="50800" bIns="50800" rtlCol="0" anchor="ctr"/>
            <a:lstStyle/>
            <a:p>
              <a:pPr algn="ctr">
                <a:lnSpc>
                  <a:spcPts val="2659"/>
                </a:lnSpc>
              </a:pPr>
              <a:endParaRPr lang="es-AR" noProof="0" dirty="0"/>
            </a:p>
          </p:txBody>
        </p:sp>
      </p:grpSp>
      <p:sp>
        <p:nvSpPr>
          <p:cNvPr id="16" name="TextBox 16">
            <a:extLst>
              <a:ext uri="{FF2B5EF4-FFF2-40B4-BE49-F238E27FC236}">
                <a16:creationId xmlns:a16="http://schemas.microsoft.com/office/drawing/2014/main" id="{91F3E4CB-479A-86E4-A476-6D7823551CA6}"/>
              </a:ext>
            </a:extLst>
          </p:cNvPr>
          <p:cNvSpPr txBox="1"/>
          <p:nvPr/>
        </p:nvSpPr>
        <p:spPr>
          <a:xfrm>
            <a:off x="15742943" y="8966117"/>
            <a:ext cx="1345808" cy="589905"/>
          </a:xfrm>
          <a:prstGeom prst="rect">
            <a:avLst/>
          </a:prstGeom>
        </p:spPr>
        <p:txBody>
          <a:bodyPr lIns="0" tIns="0" rIns="0" bIns="0" rtlCol="0" anchor="t">
            <a:spAutoFit/>
          </a:bodyPr>
          <a:lstStyle/>
          <a:p>
            <a:pPr algn="ctr">
              <a:lnSpc>
                <a:spcPts val="4555"/>
              </a:lnSpc>
            </a:pPr>
            <a:r>
              <a:rPr lang="es-AR" sz="4250" noProof="0" dirty="0">
                <a:solidFill>
                  <a:srgbClr val="291B25"/>
                </a:solidFill>
                <a:latin typeface="Agrandir"/>
                <a:ea typeface="Agrandir"/>
                <a:cs typeface="Agrandir"/>
                <a:sym typeface="Agrandir"/>
              </a:rPr>
              <a:t>11</a:t>
            </a:r>
            <a:endParaRPr lang="es-AR" sz="4257" noProof="0" dirty="0">
              <a:solidFill>
                <a:srgbClr val="291B25"/>
              </a:solidFill>
              <a:latin typeface="Agrandir"/>
              <a:ea typeface="Agrandir"/>
              <a:cs typeface="Agrandir"/>
              <a:sym typeface="Agrandir"/>
            </a:endParaRPr>
          </a:p>
        </p:txBody>
      </p:sp>
      <p:sp>
        <p:nvSpPr>
          <p:cNvPr id="11" name="TextBox 17">
            <a:extLst>
              <a:ext uri="{FF2B5EF4-FFF2-40B4-BE49-F238E27FC236}">
                <a16:creationId xmlns:a16="http://schemas.microsoft.com/office/drawing/2014/main" id="{109E26C0-B6E6-614E-64BA-AE3CC4A34308}"/>
              </a:ext>
            </a:extLst>
          </p:cNvPr>
          <p:cNvSpPr txBox="1"/>
          <p:nvPr/>
        </p:nvSpPr>
        <p:spPr>
          <a:xfrm>
            <a:off x="1080588" y="5145042"/>
            <a:ext cx="6989473" cy="1628459"/>
          </a:xfrm>
          <a:prstGeom prst="rect">
            <a:avLst/>
          </a:prstGeom>
        </p:spPr>
        <p:txBody>
          <a:bodyPr lIns="0" tIns="0" rIns="0" bIns="0" rtlCol="0" anchor="t">
            <a:spAutoFit/>
          </a:bodyPr>
          <a:lstStyle/>
          <a:p>
            <a:pPr algn="just">
              <a:lnSpc>
                <a:spcPts val="3219"/>
              </a:lnSpc>
              <a:spcBef>
                <a:spcPct val="0"/>
              </a:spcBef>
            </a:pPr>
            <a:r>
              <a:rPr lang="es-AR" sz="2600" noProof="0" dirty="0">
                <a:solidFill>
                  <a:srgbClr val="291B25"/>
                </a:solidFill>
                <a:latin typeface="Agrandir Narrow"/>
              </a:rPr>
              <a:t>El boxplot tiene una forma similar, pero con una menor cantidad de outliers. Consideramos que filtrar la base quitando estos valores extremos será más útil para nuestro análisis.</a:t>
            </a:r>
          </a:p>
        </p:txBody>
      </p:sp>
      <p:pic>
        <p:nvPicPr>
          <p:cNvPr id="4" name="Imagen 3">
            <a:extLst>
              <a:ext uri="{FF2B5EF4-FFF2-40B4-BE49-F238E27FC236}">
                <a16:creationId xmlns:a16="http://schemas.microsoft.com/office/drawing/2014/main" id="{1F06D57E-6E3C-454F-23BC-A8E6A3FC84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59530" y="1510517"/>
            <a:ext cx="9940799" cy="7455600"/>
          </a:xfrm>
          <a:prstGeom prst="rect">
            <a:avLst/>
          </a:prstGeom>
        </p:spPr>
      </p:pic>
    </p:spTree>
    <p:extLst>
      <p:ext uri="{BB962C8B-B14F-4D97-AF65-F5344CB8AC3E}">
        <p14:creationId xmlns:p14="http://schemas.microsoft.com/office/powerpoint/2010/main" val="37143475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a:extLst>
            <a:ext uri="{FF2B5EF4-FFF2-40B4-BE49-F238E27FC236}">
              <a16:creationId xmlns:a16="http://schemas.microsoft.com/office/drawing/2014/main" id="{F8DA5415-491E-241A-7E4F-225A34C61B08}"/>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1C12212C-9021-99F6-4188-DE1931C94AA7}"/>
              </a:ext>
            </a:extLst>
          </p:cNvPr>
          <p:cNvSpPr txBox="1"/>
          <p:nvPr/>
        </p:nvSpPr>
        <p:spPr>
          <a:xfrm>
            <a:off x="713300" y="525031"/>
            <a:ext cx="8430700" cy="3695627"/>
          </a:xfrm>
          <a:prstGeom prst="rect">
            <a:avLst/>
          </a:prstGeom>
        </p:spPr>
        <p:txBody>
          <a:bodyPr lIns="0" tIns="0" rIns="0" bIns="0" rtlCol="0" anchor="t">
            <a:spAutoFit/>
          </a:bodyPr>
          <a:lstStyle/>
          <a:p>
            <a:pPr algn="l">
              <a:lnSpc>
                <a:spcPts val="9630"/>
              </a:lnSpc>
            </a:pPr>
            <a:r>
              <a:rPr lang="es-AR" sz="9000" noProof="0" dirty="0">
                <a:solidFill>
                  <a:srgbClr val="291B25"/>
                </a:solidFill>
                <a:latin typeface="Agrandir"/>
                <a:ea typeface="Agrandir"/>
                <a:cs typeface="Agrandir"/>
                <a:sym typeface="Agrandir"/>
              </a:rPr>
              <a:t>Estadísticas descriptivas (</a:t>
            </a:r>
            <a:r>
              <a:rPr lang="es-AR" sz="9000" noProof="0" dirty="0" err="1">
                <a:solidFill>
                  <a:srgbClr val="291B25"/>
                </a:solidFill>
                <a:latin typeface="Agrandir"/>
                <a:ea typeface="Agrandir"/>
                <a:cs typeface="Agrandir"/>
                <a:sym typeface="Agrandir"/>
              </a:rPr>
              <a:t>post-limpieza</a:t>
            </a:r>
            <a:r>
              <a:rPr lang="es-AR" sz="9000" noProof="0" dirty="0">
                <a:solidFill>
                  <a:srgbClr val="291B25"/>
                </a:solidFill>
                <a:latin typeface="Agrandir"/>
                <a:ea typeface="Agrandir"/>
                <a:cs typeface="Agrandir"/>
                <a:sym typeface="Agrandir"/>
              </a:rPr>
              <a:t>)</a:t>
            </a:r>
          </a:p>
        </p:txBody>
      </p:sp>
      <p:grpSp>
        <p:nvGrpSpPr>
          <p:cNvPr id="12" name="Group 12">
            <a:extLst>
              <a:ext uri="{FF2B5EF4-FFF2-40B4-BE49-F238E27FC236}">
                <a16:creationId xmlns:a16="http://schemas.microsoft.com/office/drawing/2014/main" id="{18BEAFC8-96C2-D473-4851-CAED813D90CD}"/>
              </a:ext>
            </a:extLst>
          </p:cNvPr>
          <p:cNvGrpSpPr/>
          <p:nvPr/>
        </p:nvGrpSpPr>
        <p:grpSpPr>
          <a:xfrm rot="-5400000">
            <a:off x="15932021" y="8243693"/>
            <a:ext cx="831964" cy="2034756"/>
            <a:chOff x="0" y="-38100"/>
            <a:chExt cx="233609" cy="571343"/>
          </a:xfrm>
        </p:grpSpPr>
        <p:sp>
          <p:nvSpPr>
            <p:cNvPr id="13" name="Freeform 13">
              <a:extLst>
                <a:ext uri="{FF2B5EF4-FFF2-40B4-BE49-F238E27FC236}">
                  <a16:creationId xmlns:a16="http://schemas.microsoft.com/office/drawing/2014/main" id="{B981D704-4C73-966A-FFB3-BAB9C31C59CA}"/>
                </a:ext>
              </a:extLst>
            </p:cNvPr>
            <p:cNvSpPr/>
            <p:nvPr/>
          </p:nvSpPr>
          <p:spPr>
            <a:xfrm>
              <a:off x="0" y="0"/>
              <a:ext cx="233609" cy="533243"/>
            </a:xfrm>
            <a:custGeom>
              <a:avLst/>
              <a:gdLst/>
              <a:ahLst/>
              <a:cxnLst/>
              <a:rect l="l" t="t" r="r" b="b"/>
              <a:pathLst>
                <a:path w="233609" h="533243">
                  <a:moveTo>
                    <a:pt x="116804" y="0"/>
                  </a:moveTo>
                  <a:lnTo>
                    <a:pt x="116804" y="0"/>
                  </a:lnTo>
                  <a:cubicBezTo>
                    <a:pt x="181314" y="0"/>
                    <a:pt x="233609" y="52295"/>
                    <a:pt x="233609" y="116804"/>
                  </a:cubicBezTo>
                  <a:lnTo>
                    <a:pt x="233609" y="416438"/>
                  </a:lnTo>
                  <a:cubicBezTo>
                    <a:pt x="233609" y="480948"/>
                    <a:pt x="181314" y="533243"/>
                    <a:pt x="116804" y="533243"/>
                  </a:cubicBezTo>
                  <a:lnTo>
                    <a:pt x="116804" y="533243"/>
                  </a:lnTo>
                  <a:cubicBezTo>
                    <a:pt x="52295" y="533243"/>
                    <a:pt x="0" y="480948"/>
                    <a:pt x="0" y="416438"/>
                  </a:cubicBezTo>
                  <a:lnTo>
                    <a:pt x="0" y="116804"/>
                  </a:lnTo>
                  <a:cubicBezTo>
                    <a:pt x="0" y="52295"/>
                    <a:pt x="52295" y="0"/>
                    <a:pt x="116804" y="0"/>
                  </a:cubicBezTo>
                  <a:close/>
                </a:path>
              </a:pathLst>
            </a:custGeom>
            <a:solidFill>
              <a:srgbClr val="F7B9A1"/>
            </a:solidFill>
            <a:ln cap="rnd">
              <a:noFill/>
              <a:prstDash val="solid"/>
              <a:round/>
            </a:ln>
          </p:spPr>
          <p:txBody>
            <a:bodyPr/>
            <a:lstStyle/>
            <a:p>
              <a:endParaRPr lang="es-AR" noProof="0" dirty="0"/>
            </a:p>
          </p:txBody>
        </p:sp>
        <p:sp>
          <p:nvSpPr>
            <p:cNvPr id="14" name="TextBox 14">
              <a:extLst>
                <a:ext uri="{FF2B5EF4-FFF2-40B4-BE49-F238E27FC236}">
                  <a16:creationId xmlns:a16="http://schemas.microsoft.com/office/drawing/2014/main" id="{1E9B9E3E-CE0D-80C6-3D67-1EFF4F4045ED}"/>
                </a:ext>
              </a:extLst>
            </p:cNvPr>
            <p:cNvSpPr txBox="1"/>
            <p:nvPr/>
          </p:nvSpPr>
          <p:spPr>
            <a:xfrm>
              <a:off x="0" y="-38100"/>
              <a:ext cx="233609" cy="571343"/>
            </a:xfrm>
            <a:prstGeom prst="rect">
              <a:avLst/>
            </a:prstGeom>
          </p:spPr>
          <p:txBody>
            <a:bodyPr lIns="50800" tIns="50800" rIns="50800" bIns="50800" rtlCol="0" anchor="ctr"/>
            <a:lstStyle/>
            <a:p>
              <a:pPr algn="ctr">
                <a:lnSpc>
                  <a:spcPts val="2659"/>
                </a:lnSpc>
              </a:pPr>
              <a:endParaRPr lang="es-AR" noProof="0" dirty="0"/>
            </a:p>
          </p:txBody>
        </p:sp>
      </p:grpSp>
      <p:sp>
        <p:nvSpPr>
          <p:cNvPr id="16" name="TextBox 16">
            <a:extLst>
              <a:ext uri="{FF2B5EF4-FFF2-40B4-BE49-F238E27FC236}">
                <a16:creationId xmlns:a16="http://schemas.microsoft.com/office/drawing/2014/main" id="{4D8D1747-2158-CD67-F907-8E418E507866}"/>
              </a:ext>
            </a:extLst>
          </p:cNvPr>
          <p:cNvSpPr txBox="1"/>
          <p:nvPr/>
        </p:nvSpPr>
        <p:spPr>
          <a:xfrm>
            <a:off x="15510181" y="8968242"/>
            <a:ext cx="1846849" cy="589905"/>
          </a:xfrm>
          <a:prstGeom prst="rect">
            <a:avLst/>
          </a:prstGeom>
        </p:spPr>
        <p:txBody>
          <a:bodyPr wrap="square" lIns="0" tIns="0" rIns="0" bIns="0" rtlCol="0" anchor="t">
            <a:spAutoFit/>
          </a:bodyPr>
          <a:lstStyle/>
          <a:p>
            <a:pPr algn="ctr">
              <a:lnSpc>
                <a:spcPts val="4555"/>
              </a:lnSpc>
            </a:pPr>
            <a:r>
              <a:rPr lang="es-AR" sz="4250" noProof="0" dirty="0">
                <a:solidFill>
                  <a:srgbClr val="291B25"/>
                </a:solidFill>
                <a:latin typeface="Agrandir"/>
                <a:ea typeface="Agrandir"/>
                <a:cs typeface="Agrandir"/>
                <a:sym typeface="Agrandir"/>
              </a:rPr>
              <a:t>12</a:t>
            </a:r>
            <a:endParaRPr lang="es-AR" sz="4250" noProof="0" dirty="0">
              <a:solidFill>
                <a:srgbClr val="291B25"/>
              </a:solidFill>
              <a:latin typeface="Agrandir"/>
              <a:ea typeface="Agrandir"/>
              <a:cs typeface="Agrandir"/>
            </a:endParaRPr>
          </a:p>
        </p:txBody>
      </p:sp>
      <p:sp>
        <p:nvSpPr>
          <p:cNvPr id="17" name="TextBox 17">
            <a:extLst>
              <a:ext uri="{FF2B5EF4-FFF2-40B4-BE49-F238E27FC236}">
                <a16:creationId xmlns:a16="http://schemas.microsoft.com/office/drawing/2014/main" id="{05942EFC-1ADE-E682-ACB8-D41B34CF4412}"/>
              </a:ext>
            </a:extLst>
          </p:cNvPr>
          <p:cNvSpPr txBox="1"/>
          <p:nvPr/>
        </p:nvSpPr>
        <p:spPr>
          <a:xfrm>
            <a:off x="892698" y="4673286"/>
            <a:ext cx="7336902" cy="3680303"/>
          </a:xfrm>
          <a:prstGeom prst="rect">
            <a:avLst/>
          </a:prstGeom>
        </p:spPr>
        <p:txBody>
          <a:bodyPr wrap="square" lIns="0" tIns="0" rIns="0" bIns="0" rtlCol="0" anchor="t">
            <a:spAutoFit/>
          </a:bodyPr>
          <a:lstStyle/>
          <a:p>
            <a:pPr algn="just">
              <a:lnSpc>
                <a:spcPts val="3219"/>
              </a:lnSpc>
              <a:spcBef>
                <a:spcPct val="0"/>
              </a:spcBef>
            </a:pPr>
            <a:endParaRPr lang="es-AR" sz="2600" noProof="0" dirty="0">
              <a:solidFill>
                <a:srgbClr val="291B25"/>
              </a:solidFill>
              <a:latin typeface="Agrandir Narrow"/>
              <a:ea typeface="Agrandir Narrow"/>
              <a:cs typeface="Agrandir Narrow"/>
            </a:endParaRPr>
          </a:p>
          <a:p>
            <a:pPr algn="just">
              <a:lnSpc>
                <a:spcPts val="3219"/>
              </a:lnSpc>
              <a:spcBef>
                <a:spcPct val="0"/>
              </a:spcBef>
            </a:pPr>
            <a:r>
              <a:rPr lang="es-AR" sz="2600" noProof="0" dirty="0">
                <a:solidFill>
                  <a:srgbClr val="291B25"/>
                </a:solidFill>
                <a:latin typeface="Agrandir Narrow"/>
                <a:ea typeface="Agrandir Narrow"/>
                <a:cs typeface="Agrandir Narrow"/>
                <a:sym typeface="Agrandir Narrow"/>
              </a:rPr>
              <a:t>La media refleja que, en promedio, las mujeres realizan viajes 2 minutos 47 segundos más largos que los hombres, así como también se observa que el viaje mediano es 2 minutos y 27 segundos más extenso. Sin embargo, nuevamente observamos un alto nivel de variabilidad</a:t>
            </a:r>
            <a:r>
              <a:rPr lang="es-AR" sz="2600" dirty="0">
                <a:solidFill>
                  <a:srgbClr val="291B25"/>
                </a:solidFill>
                <a:latin typeface="Agrandir Narrow"/>
                <a:ea typeface="Agrandir Narrow"/>
                <a:cs typeface="Agrandir Narrow"/>
                <a:sym typeface="Agrandir Narrow"/>
              </a:rPr>
              <a:t>, pues el ratio desvío estándar/media (coeficiente de variabilidad) es sumamente elevado. </a:t>
            </a:r>
            <a:endParaRPr lang="es-AR" sz="2600" noProof="0" dirty="0">
              <a:solidFill>
                <a:srgbClr val="291B25"/>
              </a:solidFill>
              <a:latin typeface="Agrandir Narrow"/>
              <a:ea typeface="Agrandir Narrow"/>
              <a:cs typeface="Agrandir Narrow"/>
            </a:endParaRPr>
          </a:p>
        </p:txBody>
      </p:sp>
      <p:pic>
        <p:nvPicPr>
          <p:cNvPr id="8" name="Imagen 7">
            <a:extLst>
              <a:ext uri="{FF2B5EF4-FFF2-40B4-BE49-F238E27FC236}">
                <a16:creationId xmlns:a16="http://schemas.microsoft.com/office/drawing/2014/main" id="{FB15B607-DCFB-1FE8-D385-5D36504F6C1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273575" y="1111220"/>
            <a:ext cx="8110081" cy="5068800"/>
          </a:xfrm>
          <a:prstGeom prst="rect">
            <a:avLst/>
          </a:prstGeom>
        </p:spPr>
      </p:pic>
      <p:pic>
        <p:nvPicPr>
          <p:cNvPr id="10" name="Imagen 9">
            <a:extLst>
              <a:ext uri="{FF2B5EF4-FFF2-40B4-BE49-F238E27FC236}">
                <a16:creationId xmlns:a16="http://schemas.microsoft.com/office/drawing/2014/main" id="{03B155C8-C882-71E5-8CC5-1B3DFC5C60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3575" y="6286021"/>
            <a:ext cx="8806438" cy="1657199"/>
          </a:xfrm>
          <a:prstGeom prst="rect">
            <a:avLst/>
          </a:prstGeom>
        </p:spPr>
      </p:pic>
    </p:spTree>
    <p:extLst>
      <p:ext uri="{BB962C8B-B14F-4D97-AF65-F5344CB8AC3E}">
        <p14:creationId xmlns:p14="http://schemas.microsoft.com/office/powerpoint/2010/main" val="31570371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a:extLst>
            <a:ext uri="{FF2B5EF4-FFF2-40B4-BE49-F238E27FC236}">
              <a16:creationId xmlns:a16="http://schemas.microsoft.com/office/drawing/2014/main" id="{55888E3B-A1E3-BF4C-6387-BE6B89110E0C}"/>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F2A691F1-4A5B-8D19-C65A-18F29AD7F9AD}"/>
              </a:ext>
            </a:extLst>
          </p:cNvPr>
          <p:cNvSpPr txBox="1"/>
          <p:nvPr/>
        </p:nvSpPr>
        <p:spPr>
          <a:xfrm>
            <a:off x="583904" y="525031"/>
            <a:ext cx="11838133" cy="1232197"/>
          </a:xfrm>
          <a:prstGeom prst="rect">
            <a:avLst/>
          </a:prstGeom>
        </p:spPr>
        <p:txBody>
          <a:bodyPr wrap="square" lIns="0" tIns="0" rIns="0" bIns="0" rtlCol="0" anchor="t">
            <a:spAutoFit/>
          </a:bodyPr>
          <a:lstStyle/>
          <a:p>
            <a:pPr>
              <a:lnSpc>
                <a:spcPts val="9630"/>
              </a:lnSpc>
            </a:pPr>
            <a:r>
              <a:rPr lang="es-AR" sz="9000" noProof="0" dirty="0">
                <a:solidFill>
                  <a:srgbClr val="291B25"/>
                </a:solidFill>
                <a:latin typeface="Agrandir"/>
                <a:sym typeface="Agrandir"/>
              </a:rPr>
              <a:t>Test de proporciones</a:t>
            </a:r>
            <a:endParaRPr lang="es-AR" noProof="0" dirty="0"/>
          </a:p>
        </p:txBody>
      </p:sp>
      <p:grpSp>
        <p:nvGrpSpPr>
          <p:cNvPr id="12" name="Group 12">
            <a:extLst>
              <a:ext uri="{FF2B5EF4-FFF2-40B4-BE49-F238E27FC236}">
                <a16:creationId xmlns:a16="http://schemas.microsoft.com/office/drawing/2014/main" id="{0A6D3CD4-2F99-FCB6-E23B-987A4B680E62}"/>
              </a:ext>
            </a:extLst>
          </p:cNvPr>
          <p:cNvGrpSpPr/>
          <p:nvPr/>
        </p:nvGrpSpPr>
        <p:grpSpPr>
          <a:xfrm rot="-5400000">
            <a:off x="15932021" y="8243693"/>
            <a:ext cx="831964" cy="2034756"/>
            <a:chOff x="0" y="-38100"/>
            <a:chExt cx="233609" cy="571343"/>
          </a:xfrm>
        </p:grpSpPr>
        <p:sp>
          <p:nvSpPr>
            <p:cNvPr id="13" name="Freeform 13">
              <a:extLst>
                <a:ext uri="{FF2B5EF4-FFF2-40B4-BE49-F238E27FC236}">
                  <a16:creationId xmlns:a16="http://schemas.microsoft.com/office/drawing/2014/main" id="{8D59F451-DC3B-5A1D-2897-3E17F6900D82}"/>
                </a:ext>
              </a:extLst>
            </p:cNvPr>
            <p:cNvSpPr/>
            <p:nvPr/>
          </p:nvSpPr>
          <p:spPr>
            <a:xfrm>
              <a:off x="0" y="0"/>
              <a:ext cx="233609" cy="533243"/>
            </a:xfrm>
            <a:custGeom>
              <a:avLst/>
              <a:gdLst/>
              <a:ahLst/>
              <a:cxnLst/>
              <a:rect l="l" t="t" r="r" b="b"/>
              <a:pathLst>
                <a:path w="233609" h="533243">
                  <a:moveTo>
                    <a:pt x="116804" y="0"/>
                  </a:moveTo>
                  <a:lnTo>
                    <a:pt x="116804" y="0"/>
                  </a:lnTo>
                  <a:cubicBezTo>
                    <a:pt x="181314" y="0"/>
                    <a:pt x="233609" y="52295"/>
                    <a:pt x="233609" y="116804"/>
                  </a:cubicBezTo>
                  <a:lnTo>
                    <a:pt x="233609" y="416438"/>
                  </a:lnTo>
                  <a:cubicBezTo>
                    <a:pt x="233609" y="480948"/>
                    <a:pt x="181314" y="533243"/>
                    <a:pt x="116804" y="533243"/>
                  </a:cubicBezTo>
                  <a:lnTo>
                    <a:pt x="116804" y="533243"/>
                  </a:lnTo>
                  <a:cubicBezTo>
                    <a:pt x="52295" y="533243"/>
                    <a:pt x="0" y="480948"/>
                    <a:pt x="0" y="416438"/>
                  </a:cubicBezTo>
                  <a:lnTo>
                    <a:pt x="0" y="116804"/>
                  </a:lnTo>
                  <a:cubicBezTo>
                    <a:pt x="0" y="52295"/>
                    <a:pt x="52295" y="0"/>
                    <a:pt x="116804" y="0"/>
                  </a:cubicBezTo>
                  <a:close/>
                </a:path>
              </a:pathLst>
            </a:custGeom>
            <a:solidFill>
              <a:srgbClr val="F7B9A1"/>
            </a:solidFill>
            <a:ln cap="rnd">
              <a:noFill/>
              <a:prstDash val="solid"/>
              <a:round/>
            </a:ln>
          </p:spPr>
          <p:txBody>
            <a:bodyPr/>
            <a:lstStyle/>
            <a:p>
              <a:endParaRPr lang="es-AR" noProof="0" dirty="0"/>
            </a:p>
          </p:txBody>
        </p:sp>
        <p:sp>
          <p:nvSpPr>
            <p:cNvPr id="14" name="TextBox 14">
              <a:extLst>
                <a:ext uri="{FF2B5EF4-FFF2-40B4-BE49-F238E27FC236}">
                  <a16:creationId xmlns:a16="http://schemas.microsoft.com/office/drawing/2014/main" id="{394063C7-70A0-A34F-FEDE-D81EA058B1A5}"/>
                </a:ext>
              </a:extLst>
            </p:cNvPr>
            <p:cNvSpPr txBox="1"/>
            <p:nvPr/>
          </p:nvSpPr>
          <p:spPr>
            <a:xfrm>
              <a:off x="0" y="-38100"/>
              <a:ext cx="233609" cy="571343"/>
            </a:xfrm>
            <a:prstGeom prst="rect">
              <a:avLst/>
            </a:prstGeom>
          </p:spPr>
          <p:txBody>
            <a:bodyPr lIns="50800" tIns="50800" rIns="50800" bIns="50800" rtlCol="0" anchor="ctr"/>
            <a:lstStyle/>
            <a:p>
              <a:pPr algn="ctr">
                <a:lnSpc>
                  <a:spcPts val="2659"/>
                </a:lnSpc>
              </a:pPr>
              <a:endParaRPr lang="es-AR" noProof="0" dirty="0"/>
            </a:p>
          </p:txBody>
        </p:sp>
      </p:grpSp>
      <p:sp>
        <p:nvSpPr>
          <p:cNvPr id="16" name="TextBox 16">
            <a:extLst>
              <a:ext uri="{FF2B5EF4-FFF2-40B4-BE49-F238E27FC236}">
                <a16:creationId xmlns:a16="http://schemas.microsoft.com/office/drawing/2014/main" id="{341A3E94-C901-AE8A-F362-B02B820E647E}"/>
              </a:ext>
            </a:extLst>
          </p:cNvPr>
          <p:cNvSpPr txBox="1"/>
          <p:nvPr/>
        </p:nvSpPr>
        <p:spPr>
          <a:xfrm>
            <a:off x="15742943" y="8966117"/>
            <a:ext cx="1345808" cy="589905"/>
          </a:xfrm>
          <a:prstGeom prst="rect">
            <a:avLst/>
          </a:prstGeom>
        </p:spPr>
        <p:txBody>
          <a:bodyPr lIns="0" tIns="0" rIns="0" bIns="0" rtlCol="0" anchor="t">
            <a:spAutoFit/>
          </a:bodyPr>
          <a:lstStyle/>
          <a:p>
            <a:pPr algn="ctr">
              <a:lnSpc>
                <a:spcPts val="4555"/>
              </a:lnSpc>
            </a:pPr>
            <a:r>
              <a:rPr lang="es-AR" sz="4250" noProof="0" dirty="0">
                <a:solidFill>
                  <a:srgbClr val="291B25"/>
                </a:solidFill>
                <a:latin typeface="Agrandir"/>
                <a:ea typeface="Agrandir"/>
                <a:cs typeface="Agrandir"/>
                <a:sym typeface="Agrandir"/>
              </a:rPr>
              <a:t>13</a:t>
            </a:r>
            <a:endParaRPr lang="es-AR" sz="4257" noProof="0" dirty="0">
              <a:solidFill>
                <a:srgbClr val="291B25"/>
              </a:solidFill>
              <a:latin typeface="Agrandir"/>
              <a:ea typeface="Agrandir"/>
              <a:cs typeface="Agrandir"/>
              <a:sym typeface="Agrandir"/>
            </a:endParaRPr>
          </a:p>
        </p:txBody>
      </p:sp>
      <p:sp>
        <p:nvSpPr>
          <p:cNvPr id="17" name="TextBox 17">
            <a:extLst>
              <a:ext uri="{FF2B5EF4-FFF2-40B4-BE49-F238E27FC236}">
                <a16:creationId xmlns:a16="http://schemas.microsoft.com/office/drawing/2014/main" id="{C1B74BC3-E71F-1983-A8D0-A469AF579F5F}"/>
              </a:ext>
            </a:extLst>
          </p:cNvPr>
          <p:cNvSpPr txBox="1"/>
          <p:nvPr/>
        </p:nvSpPr>
        <p:spPr>
          <a:xfrm>
            <a:off x="2947272" y="2072529"/>
            <a:ext cx="12383353" cy="2800767"/>
          </a:xfrm>
          <a:prstGeom prst="rect">
            <a:avLst/>
          </a:prstGeom>
        </p:spPr>
        <p:txBody>
          <a:bodyPr wrap="square" lIns="0" tIns="0" rIns="0" bIns="0" rtlCol="0" anchor="t">
            <a:spAutoFit/>
          </a:bodyPr>
          <a:lstStyle/>
          <a:p>
            <a:pPr algn="just"/>
            <a:r>
              <a:rPr lang="es-AR" sz="2600" noProof="0" dirty="0">
                <a:solidFill>
                  <a:srgbClr val="291B25"/>
                </a:solidFill>
                <a:latin typeface="Agrandir Narrow" panose="020B0604020202020204" charset="0"/>
                <a:ea typeface="+mn-lt"/>
                <a:cs typeface="+mn-lt"/>
                <a:sym typeface="Agrandir Narrow"/>
              </a:rPr>
              <a:t>Decidimos analizar si la proporción de mujeres que utilizan Ecobici varía entre el día y la noche. Para ello, realizamos un test de proporciones. </a:t>
            </a:r>
            <a:r>
              <a:rPr lang="es-AR" sz="2600" noProof="0" dirty="0">
                <a:solidFill>
                  <a:srgbClr val="291B25"/>
                </a:solidFill>
                <a:latin typeface="Agrandir Narrow" panose="020B0604020202020204" charset="0"/>
                <a:ea typeface="Calibri"/>
                <a:cs typeface="Calibri"/>
              </a:rPr>
              <a:t>Las hipótesis son las siguientes:</a:t>
            </a:r>
          </a:p>
          <a:p>
            <a:pPr algn="just"/>
            <a:endParaRPr lang="es-AR" sz="2600" noProof="0" dirty="0">
              <a:solidFill>
                <a:srgbClr val="000000"/>
              </a:solidFill>
              <a:latin typeface="Agrandir Narrow" panose="020B0604020202020204" charset="0"/>
              <a:ea typeface="Calibri"/>
              <a:cs typeface="Calibri"/>
            </a:endParaRPr>
          </a:p>
          <a:p>
            <a:pPr algn="just"/>
            <a:r>
              <a:rPr lang="es-AR" sz="2600" noProof="0" dirty="0">
                <a:solidFill>
                  <a:srgbClr val="291B25"/>
                </a:solidFill>
                <a:latin typeface="Agrandir Narrow" panose="020B0604020202020204" charset="0"/>
                <a:ea typeface="Calibri"/>
                <a:cs typeface="Calibri"/>
              </a:rPr>
              <a:t>H₀: </a:t>
            </a:r>
            <a:r>
              <a:rPr lang="es-AR" sz="2600" noProof="0" dirty="0" err="1">
                <a:solidFill>
                  <a:srgbClr val="291B25"/>
                </a:solidFill>
                <a:latin typeface="Agrandir Narrow" panose="020B0604020202020204" charset="0"/>
                <a:ea typeface="Calibri"/>
                <a:cs typeface="Calibri"/>
              </a:rPr>
              <a:t>prop_día</a:t>
            </a:r>
            <a:r>
              <a:rPr lang="es-AR" sz="2600" noProof="0" dirty="0">
                <a:solidFill>
                  <a:srgbClr val="291B25"/>
                </a:solidFill>
                <a:latin typeface="Agrandir Narrow" panose="020B0604020202020204" charset="0"/>
                <a:ea typeface="Calibri"/>
                <a:cs typeface="Calibri"/>
              </a:rPr>
              <a:t> = </a:t>
            </a:r>
            <a:r>
              <a:rPr lang="es-AR" sz="2600" noProof="0" dirty="0" err="1">
                <a:solidFill>
                  <a:srgbClr val="291B25"/>
                </a:solidFill>
                <a:latin typeface="Agrandir Narrow" panose="020B0604020202020204" charset="0"/>
                <a:ea typeface="Calibri"/>
                <a:cs typeface="Calibri"/>
              </a:rPr>
              <a:t>prop_noche</a:t>
            </a:r>
            <a:endParaRPr lang="es-AR" sz="2600" noProof="0" dirty="0">
              <a:solidFill>
                <a:srgbClr val="000000"/>
              </a:solidFill>
              <a:latin typeface="Agrandir Narrow" panose="020B0604020202020204" charset="0"/>
              <a:ea typeface="Calibri"/>
              <a:cs typeface="Calibri"/>
            </a:endParaRPr>
          </a:p>
          <a:p>
            <a:pPr algn="just"/>
            <a:r>
              <a:rPr lang="es-AR" sz="2600" noProof="0" dirty="0">
                <a:solidFill>
                  <a:srgbClr val="291B25"/>
                </a:solidFill>
                <a:latin typeface="Agrandir Narrow" panose="020B0604020202020204" charset="0"/>
                <a:ea typeface="Calibri"/>
                <a:cs typeface="Calibri"/>
              </a:rPr>
              <a:t>H₁: </a:t>
            </a:r>
            <a:r>
              <a:rPr lang="es-AR" sz="2600" noProof="0" dirty="0" err="1">
                <a:solidFill>
                  <a:srgbClr val="291B25"/>
                </a:solidFill>
                <a:latin typeface="Agrandir Narrow" panose="020B0604020202020204" charset="0"/>
                <a:ea typeface="Calibri"/>
                <a:cs typeface="Calibri"/>
              </a:rPr>
              <a:t>prop_día</a:t>
            </a:r>
            <a:r>
              <a:rPr lang="es-AR" sz="2600" noProof="0" dirty="0">
                <a:solidFill>
                  <a:srgbClr val="291B25"/>
                </a:solidFill>
                <a:latin typeface="Agrandir Narrow" panose="020B0604020202020204" charset="0"/>
                <a:ea typeface="Calibri"/>
                <a:cs typeface="Calibri"/>
              </a:rPr>
              <a:t> &gt; </a:t>
            </a:r>
            <a:r>
              <a:rPr lang="es-AR" sz="2600" noProof="0" dirty="0" err="1">
                <a:solidFill>
                  <a:srgbClr val="291B25"/>
                </a:solidFill>
                <a:latin typeface="Agrandir Narrow" panose="020B0604020202020204" charset="0"/>
                <a:ea typeface="Calibri"/>
                <a:cs typeface="Calibri"/>
              </a:rPr>
              <a:t>prop_noche</a:t>
            </a:r>
            <a:endParaRPr lang="es-AR" sz="2600" noProof="0" dirty="0">
              <a:solidFill>
                <a:srgbClr val="291B25"/>
              </a:solidFill>
              <a:latin typeface="Agrandir Narrow" panose="020B0604020202020204" charset="0"/>
              <a:ea typeface="Calibri"/>
              <a:cs typeface="Calibri"/>
            </a:endParaRPr>
          </a:p>
          <a:p>
            <a:pPr algn="just"/>
            <a:endParaRPr lang="es-AR" sz="2600" noProof="0" dirty="0">
              <a:solidFill>
                <a:srgbClr val="291B25"/>
              </a:solidFill>
              <a:latin typeface="Agrandir Narrow" panose="020B0604020202020204" charset="0"/>
              <a:ea typeface="Calibri"/>
              <a:cs typeface="Calibri"/>
            </a:endParaRPr>
          </a:p>
          <a:p>
            <a:pPr algn="just"/>
            <a:r>
              <a:rPr lang="es-AR" sz="2600" noProof="0" dirty="0">
                <a:solidFill>
                  <a:srgbClr val="291B25"/>
                </a:solidFill>
                <a:latin typeface="Agrandir Narrow" panose="020B0604020202020204" charset="0"/>
                <a:ea typeface="Calibri"/>
                <a:cs typeface="Calibri"/>
              </a:rPr>
              <a:t>Si se rechazase H₀, nos indicaría que la variación en el uso es significativa.</a:t>
            </a:r>
          </a:p>
        </p:txBody>
      </p:sp>
      <p:sp>
        <p:nvSpPr>
          <p:cNvPr id="3" name="TextBox 17">
            <a:extLst>
              <a:ext uri="{FF2B5EF4-FFF2-40B4-BE49-F238E27FC236}">
                <a16:creationId xmlns:a16="http://schemas.microsoft.com/office/drawing/2014/main" id="{74264476-E1A5-08B6-FFA6-058AB129D132}"/>
              </a:ext>
            </a:extLst>
          </p:cNvPr>
          <p:cNvSpPr txBox="1"/>
          <p:nvPr/>
        </p:nvSpPr>
        <p:spPr>
          <a:xfrm>
            <a:off x="2952323" y="7252366"/>
            <a:ext cx="12383353" cy="1997791"/>
          </a:xfrm>
          <a:prstGeom prst="rect">
            <a:avLst/>
          </a:prstGeom>
        </p:spPr>
        <p:txBody>
          <a:bodyPr wrap="square" lIns="0" tIns="0" rIns="0" bIns="0" rtlCol="0" anchor="t">
            <a:spAutoFit/>
          </a:bodyPr>
          <a:lstStyle/>
          <a:p>
            <a:pPr algn="just"/>
            <a:r>
              <a:rPr lang="es-AR" sz="2600" noProof="0" dirty="0">
                <a:solidFill>
                  <a:srgbClr val="291B25"/>
                </a:solidFill>
                <a:latin typeface="Agrandir Narrow" panose="020B0604020202020204" charset="0"/>
                <a:ea typeface="+mn-lt"/>
                <a:cs typeface="+mn-lt"/>
                <a:sym typeface="Agrandir Narrow"/>
              </a:rPr>
              <a:t>Resultado:</a:t>
            </a:r>
            <a:endParaRPr lang="es-AR" sz="2600" noProof="0" dirty="0">
              <a:latin typeface="Agrandir Narrow" panose="020B0604020202020204" charset="0"/>
            </a:endParaRPr>
          </a:p>
          <a:p>
            <a:pPr algn="just"/>
            <a:r>
              <a:rPr lang="es-AR" sz="2600" noProof="0" dirty="0">
                <a:solidFill>
                  <a:srgbClr val="291B25"/>
                </a:solidFill>
                <a:latin typeface="Agrandir Narrow" panose="020B0604020202020204" charset="0"/>
                <a:ea typeface="+mn-lt"/>
                <a:cs typeface="+mn-lt"/>
                <a:sym typeface="Agrandir Narrow"/>
              </a:rPr>
              <a:t>• p-valor &lt; 0.001 → Rechazamos H₀</a:t>
            </a:r>
            <a:endParaRPr lang="es-AR" sz="2600" noProof="0" dirty="0">
              <a:latin typeface="Agrandir Narrow" panose="020B0604020202020204" charset="0"/>
            </a:endParaRPr>
          </a:p>
          <a:p>
            <a:pPr algn="just"/>
            <a:r>
              <a:rPr lang="es-AR" sz="2600" noProof="0" dirty="0">
                <a:solidFill>
                  <a:srgbClr val="291B25"/>
                </a:solidFill>
                <a:latin typeface="Agrandir Narrow" panose="020B0604020202020204" charset="0"/>
                <a:ea typeface="+mn-lt"/>
                <a:cs typeface="+mn-lt"/>
                <a:sym typeface="Agrandir Narrow"/>
              </a:rPr>
              <a:t>• Conclusión: La proporción de mujeres que utilizan la Ecobici es significativamente </a:t>
            </a:r>
            <a:endParaRPr lang="es-AR" sz="2600" noProof="0" dirty="0">
              <a:latin typeface="Agrandir Narrow" panose="020B0604020202020204" charset="0"/>
            </a:endParaRPr>
          </a:p>
          <a:p>
            <a:pPr algn="just"/>
            <a:r>
              <a:rPr lang="es-AR" sz="2600" noProof="0" dirty="0">
                <a:solidFill>
                  <a:srgbClr val="291B25"/>
                </a:solidFill>
                <a:latin typeface="Agrandir Narrow" panose="020B0604020202020204" charset="0"/>
                <a:ea typeface="+mn-lt"/>
                <a:cs typeface="+mn-lt"/>
                <a:sym typeface="Agrandir Narrow"/>
              </a:rPr>
              <a:t>  mayor durante el día respecto a la noche.</a:t>
            </a:r>
            <a:endParaRPr lang="es-AR" sz="2600" noProof="0" dirty="0">
              <a:latin typeface="Agrandir Narrow" panose="020B0604020202020204" charset="0"/>
              <a:sym typeface="Agrandir Narrow"/>
            </a:endParaRPr>
          </a:p>
          <a:p>
            <a:pPr algn="just">
              <a:lnSpc>
                <a:spcPts val="3219"/>
              </a:lnSpc>
              <a:spcBef>
                <a:spcPct val="0"/>
              </a:spcBef>
            </a:pPr>
            <a:endParaRPr lang="es-AR" sz="2600" noProof="0" dirty="0">
              <a:solidFill>
                <a:srgbClr val="291B25"/>
              </a:solidFill>
              <a:latin typeface="Agrandir Narrow" panose="020B0604020202020204" charset="0"/>
              <a:ea typeface="Calibri"/>
              <a:cs typeface="Calibri"/>
            </a:endParaRPr>
          </a:p>
        </p:txBody>
      </p:sp>
      <p:pic>
        <p:nvPicPr>
          <p:cNvPr id="6" name="Imagen 5">
            <a:extLst>
              <a:ext uri="{FF2B5EF4-FFF2-40B4-BE49-F238E27FC236}">
                <a16:creationId xmlns:a16="http://schemas.microsoft.com/office/drawing/2014/main" id="{DE0DD7FD-7300-443D-EF10-6A761361BF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68233" y="5359236"/>
            <a:ext cx="9141430" cy="1804230"/>
          </a:xfrm>
          <a:prstGeom prst="rect">
            <a:avLst/>
          </a:prstGeom>
        </p:spPr>
      </p:pic>
    </p:spTree>
    <p:extLst>
      <p:ext uri="{BB962C8B-B14F-4D97-AF65-F5344CB8AC3E}">
        <p14:creationId xmlns:p14="http://schemas.microsoft.com/office/powerpoint/2010/main" val="9073970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a:extLst>
            <a:ext uri="{FF2B5EF4-FFF2-40B4-BE49-F238E27FC236}">
              <a16:creationId xmlns:a16="http://schemas.microsoft.com/office/drawing/2014/main" id="{D9BF9948-08C7-3D73-B99F-221F809EFD0C}"/>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BAFF90EA-50AA-7104-BDA9-42FDBD0FE17E}"/>
              </a:ext>
            </a:extLst>
          </p:cNvPr>
          <p:cNvSpPr txBox="1"/>
          <p:nvPr/>
        </p:nvSpPr>
        <p:spPr>
          <a:xfrm>
            <a:off x="583904" y="525031"/>
            <a:ext cx="11838133" cy="1232197"/>
          </a:xfrm>
          <a:prstGeom prst="rect">
            <a:avLst/>
          </a:prstGeom>
        </p:spPr>
        <p:txBody>
          <a:bodyPr wrap="square" lIns="0" tIns="0" rIns="0" bIns="0" rtlCol="0" anchor="t">
            <a:spAutoFit/>
          </a:bodyPr>
          <a:lstStyle/>
          <a:p>
            <a:pPr>
              <a:lnSpc>
                <a:spcPts val="9630"/>
              </a:lnSpc>
            </a:pPr>
            <a:r>
              <a:rPr lang="es-AR" sz="9000" noProof="0" dirty="0">
                <a:solidFill>
                  <a:srgbClr val="291B25"/>
                </a:solidFill>
                <a:latin typeface="Agrandir"/>
                <a:sym typeface="Agrandir"/>
              </a:rPr>
              <a:t>Test de chi-cuadrado</a:t>
            </a:r>
            <a:endParaRPr lang="es-AR" noProof="0" dirty="0"/>
          </a:p>
        </p:txBody>
      </p:sp>
      <p:grpSp>
        <p:nvGrpSpPr>
          <p:cNvPr id="12" name="Group 12">
            <a:extLst>
              <a:ext uri="{FF2B5EF4-FFF2-40B4-BE49-F238E27FC236}">
                <a16:creationId xmlns:a16="http://schemas.microsoft.com/office/drawing/2014/main" id="{DF81CCDD-1B6A-D700-8178-2A5E72DCEEC8}"/>
              </a:ext>
            </a:extLst>
          </p:cNvPr>
          <p:cNvGrpSpPr/>
          <p:nvPr/>
        </p:nvGrpSpPr>
        <p:grpSpPr>
          <a:xfrm rot="-5400000">
            <a:off x="15932021" y="8243693"/>
            <a:ext cx="831964" cy="2034756"/>
            <a:chOff x="0" y="-38100"/>
            <a:chExt cx="233609" cy="571343"/>
          </a:xfrm>
        </p:grpSpPr>
        <p:sp>
          <p:nvSpPr>
            <p:cNvPr id="13" name="Freeform 13">
              <a:extLst>
                <a:ext uri="{FF2B5EF4-FFF2-40B4-BE49-F238E27FC236}">
                  <a16:creationId xmlns:a16="http://schemas.microsoft.com/office/drawing/2014/main" id="{F36493A7-3317-2068-62F9-FFB78EB16A14}"/>
                </a:ext>
              </a:extLst>
            </p:cNvPr>
            <p:cNvSpPr/>
            <p:nvPr/>
          </p:nvSpPr>
          <p:spPr>
            <a:xfrm>
              <a:off x="0" y="0"/>
              <a:ext cx="233609" cy="533243"/>
            </a:xfrm>
            <a:custGeom>
              <a:avLst/>
              <a:gdLst/>
              <a:ahLst/>
              <a:cxnLst/>
              <a:rect l="l" t="t" r="r" b="b"/>
              <a:pathLst>
                <a:path w="233609" h="533243">
                  <a:moveTo>
                    <a:pt x="116804" y="0"/>
                  </a:moveTo>
                  <a:lnTo>
                    <a:pt x="116804" y="0"/>
                  </a:lnTo>
                  <a:cubicBezTo>
                    <a:pt x="181314" y="0"/>
                    <a:pt x="233609" y="52295"/>
                    <a:pt x="233609" y="116804"/>
                  </a:cubicBezTo>
                  <a:lnTo>
                    <a:pt x="233609" y="416438"/>
                  </a:lnTo>
                  <a:cubicBezTo>
                    <a:pt x="233609" y="480948"/>
                    <a:pt x="181314" y="533243"/>
                    <a:pt x="116804" y="533243"/>
                  </a:cubicBezTo>
                  <a:lnTo>
                    <a:pt x="116804" y="533243"/>
                  </a:lnTo>
                  <a:cubicBezTo>
                    <a:pt x="52295" y="533243"/>
                    <a:pt x="0" y="480948"/>
                    <a:pt x="0" y="416438"/>
                  </a:cubicBezTo>
                  <a:lnTo>
                    <a:pt x="0" y="116804"/>
                  </a:lnTo>
                  <a:cubicBezTo>
                    <a:pt x="0" y="52295"/>
                    <a:pt x="52295" y="0"/>
                    <a:pt x="116804" y="0"/>
                  </a:cubicBezTo>
                  <a:close/>
                </a:path>
              </a:pathLst>
            </a:custGeom>
            <a:solidFill>
              <a:srgbClr val="F7B9A1"/>
            </a:solidFill>
            <a:ln cap="rnd">
              <a:noFill/>
              <a:prstDash val="solid"/>
              <a:round/>
            </a:ln>
          </p:spPr>
          <p:txBody>
            <a:bodyPr/>
            <a:lstStyle/>
            <a:p>
              <a:endParaRPr lang="es-AR" noProof="0" dirty="0"/>
            </a:p>
          </p:txBody>
        </p:sp>
        <p:sp>
          <p:nvSpPr>
            <p:cNvPr id="14" name="TextBox 14">
              <a:extLst>
                <a:ext uri="{FF2B5EF4-FFF2-40B4-BE49-F238E27FC236}">
                  <a16:creationId xmlns:a16="http://schemas.microsoft.com/office/drawing/2014/main" id="{1876C093-EB86-5DB9-B374-3F678CDF6D67}"/>
                </a:ext>
              </a:extLst>
            </p:cNvPr>
            <p:cNvSpPr txBox="1"/>
            <p:nvPr/>
          </p:nvSpPr>
          <p:spPr>
            <a:xfrm>
              <a:off x="0" y="-38100"/>
              <a:ext cx="233609" cy="571343"/>
            </a:xfrm>
            <a:prstGeom prst="rect">
              <a:avLst/>
            </a:prstGeom>
          </p:spPr>
          <p:txBody>
            <a:bodyPr lIns="50800" tIns="50800" rIns="50800" bIns="50800" rtlCol="0" anchor="ctr"/>
            <a:lstStyle/>
            <a:p>
              <a:pPr algn="ctr">
                <a:lnSpc>
                  <a:spcPts val="2659"/>
                </a:lnSpc>
              </a:pPr>
              <a:endParaRPr lang="es-AR" noProof="0" dirty="0"/>
            </a:p>
          </p:txBody>
        </p:sp>
      </p:grpSp>
      <p:sp>
        <p:nvSpPr>
          <p:cNvPr id="16" name="TextBox 16">
            <a:extLst>
              <a:ext uri="{FF2B5EF4-FFF2-40B4-BE49-F238E27FC236}">
                <a16:creationId xmlns:a16="http://schemas.microsoft.com/office/drawing/2014/main" id="{9D897FE0-CD36-441E-1186-7BE4C16E18EC}"/>
              </a:ext>
            </a:extLst>
          </p:cNvPr>
          <p:cNvSpPr txBox="1"/>
          <p:nvPr/>
        </p:nvSpPr>
        <p:spPr>
          <a:xfrm>
            <a:off x="15742943" y="8966117"/>
            <a:ext cx="1345808" cy="589905"/>
          </a:xfrm>
          <a:prstGeom prst="rect">
            <a:avLst/>
          </a:prstGeom>
        </p:spPr>
        <p:txBody>
          <a:bodyPr lIns="0" tIns="0" rIns="0" bIns="0" rtlCol="0" anchor="t">
            <a:spAutoFit/>
          </a:bodyPr>
          <a:lstStyle/>
          <a:p>
            <a:pPr algn="ctr">
              <a:lnSpc>
                <a:spcPts val="4555"/>
              </a:lnSpc>
            </a:pPr>
            <a:r>
              <a:rPr lang="es-AR" sz="4250" noProof="0" dirty="0">
                <a:solidFill>
                  <a:srgbClr val="291B25"/>
                </a:solidFill>
                <a:latin typeface="Agrandir"/>
                <a:ea typeface="Agrandir"/>
                <a:cs typeface="Agrandir"/>
                <a:sym typeface="Agrandir"/>
              </a:rPr>
              <a:t>14</a:t>
            </a:r>
            <a:endParaRPr lang="es-AR" sz="4257" noProof="0" dirty="0">
              <a:solidFill>
                <a:srgbClr val="291B25"/>
              </a:solidFill>
              <a:latin typeface="Agrandir"/>
              <a:ea typeface="Agrandir"/>
              <a:cs typeface="Agrandir"/>
            </a:endParaRPr>
          </a:p>
        </p:txBody>
      </p:sp>
      <p:sp>
        <p:nvSpPr>
          <p:cNvPr id="17" name="TextBox 17">
            <a:extLst>
              <a:ext uri="{FF2B5EF4-FFF2-40B4-BE49-F238E27FC236}">
                <a16:creationId xmlns:a16="http://schemas.microsoft.com/office/drawing/2014/main" id="{F7F7F558-8C36-E130-18DD-C2C6B9F960F2}"/>
              </a:ext>
            </a:extLst>
          </p:cNvPr>
          <p:cNvSpPr txBox="1"/>
          <p:nvPr/>
        </p:nvSpPr>
        <p:spPr>
          <a:xfrm>
            <a:off x="2963106" y="2082248"/>
            <a:ext cx="12361787" cy="4452501"/>
          </a:xfrm>
          <a:prstGeom prst="rect">
            <a:avLst/>
          </a:prstGeom>
        </p:spPr>
        <p:txBody>
          <a:bodyPr wrap="square" lIns="0" tIns="0" rIns="0" bIns="0" rtlCol="0" anchor="t">
            <a:spAutoFit/>
          </a:bodyPr>
          <a:lstStyle/>
          <a:p>
            <a:pPr algn="just">
              <a:lnSpc>
                <a:spcPts val="3219"/>
              </a:lnSpc>
              <a:spcBef>
                <a:spcPct val="0"/>
              </a:spcBef>
            </a:pPr>
            <a:r>
              <a:rPr lang="es-AR" sz="2600" noProof="0" dirty="0">
                <a:solidFill>
                  <a:srgbClr val="291B25"/>
                </a:solidFill>
                <a:latin typeface="Agrandir Narrow" panose="020B0604020202020204" charset="0"/>
                <a:sym typeface="Agrandir Narrow"/>
              </a:rPr>
              <a:t>Profundizamos el análisis evaluando si la proporción de viajes de mujeres varía por comuna. Para ello, realizamos un test chi-cuadrado.</a:t>
            </a:r>
          </a:p>
          <a:p>
            <a:pPr algn="just">
              <a:lnSpc>
                <a:spcPts val="3219"/>
              </a:lnSpc>
              <a:spcBef>
                <a:spcPct val="0"/>
              </a:spcBef>
            </a:pPr>
            <a:r>
              <a:rPr lang="es-AR" sz="2600" noProof="0" dirty="0">
                <a:solidFill>
                  <a:srgbClr val="291B25"/>
                </a:solidFill>
                <a:latin typeface="Agrandir Narrow" panose="020B0604020202020204" charset="0"/>
                <a:ea typeface="Calibri"/>
                <a:cs typeface="Calibri"/>
              </a:rPr>
              <a:t>La base de comunas la descargamos del portal de datos abiertos del GCBA y la unimos con otra base con los datos geográficos de las estaciones mediante un </a:t>
            </a:r>
            <a:r>
              <a:rPr lang="es-AR" sz="2600" noProof="0" dirty="0" err="1">
                <a:solidFill>
                  <a:srgbClr val="291B25"/>
                </a:solidFill>
                <a:latin typeface="Agrandir Narrow" panose="020B0604020202020204" charset="0"/>
                <a:ea typeface="Calibri"/>
                <a:cs typeface="Calibri"/>
              </a:rPr>
              <a:t>join</a:t>
            </a:r>
            <a:r>
              <a:rPr lang="es-AR" sz="2600" noProof="0" dirty="0">
                <a:solidFill>
                  <a:srgbClr val="291B25"/>
                </a:solidFill>
                <a:latin typeface="Agrandir Narrow" panose="020B0604020202020204" charset="0"/>
                <a:ea typeface="Calibri"/>
                <a:cs typeface="Calibri"/>
              </a:rPr>
              <a:t> espacial. Decidimos tomar la estación de origen para clasificar la comuna del viaje.</a:t>
            </a:r>
          </a:p>
          <a:p>
            <a:pPr algn="just"/>
            <a:endParaRPr lang="es-AR" sz="2600" noProof="0" dirty="0">
              <a:solidFill>
                <a:srgbClr val="000000"/>
              </a:solidFill>
              <a:latin typeface="Agrandir Narrow" panose="020B0604020202020204" charset="0"/>
              <a:ea typeface="+mn-lt"/>
              <a:cs typeface="+mn-lt"/>
            </a:endParaRPr>
          </a:p>
          <a:p>
            <a:pPr algn="just"/>
            <a:r>
              <a:rPr lang="es-AR" sz="2600" noProof="0" dirty="0">
                <a:solidFill>
                  <a:srgbClr val="291B25"/>
                </a:solidFill>
                <a:latin typeface="Agrandir Narrow" panose="020B0604020202020204" charset="0"/>
                <a:ea typeface="+mn-lt"/>
                <a:cs typeface="+mn-lt"/>
              </a:rPr>
              <a:t>H₀: El género del usuario es independiente de la comuna de la que parte.</a:t>
            </a:r>
            <a:endParaRPr lang="es-AR" sz="2600" noProof="0" dirty="0">
              <a:latin typeface="Agrandir Narrow" panose="020B0604020202020204" charset="0"/>
            </a:endParaRPr>
          </a:p>
          <a:p>
            <a:pPr algn="just"/>
            <a:r>
              <a:rPr lang="es-AR" sz="2600" noProof="0" dirty="0">
                <a:solidFill>
                  <a:srgbClr val="291B25"/>
                </a:solidFill>
                <a:latin typeface="Agrandir Narrow" panose="020B0604020202020204" charset="0"/>
                <a:ea typeface="+mn-lt"/>
                <a:cs typeface="+mn-lt"/>
              </a:rPr>
              <a:t>H₁: </a:t>
            </a:r>
            <a:r>
              <a:rPr lang="es-AR" sz="2600" dirty="0">
                <a:solidFill>
                  <a:srgbClr val="291B25"/>
                </a:solidFill>
                <a:latin typeface="Agrandir Narrow" panose="020B0604020202020204" charset="0"/>
                <a:ea typeface="+mn-lt"/>
                <a:cs typeface="+mn-lt"/>
              </a:rPr>
              <a:t>El género del usuario no es independiente de la comuna de la que parte.</a:t>
            </a:r>
          </a:p>
          <a:p>
            <a:pPr algn="just"/>
            <a:endParaRPr lang="es-AR" sz="2600" noProof="0" dirty="0">
              <a:latin typeface="Agrandir Narrow" panose="020B0604020202020204" charset="0"/>
            </a:endParaRPr>
          </a:p>
          <a:p>
            <a:pPr algn="just"/>
            <a:r>
              <a:rPr lang="es-AR" sz="2600" noProof="0" dirty="0">
                <a:solidFill>
                  <a:srgbClr val="291B25"/>
                </a:solidFill>
                <a:latin typeface="Agrandir Narrow" panose="020B0604020202020204" charset="0"/>
                <a:ea typeface="+mn-lt"/>
                <a:cs typeface="+mn-lt"/>
              </a:rPr>
              <a:t>En caso de rechazar H₀, confirmaríamos que al menos en una comuna la proporción difiere.</a:t>
            </a:r>
            <a:endParaRPr lang="es-AR" sz="2600" noProof="0" dirty="0">
              <a:latin typeface="Agrandir Narrow" panose="020B0604020202020204" charset="0"/>
            </a:endParaRPr>
          </a:p>
        </p:txBody>
      </p:sp>
    </p:spTree>
    <p:extLst>
      <p:ext uri="{BB962C8B-B14F-4D97-AF65-F5344CB8AC3E}">
        <p14:creationId xmlns:p14="http://schemas.microsoft.com/office/powerpoint/2010/main" val="17688234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a:extLst>
            <a:ext uri="{FF2B5EF4-FFF2-40B4-BE49-F238E27FC236}">
              <a16:creationId xmlns:a16="http://schemas.microsoft.com/office/drawing/2014/main" id="{D78880A4-4BE3-9D22-7C44-B4B0256E1BDD}"/>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A5637E20-BD3E-9E57-B8B0-20385465B1DF}"/>
              </a:ext>
            </a:extLst>
          </p:cNvPr>
          <p:cNvSpPr txBox="1"/>
          <p:nvPr/>
        </p:nvSpPr>
        <p:spPr>
          <a:xfrm>
            <a:off x="583904" y="525031"/>
            <a:ext cx="11838133" cy="1232197"/>
          </a:xfrm>
          <a:prstGeom prst="rect">
            <a:avLst/>
          </a:prstGeom>
        </p:spPr>
        <p:txBody>
          <a:bodyPr wrap="square" lIns="0" tIns="0" rIns="0" bIns="0" rtlCol="0" anchor="t">
            <a:spAutoFit/>
          </a:bodyPr>
          <a:lstStyle/>
          <a:p>
            <a:pPr>
              <a:lnSpc>
                <a:spcPts val="9630"/>
              </a:lnSpc>
            </a:pPr>
            <a:r>
              <a:rPr lang="es-AR" sz="9000" noProof="0" dirty="0">
                <a:solidFill>
                  <a:srgbClr val="291B25"/>
                </a:solidFill>
                <a:latin typeface="Agrandir"/>
                <a:sym typeface="Agrandir"/>
              </a:rPr>
              <a:t>Test de chi-cuadrado</a:t>
            </a:r>
            <a:endParaRPr lang="es-AR" noProof="0" dirty="0"/>
          </a:p>
        </p:txBody>
      </p:sp>
      <p:grpSp>
        <p:nvGrpSpPr>
          <p:cNvPr id="12" name="Group 12">
            <a:extLst>
              <a:ext uri="{FF2B5EF4-FFF2-40B4-BE49-F238E27FC236}">
                <a16:creationId xmlns:a16="http://schemas.microsoft.com/office/drawing/2014/main" id="{843A21A0-AC13-CA6F-FF59-42A78C536D5F}"/>
              </a:ext>
            </a:extLst>
          </p:cNvPr>
          <p:cNvGrpSpPr/>
          <p:nvPr/>
        </p:nvGrpSpPr>
        <p:grpSpPr>
          <a:xfrm rot="-5400000">
            <a:off x="15932021" y="8243693"/>
            <a:ext cx="831964" cy="2034756"/>
            <a:chOff x="0" y="-38100"/>
            <a:chExt cx="233609" cy="571343"/>
          </a:xfrm>
        </p:grpSpPr>
        <p:sp>
          <p:nvSpPr>
            <p:cNvPr id="13" name="Freeform 13">
              <a:extLst>
                <a:ext uri="{FF2B5EF4-FFF2-40B4-BE49-F238E27FC236}">
                  <a16:creationId xmlns:a16="http://schemas.microsoft.com/office/drawing/2014/main" id="{949C6068-5FE6-B4FC-3BC5-3CC2A6AE7290}"/>
                </a:ext>
              </a:extLst>
            </p:cNvPr>
            <p:cNvSpPr/>
            <p:nvPr/>
          </p:nvSpPr>
          <p:spPr>
            <a:xfrm>
              <a:off x="0" y="0"/>
              <a:ext cx="233609" cy="533243"/>
            </a:xfrm>
            <a:custGeom>
              <a:avLst/>
              <a:gdLst/>
              <a:ahLst/>
              <a:cxnLst/>
              <a:rect l="l" t="t" r="r" b="b"/>
              <a:pathLst>
                <a:path w="233609" h="533243">
                  <a:moveTo>
                    <a:pt x="116804" y="0"/>
                  </a:moveTo>
                  <a:lnTo>
                    <a:pt x="116804" y="0"/>
                  </a:lnTo>
                  <a:cubicBezTo>
                    <a:pt x="181314" y="0"/>
                    <a:pt x="233609" y="52295"/>
                    <a:pt x="233609" y="116804"/>
                  </a:cubicBezTo>
                  <a:lnTo>
                    <a:pt x="233609" y="416438"/>
                  </a:lnTo>
                  <a:cubicBezTo>
                    <a:pt x="233609" y="480948"/>
                    <a:pt x="181314" y="533243"/>
                    <a:pt x="116804" y="533243"/>
                  </a:cubicBezTo>
                  <a:lnTo>
                    <a:pt x="116804" y="533243"/>
                  </a:lnTo>
                  <a:cubicBezTo>
                    <a:pt x="52295" y="533243"/>
                    <a:pt x="0" y="480948"/>
                    <a:pt x="0" y="416438"/>
                  </a:cubicBezTo>
                  <a:lnTo>
                    <a:pt x="0" y="116804"/>
                  </a:lnTo>
                  <a:cubicBezTo>
                    <a:pt x="0" y="52295"/>
                    <a:pt x="52295" y="0"/>
                    <a:pt x="116804" y="0"/>
                  </a:cubicBezTo>
                  <a:close/>
                </a:path>
              </a:pathLst>
            </a:custGeom>
            <a:solidFill>
              <a:srgbClr val="F7B9A1"/>
            </a:solidFill>
            <a:ln cap="rnd">
              <a:noFill/>
              <a:prstDash val="solid"/>
              <a:round/>
            </a:ln>
          </p:spPr>
          <p:txBody>
            <a:bodyPr/>
            <a:lstStyle/>
            <a:p>
              <a:endParaRPr lang="es-AR" noProof="0" dirty="0"/>
            </a:p>
          </p:txBody>
        </p:sp>
        <p:sp>
          <p:nvSpPr>
            <p:cNvPr id="14" name="TextBox 14">
              <a:extLst>
                <a:ext uri="{FF2B5EF4-FFF2-40B4-BE49-F238E27FC236}">
                  <a16:creationId xmlns:a16="http://schemas.microsoft.com/office/drawing/2014/main" id="{C957D1A8-770A-67CF-DD49-0C7B9BD49901}"/>
                </a:ext>
              </a:extLst>
            </p:cNvPr>
            <p:cNvSpPr txBox="1"/>
            <p:nvPr/>
          </p:nvSpPr>
          <p:spPr>
            <a:xfrm>
              <a:off x="0" y="-38100"/>
              <a:ext cx="233609" cy="571343"/>
            </a:xfrm>
            <a:prstGeom prst="rect">
              <a:avLst/>
            </a:prstGeom>
          </p:spPr>
          <p:txBody>
            <a:bodyPr lIns="50800" tIns="50800" rIns="50800" bIns="50800" rtlCol="0" anchor="ctr"/>
            <a:lstStyle/>
            <a:p>
              <a:pPr algn="ctr">
                <a:lnSpc>
                  <a:spcPts val="2659"/>
                </a:lnSpc>
              </a:pPr>
              <a:endParaRPr lang="es-AR" noProof="0" dirty="0"/>
            </a:p>
          </p:txBody>
        </p:sp>
      </p:grpSp>
      <p:sp>
        <p:nvSpPr>
          <p:cNvPr id="16" name="TextBox 16">
            <a:extLst>
              <a:ext uri="{FF2B5EF4-FFF2-40B4-BE49-F238E27FC236}">
                <a16:creationId xmlns:a16="http://schemas.microsoft.com/office/drawing/2014/main" id="{3DA550AF-7747-B997-C206-CA4BE1BDDE3D}"/>
              </a:ext>
            </a:extLst>
          </p:cNvPr>
          <p:cNvSpPr txBox="1"/>
          <p:nvPr/>
        </p:nvSpPr>
        <p:spPr>
          <a:xfrm>
            <a:off x="15742943" y="8968243"/>
            <a:ext cx="1345808" cy="589905"/>
          </a:xfrm>
          <a:prstGeom prst="rect">
            <a:avLst/>
          </a:prstGeom>
        </p:spPr>
        <p:txBody>
          <a:bodyPr lIns="0" tIns="0" rIns="0" bIns="0" rtlCol="0" anchor="t">
            <a:spAutoFit/>
          </a:bodyPr>
          <a:lstStyle/>
          <a:p>
            <a:pPr algn="ctr">
              <a:lnSpc>
                <a:spcPts val="4555"/>
              </a:lnSpc>
            </a:pPr>
            <a:r>
              <a:rPr lang="es-AR" sz="4250" noProof="0" dirty="0">
                <a:solidFill>
                  <a:srgbClr val="291B25"/>
                </a:solidFill>
                <a:latin typeface="Agrandir"/>
                <a:ea typeface="Agrandir"/>
                <a:cs typeface="Agrandir"/>
                <a:sym typeface="Agrandir"/>
              </a:rPr>
              <a:t>15</a:t>
            </a:r>
            <a:endParaRPr lang="es-AR" sz="4257" noProof="0" dirty="0">
              <a:solidFill>
                <a:srgbClr val="291B25"/>
              </a:solidFill>
              <a:latin typeface="Agrandir"/>
              <a:ea typeface="Agrandir"/>
              <a:cs typeface="Agrandir"/>
              <a:sym typeface="Agrandir"/>
            </a:endParaRPr>
          </a:p>
        </p:txBody>
      </p:sp>
      <p:sp>
        <p:nvSpPr>
          <p:cNvPr id="17" name="TextBox 17">
            <a:extLst>
              <a:ext uri="{FF2B5EF4-FFF2-40B4-BE49-F238E27FC236}">
                <a16:creationId xmlns:a16="http://schemas.microsoft.com/office/drawing/2014/main" id="{B6E0D56F-1167-46AA-7E06-11A5CC7E8748}"/>
              </a:ext>
            </a:extLst>
          </p:cNvPr>
          <p:cNvSpPr txBox="1"/>
          <p:nvPr/>
        </p:nvSpPr>
        <p:spPr>
          <a:xfrm>
            <a:off x="2855207" y="5051891"/>
            <a:ext cx="12361787" cy="1597681"/>
          </a:xfrm>
          <a:prstGeom prst="rect">
            <a:avLst/>
          </a:prstGeom>
        </p:spPr>
        <p:txBody>
          <a:bodyPr wrap="square" lIns="0" tIns="0" rIns="0" bIns="0" rtlCol="0" anchor="t">
            <a:spAutoFit/>
          </a:bodyPr>
          <a:lstStyle/>
          <a:p>
            <a:pPr algn="just"/>
            <a:r>
              <a:rPr lang="es-AR" sz="2600" noProof="0" dirty="0">
                <a:solidFill>
                  <a:srgbClr val="291B25"/>
                </a:solidFill>
                <a:latin typeface="Agrandir Narrow" panose="020B0604020202020204" charset="0"/>
                <a:ea typeface="+mn-lt"/>
                <a:cs typeface="+mn-lt"/>
              </a:rPr>
              <a:t>Resultado:</a:t>
            </a:r>
            <a:endParaRPr lang="es-AR" sz="2600" noProof="0" dirty="0">
              <a:latin typeface="Agrandir Narrow" panose="020B0604020202020204" charset="0"/>
            </a:endParaRPr>
          </a:p>
          <a:p>
            <a:pPr algn="just"/>
            <a:r>
              <a:rPr lang="es-AR" sz="2600" noProof="0" dirty="0">
                <a:solidFill>
                  <a:srgbClr val="291B25"/>
                </a:solidFill>
                <a:latin typeface="Agrandir Narrow" panose="020B0604020202020204" charset="0"/>
                <a:ea typeface="+mn-lt"/>
                <a:cs typeface="+mn-lt"/>
              </a:rPr>
              <a:t>• p-valor &lt; 0.001 </a:t>
            </a:r>
            <a:r>
              <a:rPr lang="es-AR" sz="2600" dirty="0">
                <a:solidFill>
                  <a:srgbClr val="291B25"/>
                </a:solidFill>
                <a:latin typeface="Agrandir Narrow" panose="020B0604020202020204" charset="0"/>
                <a:ea typeface="+mn-lt"/>
                <a:cs typeface="+mn-lt"/>
                <a:sym typeface="Agrandir Narrow"/>
              </a:rPr>
              <a:t>→ Rechazamos H₀</a:t>
            </a:r>
            <a:endParaRPr lang="es-AR" sz="2600" noProof="0" dirty="0">
              <a:latin typeface="Agrandir Narrow" panose="020B0604020202020204" charset="0"/>
            </a:endParaRPr>
          </a:p>
          <a:p>
            <a:pPr algn="just"/>
            <a:r>
              <a:rPr lang="es-AR" sz="2600" noProof="0" dirty="0">
                <a:solidFill>
                  <a:srgbClr val="291B25"/>
                </a:solidFill>
                <a:latin typeface="Agrandir Narrow" panose="020B0604020202020204" charset="0"/>
                <a:ea typeface="+mn-lt"/>
                <a:cs typeface="+mn-lt"/>
              </a:rPr>
              <a:t>• Conclusión: La proporción de usuarios mujeres varía significativamente entre comunas.</a:t>
            </a:r>
            <a:endParaRPr lang="es-AR" sz="2600" noProof="0" dirty="0">
              <a:latin typeface="Agrandir Narrow" panose="020B0604020202020204" charset="0"/>
            </a:endParaRPr>
          </a:p>
          <a:p>
            <a:pPr algn="just">
              <a:lnSpc>
                <a:spcPts val="3219"/>
              </a:lnSpc>
              <a:spcBef>
                <a:spcPct val="0"/>
              </a:spcBef>
            </a:pPr>
            <a:endParaRPr lang="es-AR" sz="2600" noProof="0" dirty="0">
              <a:solidFill>
                <a:srgbClr val="291B25"/>
              </a:solidFill>
              <a:latin typeface="Agrandir Narrow" panose="020B0604020202020204" charset="0"/>
            </a:endParaRPr>
          </a:p>
        </p:txBody>
      </p:sp>
      <p:pic>
        <p:nvPicPr>
          <p:cNvPr id="7" name="Imagen 6">
            <a:extLst>
              <a:ext uri="{FF2B5EF4-FFF2-40B4-BE49-F238E27FC236}">
                <a16:creationId xmlns:a16="http://schemas.microsoft.com/office/drawing/2014/main" id="{035B04A7-AE6F-234B-550D-A8094EA799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67200" y="2553659"/>
            <a:ext cx="9753600" cy="2286000"/>
          </a:xfrm>
          <a:prstGeom prst="rect">
            <a:avLst/>
          </a:prstGeom>
        </p:spPr>
      </p:pic>
    </p:spTree>
    <p:extLst>
      <p:ext uri="{BB962C8B-B14F-4D97-AF65-F5344CB8AC3E}">
        <p14:creationId xmlns:p14="http://schemas.microsoft.com/office/powerpoint/2010/main" val="26236554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a:extLst>
            <a:ext uri="{FF2B5EF4-FFF2-40B4-BE49-F238E27FC236}">
              <a16:creationId xmlns:a16="http://schemas.microsoft.com/office/drawing/2014/main" id="{E524CB8A-39B2-021A-5E3F-4B15C01E5414}"/>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19A2D1F1-48D3-AEF8-657D-31165468A78E}"/>
              </a:ext>
            </a:extLst>
          </p:cNvPr>
          <p:cNvSpPr txBox="1"/>
          <p:nvPr/>
        </p:nvSpPr>
        <p:spPr>
          <a:xfrm>
            <a:off x="713300" y="525031"/>
            <a:ext cx="10163966" cy="1233415"/>
          </a:xfrm>
          <a:prstGeom prst="rect">
            <a:avLst/>
          </a:prstGeom>
        </p:spPr>
        <p:txBody>
          <a:bodyPr wrap="square" lIns="0" tIns="0" rIns="0" bIns="0" rtlCol="0" anchor="t">
            <a:spAutoFit/>
          </a:bodyPr>
          <a:lstStyle/>
          <a:p>
            <a:pPr>
              <a:lnSpc>
                <a:spcPts val="9630"/>
              </a:lnSpc>
            </a:pPr>
            <a:r>
              <a:rPr lang="es-AR" sz="9000" noProof="0" dirty="0">
                <a:solidFill>
                  <a:srgbClr val="291B25"/>
                </a:solidFill>
                <a:latin typeface="Agrandir"/>
                <a:ea typeface="Agrandir"/>
                <a:cs typeface="Agrandir"/>
                <a:sym typeface="Agrandir"/>
              </a:rPr>
              <a:t>Regresión logística</a:t>
            </a:r>
            <a:endParaRPr lang="es-AR" sz="9000" noProof="0" dirty="0">
              <a:solidFill>
                <a:srgbClr val="291B25"/>
              </a:solidFill>
              <a:latin typeface="Agrandir"/>
              <a:ea typeface="Agrandir"/>
              <a:cs typeface="Agrandir"/>
            </a:endParaRPr>
          </a:p>
        </p:txBody>
      </p:sp>
      <p:grpSp>
        <p:nvGrpSpPr>
          <p:cNvPr id="12" name="Group 12">
            <a:extLst>
              <a:ext uri="{FF2B5EF4-FFF2-40B4-BE49-F238E27FC236}">
                <a16:creationId xmlns:a16="http://schemas.microsoft.com/office/drawing/2014/main" id="{72E931F6-54A4-F837-D17E-2731F24AD6A1}"/>
              </a:ext>
            </a:extLst>
          </p:cNvPr>
          <p:cNvGrpSpPr/>
          <p:nvPr/>
        </p:nvGrpSpPr>
        <p:grpSpPr>
          <a:xfrm rot="-5400000">
            <a:off x="15932021" y="8243693"/>
            <a:ext cx="831964" cy="2034756"/>
            <a:chOff x="0" y="-38100"/>
            <a:chExt cx="233609" cy="571343"/>
          </a:xfrm>
        </p:grpSpPr>
        <p:sp>
          <p:nvSpPr>
            <p:cNvPr id="13" name="Freeform 13">
              <a:extLst>
                <a:ext uri="{FF2B5EF4-FFF2-40B4-BE49-F238E27FC236}">
                  <a16:creationId xmlns:a16="http://schemas.microsoft.com/office/drawing/2014/main" id="{2C796245-575A-7690-72B6-10E67587D27D}"/>
                </a:ext>
              </a:extLst>
            </p:cNvPr>
            <p:cNvSpPr/>
            <p:nvPr/>
          </p:nvSpPr>
          <p:spPr>
            <a:xfrm>
              <a:off x="0" y="0"/>
              <a:ext cx="233609" cy="533243"/>
            </a:xfrm>
            <a:custGeom>
              <a:avLst/>
              <a:gdLst/>
              <a:ahLst/>
              <a:cxnLst/>
              <a:rect l="l" t="t" r="r" b="b"/>
              <a:pathLst>
                <a:path w="233609" h="533243">
                  <a:moveTo>
                    <a:pt x="116804" y="0"/>
                  </a:moveTo>
                  <a:lnTo>
                    <a:pt x="116804" y="0"/>
                  </a:lnTo>
                  <a:cubicBezTo>
                    <a:pt x="181314" y="0"/>
                    <a:pt x="233609" y="52295"/>
                    <a:pt x="233609" y="116804"/>
                  </a:cubicBezTo>
                  <a:lnTo>
                    <a:pt x="233609" y="416438"/>
                  </a:lnTo>
                  <a:cubicBezTo>
                    <a:pt x="233609" y="480948"/>
                    <a:pt x="181314" y="533243"/>
                    <a:pt x="116804" y="533243"/>
                  </a:cubicBezTo>
                  <a:lnTo>
                    <a:pt x="116804" y="533243"/>
                  </a:lnTo>
                  <a:cubicBezTo>
                    <a:pt x="52295" y="533243"/>
                    <a:pt x="0" y="480948"/>
                    <a:pt x="0" y="416438"/>
                  </a:cubicBezTo>
                  <a:lnTo>
                    <a:pt x="0" y="116804"/>
                  </a:lnTo>
                  <a:cubicBezTo>
                    <a:pt x="0" y="52295"/>
                    <a:pt x="52295" y="0"/>
                    <a:pt x="116804" y="0"/>
                  </a:cubicBezTo>
                  <a:close/>
                </a:path>
              </a:pathLst>
            </a:custGeom>
            <a:solidFill>
              <a:srgbClr val="F7B9A1"/>
            </a:solidFill>
            <a:ln cap="rnd">
              <a:noFill/>
              <a:prstDash val="solid"/>
              <a:round/>
            </a:ln>
          </p:spPr>
          <p:txBody>
            <a:bodyPr/>
            <a:lstStyle/>
            <a:p>
              <a:endParaRPr lang="es-AR" noProof="0" dirty="0"/>
            </a:p>
          </p:txBody>
        </p:sp>
        <p:sp>
          <p:nvSpPr>
            <p:cNvPr id="14" name="TextBox 14">
              <a:extLst>
                <a:ext uri="{FF2B5EF4-FFF2-40B4-BE49-F238E27FC236}">
                  <a16:creationId xmlns:a16="http://schemas.microsoft.com/office/drawing/2014/main" id="{2CB6510C-5C65-BD01-CF1D-D7432AFBCA0D}"/>
                </a:ext>
              </a:extLst>
            </p:cNvPr>
            <p:cNvSpPr txBox="1"/>
            <p:nvPr/>
          </p:nvSpPr>
          <p:spPr>
            <a:xfrm>
              <a:off x="0" y="-38100"/>
              <a:ext cx="233609" cy="571343"/>
            </a:xfrm>
            <a:prstGeom prst="rect">
              <a:avLst/>
            </a:prstGeom>
          </p:spPr>
          <p:txBody>
            <a:bodyPr lIns="50800" tIns="50800" rIns="50800" bIns="50800" rtlCol="0" anchor="ctr"/>
            <a:lstStyle/>
            <a:p>
              <a:pPr algn="ctr">
                <a:lnSpc>
                  <a:spcPts val="2659"/>
                </a:lnSpc>
              </a:pPr>
              <a:endParaRPr lang="es-AR" noProof="0" dirty="0"/>
            </a:p>
          </p:txBody>
        </p:sp>
      </p:grpSp>
      <p:sp>
        <p:nvSpPr>
          <p:cNvPr id="16" name="TextBox 16">
            <a:extLst>
              <a:ext uri="{FF2B5EF4-FFF2-40B4-BE49-F238E27FC236}">
                <a16:creationId xmlns:a16="http://schemas.microsoft.com/office/drawing/2014/main" id="{3D69B549-244F-4847-BB1F-48E7CA5AD581}"/>
              </a:ext>
            </a:extLst>
          </p:cNvPr>
          <p:cNvSpPr txBox="1"/>
          <p:nvPr/>
        </p:nvSpPr>
        <p:spPr>
          <a:xfrm>
            <a:off x="15742943" y="8966117"/>
            <a:ext cx="1345808" cy="589905"/>
          </a:xfrm>
          <a:prstGeom prst="rect">
            <a:avLst/>
          </a:prstGeom>
        </p:spPr>
        <p:txBody>
          <a:bodyPr lIns="0" tIns="0" rIns="0" bIns="0" rtlCol="0" anchor="t">
            <a:spAutoFit/>
          </a:bodyPr>
          <a:lstStyle/>
          <a:p>
            <a:pPr algn="ctr">
              <a:lnSpc>
                <a:spcPts val="4555"/>
              </a:lnSpc>
            </a:pPr>
            <a:r>
              <a:rPr lang="es-AR" sz="4250" noProof="0" dirty="0">
                <a:solidFill>
                  <a:srgbClr val="291B25"/>
                </a:solidFill>
                <a:latin typeface="Agrandir"/>
                <a:ea typeface="Agrandir"/>
                <a:cs typeface="Agrandir"/>
                <a:sym typeface="Agrandir"/>
              </a:rPr>
              <a:t>16</a:t>
            </a:r>
            <a:endParaRPr lang="es-AR" sz="4257" noProof="0" dirty="0">
              <a:solidFill>
                <a:srgbClr val="291B25"/>
              </a:solidFill>
              <a:latin typeface="Agrandir"/>
              <a:ea typeface="Agrandir"/>
              <a:cs typeface="Agrandir"/>
              <a:sym typeface="Agrandir"/>
            </a:endParaRPr>
          </a:p>
        </p:txBody>
      </p:sp>
      <p:sp>
        <p:nvSpPr>
          <p:cNvPr id="17" name="TextBox 17">
            <a:extLst>
              <a:ext uri="{FF2B5EF4-FFF2-40B4-BE49-F238E27FC236}">
                <a16:creationId xmlns:a16="http://schemas.microsoft.com/office/drawing/2014/main" id="{C701E8DB-FFF7-B245-BF1F-7E2DE38C33CB}"/>
              </a:ext>
            </a:extLst>
          </p:cNvPr>
          <p:cNvSpPr txBox="1"/>
          <p:nvPr/>
        </p:nvSpPr>
        <p:spPr>
          <a:xfrm>
            <a:off x="1045973" y="2904163"/>
            <a:ext cx="16196054" cy="4129144"/>
          </a:xfrm>
          <a:prstGeom prst="rect">
            <a:avLst/>
          </a:prstGeom>
        </p:spPr>
        <p:txBody>
          <a:bodyPr wrap="square" lIns="0" tIns="0" rIns="0" bIns="0" rtlCol="0" anchor="t">
            <a:spAutoFit/>
          </a:bodyPr>
          <a:lstStyle/>
          <a:p>
            <a:pPr algn="just">
              <a:lnSpc>
                <a:spcPts val="3600"/>
              </a:lnSpc>
              <a:spcBef>
                <a:spcPct val="0"/>
              </a:spcBef>
            </a:pPr>
            <a:r>
              <a:rPr lang="es-AR" sz="2600" noProof="0" dirty="0">
                <a:solidFill>
                  <a:srgbClr val="291B25"/>
                </a:solidFill>
                <a:latin typeface="Agrandir Narrow"/>
                <a:sym typeface="Agrandir Narrow"/>
              </a:rPr>
              <a:t>Finalmente corrimos una regresión logística del género respecto a momento del día y comuna. Esto evalúa la probabilidad de que un viaje sea realizado por una mujer en función de la comuna y </a:t>
            </a:r>
            <a:r>
              <a:rPr lang="es-AR" sz="2600" dirty="0">
                <a:solidFill>
                  <a:srgbClr val="291B25"/>
                </a:solidFill>
                <a:latin typeface="Agrandir Narrow"/>
                <a:sym typeface="Agrandir Narrow"/>
              </a:rPr>
              <a:t>de si es de noche,</a:t>
            </a:r>
            <a:r>
              <a:rPr lang="es-AR" sz="2600" noProof="0" dirty="0">
                <a:solidFill>
                  <a:srgbClr val="291B25"/>
                </a:solidFill>
                <a:latin typeface="Agrandir Narrow"/>
                <a:sym typeface="Agrandir Narrow"/>
              </a:rPr>
              <a:t> así como también de la interacción entre ambas variables. </a:t>
            </a:r>
            <a:r>
              <a:rPr lang="es-AR" sz="2600" noProof="0" dirty="0">
                <a:solidFill>
                  <a:srgbClr val="291B25"/>
                </a:solidFill>
                <a:latin typeface="Agrandir Narrow"/>
                <a:ea typeface="Calibri"/>
                <a:cs typeface="Calibri"/>
                <a:sym typeface="Agrandir Narrow"/>
              </a:rPr>
              <a:t>Al no calcular efectos marginales, solo podremos interpretar el signo de los coeficientes, pero no su magnitud.</a:t>
            </a:r>
          </a:p>
          <a:p>
            <a:pPr algn="just">
              <a:lnSpc>
                <a:spcPts val="3600"/>
              </a:lnSpc>
              <a:spcBef>
                <a:spcPct val="0"/>
              </a:spcBef>
            </a:pPr>
            <a:r>
              <a:rPr lang="es-AR" sz="2600" dirty="0">
                <a:solidFill>
                  <a:srgbClr val="291B25"/>
                </a:solidFill>
                <a:latin typeface="Agrandir Narrow"/>
                <a:ea typeface="Calibri"/>
                <a:cs typeface="Calibri"/>
                <a:sym typeface="Agrandir Narrow"/>
              </a:rPr>
              <a:t>Los coeficientes de comuna son positivos y significativos. Eso implica que en todas ellas la probabilidad de que el usuario sea mujer es mayor que en la comuna 1.</a:t>
            </a:r>
          </a:p>
          <a:p>
            <a:pPr algn="just">
              <a:lnSpc>
                <a:spcPts val="3600"/>
              </a:lnSpc>
              <a:spcBef>
                <a:spcPct val="0"/>
              </a:spcBef>
            </a:pPr>
            <a:r>
              <a:rPr lang="es-AR" sz="2600" noProof="0" dirty="0">
                <a:solidFill>
                  <a:srgbClr val="291B25"/>
                </a:solidFill>
                <a:latin typeface="Agrandir Narrow"/>
                <a:ea typeface="Calibri"/>
                <a:cs typeface="Calibri"/>
                <a:sym typeface="Agrandir Narrow"/>
              </a:rPr>
              <a:t>Por otro lado, el coeficiente de </a:t>
            </a:r>
            <a:r>
              <a:rPr lang="es-AR" sz="2600" noProof="0" dirty="0" err="1">
                <a:solidFill>
                  <a:srgbClr val="291B25"/>
                </a:solidFill>
                <a:latin typeface="Agrandir Narrow"/>
                <a:ea typeface="Calibri"/>
                <a:cs typeface="Calibri"/>
                <a:sym typeface="Agrandir Narrow"/>
              </a:rPr>
              <a:t>es_nocheS</a:t>
            </a:r>
            <a:r>
              <a:rPr lang="es-AR" sz="2600" dirty="0">
                <a:solidFill>
                  <a:srgbClr val="291B25"/>
                </a:solidFill>
                <a:latin typeface="Agrandir Narrow"/>
                <a:ea typeface="Calibri"/>
                <a:cs typeface="Calibri"/>
                <a:sym typeface="Agrandir Narrow"/>
              </a:rPr>
              <a:t>í es no significativo. Sin embargo, los coeficientes de la interacción </a:t>
            </a:r>
            <a:r>
              <a:rPr lang="es-AR" sz="2600" dirty="0" err="1">
                <a:solidFill>
                  <a:srgbClr val="291B25"/>
                </a:solidFill>
                <a:latin typeface="Agrandir Narrow"/>
                <a:ea typeface="Calibri"/>
                <a:cs typeface="Calibri"/>
                <a:sym typeface="Agrandir Narrow"/>
              </a:rPr>
              <a:t>comunaX:es_nocheSí</a:t>
            </a:r>
            <a:r>
              <a:rPr lang="es-AR" sz="2600" dirty="0">
                <a:solidFill>
                  <a:srgbClr val="291B25"/>
                </a:solidFill>
                <a:latin typeface="Agrandir Narrow"/>
                <a:ea typeface="Calibri"/>
                <a:cs typeface="Calibri"/>
                <a:sym typeface="Agrandir Narrow"/>
              </a:rPr>
              <a:t>, en la mayoría de los casos, son negativos y significativos. Esto implica que, en la mayoría de comunas, la participación femenina cae más durante la noche que en la comuna 1.</a:t>
            </a:r>
            <a:endParaRPr lang="es-AR" sz="2600" noProof="0" dirty="0">
              <a:solidFill>
                <a:srgbClr val="291B25"/>
              </a:solidFill>
              <a:latin typeface="Agrandir Narrow"/>
              <a:ea typeface="Calibri"/>
              <a:cs typeface="Calibri"/>
            </a:endParaRPr>
          </a:p>
        </p:txBody>
      </p:sp>
    </p:spTree>
    <p:extLst>
      <p:ext uri="{BB962C8B-B14F-4D97-AF65-F5344CB8AC3E}">
        <p14:creationId xmlns:p14="http://schemas.microsoft.com/office/powerpoint/2010/main" val="24880030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a:extLst>
            <a:ext uri="{FF2B5EF4-FFF2-40B4-BE49-F238E27FC236}">
              <a16:creationId xmlns:a16="http://schemas.microsoft.com/office/drawing/2014/main" id="{724615F4-04BD-2455-7DC4-E50AC011B9DD}"/>
            </a:ext>
          </a:extLst>
        </p:cNvPr>
        <p:cNvGrpSpPr/>
        <p:nvPr/>
      </p:nvGrpSpPr>
      <p:grpSpPr>
        <a:xfrm>
          <a:off x="0" y="0"/>
          <a:ext cx="0" cy="0"/>
          <a:chOff x="0" y="0"/>
          <a:chExt cx="0" cy="0"/>
        </a:xfrm>
      </p:grpSpPr>
      <p:pic>
        <p:nvPicPr>
          <p:cNvPr id="28" name="Imagen 27">
            <a:extLst>
              <a:ext uri="{FF2B5EF4-FFF2-40B4-BE49-F238E27FC236}">
                <a16:creationId xmlns:a16="http://schemas.microsoft.com/office/drawing/2014/main" id="{1A30CF7A-B503-EE4A-842D-2305F36E5F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72945" y="1759786"/>
            <a:ext cx="6379950" cy="7772400"/>
          </a:xfrm>
          <a:prstGeom prst="rect">
            <a:avLst/>
          </a:prstGeom>
        </p:spPr>
      </p:pic>
      <p:sp>
        <p:nvSpPr>
          <p:cNvPr id="5" name="TextBox 5">
            <a:extLst>
              <a:ext uri="{FF2B5EF4-FFF2-40B4-BE49-F238E27FC236}">
                <a16:creationId xmlns:a16="http://schemas.microsoft.com/office/drawing/2014/main" id="{667E0398-5F69-8E13-7011-E94B18FFBDAA}"/>
              </a:ext>
            </a:extLst>
          </p:cNvPr>
          <p:cNvSpPr txBox="1"/>
          <p:nvPr/>
        </p:nvSpPr>
        <p:spPr>
          <a:xfrm>
            <a:off x="713299" y="525031"/>
            <a:ext cx="11596981" cy="1233415"/>
          </a:xfrm>
          <a:prstGeom prst="rect">
            <a:avLst/>
          </a:prstGeom>
        </p:spPr>
        <p:txBody>
          <a:bodyPr wrap="square" lIns="0" tIns="0" rIns="0" bIns="0" rtlCol="0" anchor="t">
            <a:spAutoFit/>
          </a:bodyPr>
          <a:lstStyle/>
          <a:p>
            <a:pPr>
              <a:lnSpc>
                <a:spcPts val="9630"/>
              </a:lnSpc>
            </a:pPr>
            <a:r>
              <a:rPr lang="es-AR" sz="9000" noProof="0" dirty="0">
                <a:solidFill>
                  <a:srgbClr val="291B25"/>
                </a:solidFill>
                <a:latin typeface="Agrandir"/>
                <a:ea typeface="Agrandir"/>
                <a:cs typeface="Agrandir"/>
                <a:sym typeface="Agrandir"/>
              </a:rPr>
              <a:t>Regresión logística</a:t>
            </a:r>
            <a:endParaRPr lang="es-AR" sz="9000" noProof="0" dirty="0">
              <a:solidFill>
                <a:srgbClr val="291B25"/>
              </a:solidFill>
              <a:latin typeface="Agrandir"/>
              <a:ea typeface="Agrandir"/>
              <a:cs typeface="Agrandir"/>
            </a:endParaRPr>
          </a:p>
        </p:txBody>
      </p:sp>
      <p:grpSp>
        <p:nvGrpSpPr>
          <p:cNvPr id="12" name="Group 12">
            <a:extLst>
              <a:ext uri="{FF2B5EF4-FFF2-40B4-BE49-F238E27FC236}">
                <a16:creationId xmlns:a16="http://schemas.microsoft.com/office/drawing/2014/main" id="{3F39DDE2-CFA4-20C8-8DF3-458EBA22C1E6}"/>
              </a:ext>
            </a:extLst>
          </p:cNvPr>
          <p:cNvGrpSpPr/>
          <p:nvPr/>
        </p:nvGrpSpPr>
        <p:grpSpPr>
          <a:xfrm rot="-5400000">
            <a:off x="15932021" y="8243693"/>
            <a:ext cx="831964" cy="2034756"/>
            <a:chOff x="0" y="-38100"/>
            <a:chExt cx="233609" cy="571343"/>
          </a:xfrm>
        </p:grpSpPr>
        <p:sp>
          <p:nvSpPr>
            <p:cNvPr id="13" name="Freeform 13">
              <a:extLst>
                <a:ext uri="{FF2B5EF4-FFF2-40B4-BE49-F238E27FC236}">
                  <a16:creationId xmlns:a16="http://schemas.microsoft.com/office/drawing/2014/main" id="{D8C40377-65EC-67A2-88FE-7C2E861168D0}"/>
                </a:ext>
              </a:extLst>
            </p:cNvPr>
            <p:cNvSpPr/>
            <p:nvPr/>
          </p:nvSpPr>
          <p:spPr>
            <a:xfrm>
              <a:off x="0" y="0"/>
              <a:ext cx="233609" cy="533243"/>
            </a:xfrm>
            <a:custGeom>
              <a:avLst/>
              <a:gdLst/>
              <a:ahLst/>
              <a:cxnLst/>
              <a:rect l="l" t="t" r="r" b="b"/>
              <a:pathLst>
                <a:path w="233609" h="533243">
                  <a:moveTo>
                    <a:pt x="116804" y="0"/>
                  </a:moveTo>
                  <a:lnTo>
                    <a:pt x="116804" y="0"/>
                  </a:lnTo>
                  <a:cubicBezTo>
                    <a:pt x="181314" y="0"/>
                    <a:pt x="233609" y="52295"/>
                    <a:pt x="233609" y="116804"/>
                  </a:cubicBezTo>
                  <a:lnTo>
                    <a:pt x="233609" y="416438"/>
                  </a:lnTo>
                  <a:cubicBezTo>
                    <a:pt x="233609" y="480948"/>
                    <a:pt x="181314" y="533243"/>
                    <a:pt x="116804" y="533243"/>
                  </a:cubicBezTo>
                  <a:lnTo>
                    <a:pt x="116804" y="533243"/>
                  </a:lnTo>
                  <a:cubicBezTo>
                    <a:pt x="52295" y="533243"/>
                    <a:pt x="0" y="480948"/>
                    <a:pt x="0" y="416438"/>
                  </a:cubicBezTo>
                  <a:lnTo>
                    <a:pt x="0" y="116804"/>
                  </a:lnTo>
                  <a:cubicBezTo>
                    <a:pt x="0" y="52295"/>
                    <a:pt x="52295" y="0"/>
                    <a:pt x="116804" y="0"/>
                  </a:cubicBezTo>
                  <a:close/>
                </a:path>
              </a:pathLst>
            </a:custGeom>
            <a:solidFill>
              <a:srgbClr val="F7B9A1"/>
            </a:solidFill>
            <a:ln cap="rnd">
              <a:noFill/>
              <a:prstDash val="solid"/>
              <a:round/>
            </a:ln>
          </p:spPr>
          <p:txBody>
            <a:bodyPr/>
            <a:lstStyle/>
            <a:p>
              <a:endParaRPr lang="es-AR" noProof="0" dirty="0"/>
            </a:p>
          </p:txBody>
        </p:sp>
        <p:sp>
          <p:nvSpPr>
            <p:cNvPr id="14" name="TextBox 14">
              <a:extLst>
                <a:ext uri="{FF2B5EF4-FFF2-40B4-BE49-F238E27FC236}">
                  <a16:creationId xmlns:a16="http://schemas.microsoft.com/office/drawing/2014/main" id="{07D683A0-01C4-A805-BAC9-A267A3D53BF9}"/>
                </a:ext>
              </a:extLst>
            </p:cNvPr>
            <p:cNvSpPr txBox="1"/>
            <p:nvPr/>
          </p:nvSpPr>
          <p:spPr>
            <a:xfrm>
              <a:off x="0" y="-38100"/>
              <a:ext cx="233609" cy="571343"/>
            </a:xfrm>
            <a:prstGeom prst="rect">
              <a:avLst/>
            </a:prstGeom>
          </p:spPr>
          <p:txBody>
            <a:bodyPr lIns="50800" tIns="50800" rIns="50800" bIns="50800" rtlCol="0" anchor="ctr"/>
            <a:lstStyle/>
            <a:p>
              <a:pPr algn="ctr">
                <a:lnSpc>
                  <a:spcPts val="2659"/>
                </a:lnSpc>
              </a:pPr>
              <a:endParaRPr lang="es-AR" noProof="0" dirty="0"/>
            </a:p>
          </p:txBody>
        </p:sp>
      </p:grpSp>
      <p:sp>
        <p:nvSpPr>
          <p:cNvPr id="16" name="TextBox 16">
            <a:extLst>
              <a:ext uri="{FF2B5EF4-FFF2-40B4-BE49-F238E27FC236}">
                <a16:creationId xmlns:a16="http://schemas.microsoft.com/office/drawing/2014/main" id="{08A00616-3FA6-A5EA-24CB-38755B42D6DC}"/>
              </a:ext>
            </a:extLst>
          </p:cNvPr>
          <p:cNvSpPr txBox="1"/>
          <p:nvPr/>
        </p:nvSpPr>
        <p:spPr>
          <a:xfrm>
            <a:off x="15742943" y="8966117"/>
            <a:ext cx="1345808" cy="589905"/>
          </a:xfrm>
          <a:prstGeom prst="rect">
            <a:avLst/>
          </a:prstGeom>
        </p:spPr>
        <p:txBody>
          <a:bodyPr lIns="0" tIns="0" rIns="0" bIns="0" rtlCol="0" anchor="ctr">
            <a:spAutoFit/>
          </a:bodyPr>
          <a:lstStyle/>
          <a:p>
            <a:pPr algn="ctr">
              <a:lnSpc>
                <a:spcPts val="4555"/>
              </a:lnSpc>
            </a:pPr>
            <a:r>
              <a:rPr lang="es-AR" sz="4250" noProof="0" dirty="0">
                <a:solidFill>
                  <a:srgbClr val="291B25"/>
                </a:solidFill>
                <a:latin typeface="Agrandir"/>
                <a:ea typeface="Agrandir"/>
                <a:cs typeface="Agrandir"/>
                <a:sym typeface="Agrandir"/>
              </a:rPr>
              <a:t>17</a:t>
            </a:r>
            <a:endParaRPr lang="es-AR" sz="4257" noProof="0" dirty="0">
              <a:solidFill>
                <a:srgbClr val="291B25"/>
              </a:solidFill>
              <a:latin typeface="Agrandir"/>
              <a:ea typeface="Agrandir"/>
              <a:cs typeface="Agrandir"/>
              <a:sym typeface="Agrandir"/>
            </a:endParaRPr>
          </a:p>
        </p:txBody>
      </p:sp>
      <p:pic>
        <p:nvPicPr>
          <p:cNvPr id="20" name="Imagen 19">
            <a:extLst>
              <a:ext uri="{FF2B5EF4-FFF2-40B4-BE49-F238E27FC236}">
                <a16:creationId xmlns:a16="http://schemas.microsoft.com/office/drawing/2014/main" id="{1FBB648D-2095-66C3-DAED-C50BF32853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27190" y="1848943"/>
            <a:ext cx="4743567" cy="7683243"/>
          </a:xfrm>
          <a:prstGeom prst="rect">
            <a:avLst/>
          </a:prstGeom>
        </p:spPr>
      </p:pic>
    </p:spTree>
    <p:extLst>
      <p:ext uri="{BB962C8B-B14F-4D97-AF65-F5344CB8AC3E}">
        <p14:creationId xmlns:p14="http://schemas.microsoft.com/office/powerpoint/2010/main" val="26312047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a:extLst>
            <a:ext uri="{FF2B5EF4-FFF2-40B4-BE49-F238E27FC236}">
              <a16:creationId xmlns:a16="http://schemas.microsoft.com/office/drawing/2014/main" id="{163189F8-7F12-4913-9FC0-B6C3916A63D5}"/>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997D384B-7819-176B-8CC7-91F4DB5A3A2A}"/>
              </a:ext>
            </a:extLst>
          </p:cNvPr>
          <p:cNvSpPr txBox="1"/>
          <p:nvPr/>
        </p:nvSpPr>
        <p:spPr>
          <a:xfrm>
            <a:off x="713299" y="525031"/>
            <a:ext cx="17056086" cy="1233415"/>
          </a:xfrm>
          <a:prstGeom prst="rect">
            <a:avLst/>
          </a:prstGeom>
        </p:spPr>
        <p:txBody>
          <a:bodyPr wrap="square" lIns="0" tIns="0" rIns="0" bIns="0" rtlCol="0" anchor="t">
            <a:spAutoFit/>
          </a:bodyPr>
          <a:lstStyle/>
          <a:p>
            <a:pPr>
              <a:lnSpc>
                <a:spcPts val="9630"/>
              </a:lnSpc>
            </a:pPr>
            <a:r>
              <a:rPr lang="es-AR" sz="9000" noProof="0" dirty="0">
                <a:solidFill>
                  <a:srgbClr val="291B25"/>
                </a:solidFill>
                <a:latin typeface="Agrandir"/>
                <a:ea typeface="Agrandir"/>
                <a:cs typeface="Agrandir"/>
                <a:sym typeface="Agrandir"/>
              </a:rPr>
              <a:t>ANOVA de la regresión logística</a:t>
            </a:r>
            <a:endParaRPr lang="es-AR" sz="9000" noProof="0" dirty="0">
              <a:solidFill>
                <a:srgbClr val="291B25"/>
              </a:solidFill>
              <a:latin typeface="Agrandir"/>
              <a:ea typeface="Agrandir"/>
              <a:cs typeface="Agrandir"/>
            </a:endParaRPr>
          </a:p>
        </p:txBody>
      </p:sp>
      <p:grpSp>
        <p:nvGrpSpPr>
          <p:cNvPr id="12" name="Group 12">
            <a:extLst>
              <a:ext uri="{FF2B5EF4-FFF2-40B4-BE49-F238E27FC236}">
                <a16:creationId xmlns:a16="http://schemas.microsoft.com/office/drawing/2014/main" id="{5D7BE801-83DB-8563-3123-2334C5617231}"/>
              </a:ext>
            </a:extLst>
          </p:cNvPr>
          <p:cNvGrpSpPr/>
          <p:nvPr/>
        </p:nvGrpSpPr>
        <p:grpSpPr>
          <a:xfrm rot="-5400000">
            <a:off x="15932021" y="8243693"/>
            <a:ext cx="831964" cy="2034756"/>
            <a:chOff x="0" y="-38100"/>
            <a:chExt cx="233609" cy="571343"/>
          </a:xfrm>
        </p:grpSpPr>
        <p:sp>
          <p:nvSpPr>
            <p:cNvPr id="13" name="Freeform 13">
              <a:extLst>
                <a:ext uri="{FF2B5EF4-FFF2-40B4-BE49-F238E27FC236}">
                  <a16:creationId xmlns:a16="http://schemas.microsoft.com/office/drawing/2014/main" id="{205C350D-42F3-D72E-6184-75D8636831D3}"/>
                </a:ext>
              </a:extLst>
            </p:cNvPr>
            <p:cNvSpPr/>
            <p:nvPr/>
          </p:nvSpPr>
          <p:spPr>
            <a:xfrm>
              <a:off x="0" y="0"/>
              <a:ext cx="233609" cy="533243"/>
            </a:xfrm>
            <a:custGeom>
              <a:avLst/>
              <a:gdLst/>
              <a:ahLst/>
              <a:cxnLst/>
              <a:rect l="l" t="t" r="r" b="b"/>
              <a:pathLst>
                <a:path w="233609" h="533243">
                  <a:moveTo>
                    <a:pt x="116804" y="0"/>
                  </a:moveTo>
                  <a:lnTo>
                    <a:pt x="116804" y="0"/>
                  </a:lnTo>
                  <a:cubicBezTo>
                    <a:pt x="181314" y="0"/>
                    <a:pt x="233609" y="52295"/>
                    <a:pt x="233609" y="116804"/>
                  </a:cubicBezTo>
                  <a:lnTo>
                    <a:pt x="233609" y="416438"/>
                  </a:lnTo>
                  <a:cubicBezTo>
                    <a:pt x="233609" y="480948"/>
                    <a:pt x="181314" y="533243"/>
                    <a:pt x="116804" y="533243"/>
                  </a:cubicBezTo>
                  <a:lnTo>
                    <a:pt x="116804" y="533243"/>
                  </a:lnTo>
                  <a:cubicBezTo>
                    <a:pt x="52295" y="533243"/>
                    <a:pt x="0" y="480948"/>
                    <a:pt x="0" y="416438"/>
                  </a:cubicBezTo>
                  <a:lnTo>
                    <a:pt x="0" y="116804"/>
                  </a:lnTo>
                  <a:cubicBezTo>
                    <a:pt x="0" y="52295"/>
                    <a:pt x="52295" y="0"/>
                    <a:pt x="116804" y="0"/>
                  </a:cubicBezTo>
                  <a:close/>
                </a:path>
              </a:pathLst>
            </a:custGeom>
            <a:solidFill>
              <a:srgbClr val="F7B9A1"/>
            </a:solidFill>
            <a:ln cap="rnd">
              <a:noFill/>
              <a:prstDash val="solid"/>
              <a:round/>
            </a:ln>
          </p:spPr>
          <p:txBody>
            <a:bodyPr/>
            <a:lstStyle/>
            <a:p>
              <a:endParaRPr lang="es-AR" noProof="0" dirty="0"/>
            </a:p>
          </p:txBody>
        </p:sp>
        <p:sp>
          <p:nvSpPr>
            <p:cNvPr id="14" name="TextBox 14">
              <a:extLst>
                <a:ext uri="{FF2B5EF4-FFF2-40B4-BE49-F238E27FC236}">
                  <a16:creationId xmlns:a16="http://schemas.microsoft.com/office/drawing/2014/main" id="{572402D6-E4A1-FCE8-2F1B-B04223DF2869}"/>
                </a:ext>
              </a:extLst>
            </p:cNvPr>
            <p:cNvSpPr txBox="1"/>
            <p:nvPr/>
          </p:nvSpPr>
          <p:spPr>
            <a:xfrm>
              <a:off x="0" y="-38100"/>
              <a:ext cx="233609" cy="571343"/>
            </a:xfrm>
            <a:prstGeom prst="rect">
              <a:avLst/>
            </a:prstGeom>
          </p:spPr>
          <p:txBody>
            <a:bodyPr lIns="50800" tIns="50800" rIns="50800" bIns="50800" rtlCol="0" anchor="ctr"/>
            <a:lstStyle/>
            <a:p>
              <a:pPr algn="ctr">
                <a:lnSpc>
                  <a:spcPts val="2659"/>
                </a:lnSpc>
              </a:pPr>
              <a:endParaRPr lang="es-AR" noProof="0" dirty="0"/>
            </a:p>
          </p:txBody>
        </p:sp>
      </p:grpSp>
      <p:sp>
        <p:nvSpPr>
          <p:cNvPr id="16" name="TextBox 16">
            <a:extLst>
              <a:ext uri="{FF2B5EF4-FFF2-40B4-BE49-F238E27FC236}">
                <a16:creationId xmlns:a16="http://schemas.microsoft.com/office/drawing/2014/main" id="{A49C556C-ADEF-7DDA-CCE6-F46F3E73F3AB}"/>
              </a:ext>
            </a:extLst>
          </p:cNvPr>
          <p:cNvSpPr txBox="1"/>
          <p:nvPr/>
        </p:nvSpPr>
        <p:spPr>
          <a:xfrm>
            <a:off x="15742943" y="8966117"/>
            <a:ext cx="1345808" cy="589905"/>
          </a:xfrm>
          <a:prstGeom prst="rect">
            <a:avLst/>
          </a:prstGeom>
        </p:spPr>
        <p:txBody>
          <a:bodyPr lIns="0" tIns="0" rIns="0" bIns="0" rtlCol="0" anchor="t">
            <a:spAutoFit/>
          </a:bodyPr>
          <a:lstStyle/>
          <a:p>
            <a:pPr algn="ctr">
              <a:lnSpc>
                <a:spcPts val="4555"/>
              </a:lnSpc>
            </a:pPr>
            <a:r>
              <a:rPr lang="es-AR" sz="4250" noProof="0" dirty="0">
                <a:solidFill>
                  <a:srgbClr val="291B25"/>
                </a:solidFill>
                <a:latin typeface="Agrandir"/>
                <a:ea typeface="Agrandir"/>
                <a:cs typeface="Agrandir"/>
                <a:sym typeface="Agrandir"/>
              </a:rPr>
              <a:t>18</a:t>
            </a:r>
            <a:endParaRPr lang="es-AR" sz="4257" noProof="0" dirty="0">
              <a:solidFill>
                <a:srgbClr val="291B25"/>
              </a:solidFill>
              <a:latin typeface="Agrandir"/>
              <a:ea typeface="Agrandir"/>
              <a:cs typeface="Agrandir"/>
              <a:sym typeface="Agrandir"/>
            </a:endParaRPr>
          </a:p>
        </p:txBody>
      </p:sp>
      <p:sp>
        <p:nvSpPr>
          <p:cNvPr id="17" name="TextBox 17">
            <a:extLst>
              <a:ext uri="{FF2B5EF4-FFF2-40B4-BE49-F238E27FC236}">
                <a16:creationId xmlns:a16="http://schemas.microsoft.com/office/drawing/2014/main" id="{AAE1C546-EED3-532A-92B1-1E0A82FB7BE3}"/>
              </a:ext>
            </a:extLst>
          </p:cNvPr>
          <p:cNvSpPr txBox="1"/>
          <p:nvPr/>
        </p:nvSpPr>
        <p:spPr>
          <a:xfrm>
            <a:off x="2729552" y="2477264"/>
            <a:ext cx="12828896" cy="5052473"/>
          </a:xfrm>
          <a:prstGeom prst="rect">
            <a:avLst/>
          </a:prstGeom>
        </p:spPr>
        <p:txBody>
          <a:bodyPr wrap="square" lIns="0" tIns="0" rIns="0" bIns="0" rtlCol="0" anchor="t">
            <a:spAutoFit/>
          </a:bodyPr>
          <a:lstStyle/>
          <a:p>
            <a:pPr algn="just">
              <a:lnSpc>
                <a:spcPts val="3600"/>
              </a:lnSpc>
              <a:spcBef>
                <a:spcPct val="0"/>
              </a:spcBef>
            </a:pPr>
            <a:r>
              <a:rPr lang="es-AR" sz="2600" noProof="0" dirty="0">
                <a:solidFill>
                  <a:srgbClr val="291B25"/>
                </a:solidFill>
                <a:latin typeface="Agrandir Narrow"/>
                <a:ea typeface="+mn-lt"/>
                <a:cs typeface="+mn-lt"/>
                <a:sym typeface="Agrandir Narrow"/>
              </a:rPr>
              <a:t>En este caso, el ANOVA evalúa si agregar cada conjunto de variables mejora la capacidad del modelo para explicar la probabilidad de ser un usuario de género femenino.</a:t>
            </a:r>
          </a:p>
          <a:p>
            <a:pPr algn="just">
              <a:lnSpc>
                <a:spcPts val="3600"/>
              </a:lnSpc>
              <a:spcBef>
                <a:spcPct val="0"/>
              </a:spcBef>
            </a:pPr>
            <a:r>
              <a:rPr lang="es-AR" sz="2600" noProof="0" dirty="0">
                <a:solidFill>
                  <a:srgbClr val="291B25"/>
                </a:solidFill>
                <a:latin typeface="Agrandir Narrow"/>
                <a:ea typeface="+mn-lt"/>
                <a:cs typeface="+mn-lt"/>
                <a:sym typeface="Agrandir Narrow"/>
              </a:rPr>
              <a:t>En los 3 casos rechazamos la hipótesis nula. En consecuencia:</a:t>
            </a:r>
          </a:p>
          <a:p>
            <a:pPr marL="457200" indent="-457200" algn="just">
              <a:lnSpc>
                <a:spcPts val="3600"/>
              </a:lnSpc>
              <a:spcBef>
                <a:spcPct val="0"/>
              </a:spcBef>
              <a:buFont typeface="Arial" panose="020B0604020202020204" pitchFamily="34" charset="0"/>
              <a:buChar char="•"/>
            </a:pPr>
            <a:r>
              <a:rPr lang="es-MX" sz="2600" dirty="0">
                <a:solidFill>
                  <a:srgbClr val="291B25"/>
                </a:solidFill>
                <a:latin typeface="Agrandir Narrow"/>
                <a:ea typeface="+mn-lt"/>
                <a:cs typeface="+mn-lt"/>
              </a:rPr>
              <a:t>La variable comuna mejora significativamente el modelo, indicando que la proporción de mujeres difiere entre las comunas.</a:t>
            </a:r>
          </a:p>
          <a:p>
            <a:pPr marL="457200" indent="-457200" algn="just">
              <a:lnSpc>
                <a:spcPts val="3600"/>
              </a:lnSpc>
              <a:spcBef>
                <a:spcPct val="0"/>
              </a:spcBef>
              <a:buFont typeface="Arial" panose="020B0604020202020204" pitchFamily="34" charset="0"/>
              <a:buChar char="•"/>
            </a:pPr>
            <a:r>
              <a:rPr lang="es-MX" sz="2600" dirty="0">
                <a:solidFill>
                  <a:srgbClr val="291B25"/>
                </a:solidFill>
                <a:latin typeface="Agrandir Narrow"/>
                <a:ea typeface="+mn-lt"/>
                <a:cs typeface="+mn-lt"/>
                <a:sym typeface="Agrandir Narrow"/>
              </a:rPr>
              <a:t>El término </a:t>
            </a:r>
            <a:r>
              <a:rPr lang="es-MX" sz="2600" dirty="0" err="1">
                <a:solidFill>
                  <a:srgbClr val="291B25"/>
                </a:solidFill>
                <a:latin typeface="Agrandir Narrow"/>
                <a:ea typeface="+mn-lt"/>
                <a:cs typeface="+mn-lt"/>
                <a:sym typeface="Agrandir Narrow"/>
              </a:rPr>
              <a:t>es_noche</a:t>
            </a:r>
            <a:r>
              <a:rPr lang="es-MX" sz="2600" dirty="0">
                <a:solidFill>
                  <a:srgbClr val="291B25"/>
                </a:solidFill>
                <a:latin typeface="Agrandir Narrow"/>
                <a:ea typeface="+mn-lt"/>
                <a:cs typeface="+mn-lt"/>
                <a:sym typeface="Agrandir Narrow"/>
              </a:rPr>
              <a:t> mejora significativamente el modelo, indicando que la proporción de mujeres difiere entre el día y la noche.</a:t>
            </a:r>
          </a:p>
          <a:p>
            <a:pPr marL="457200" indent="-457200" algn="just">
              <a:lnSpc>
                <a:spcPts val="3600"/>
              </a:lnSpc>
              <a:spcBef>
                <a:spcPct val="0"/>
              </a:spcBef>
              <a:buFont typeface="Arial" panose="020B0604020202020204" pitchFamily="34" charset="0"/>
              <a:buChar char="•"/>
            </a:pPr>
            <a:r>
              <a:rPr lang="es-MX" sz="2600" dirty="0">
                <a:solidFill>
                  <a:srgbClr val="291B25"/>
                </a:solidFill>
                <a:latin typeface="Agrandir Narrow"/>
                <a:ea typeface="+mn-lt"/>
                <a:cs typeface="+mn-lt"/>
                <a:sym typeface="Agrandir Narrow"/>
              </a:rPr>
              <a:t>El término </a:t>
            </a:r>
            <a:r>
              <a:rPr lang="es-MX" sz="2600" dirty="0" err="1">
                <a:solidFill>
                  <a:srgbClr val="291B25"/>
                </a:solidFill>
                <a:latin typeface="Agrandir Narrow"/>
                <a:ea typeface="+mn-lt"/>
                <a:cs typeface="+mn-lt"/>
                <a:sym typeface="Agrandir Narrow"/>
              </a:rPr>
              <a:t>comuna:es_noche</a:t>
            </a:r>
            <a:r>
              <a:rPr lang="es-MX" sz="2600" dirty="0">
                <a:solidFill>
                  <a:srgbClr val="291B25"/>
                </a:solidFill>
                <a:latin typeface="Agrandir Narrow"/>
                <a:ea typeface="+mn-lt"/>
                <a:cs typeface="+mn-lt"/>
                <a:sym typeface="Agrandir Narrow"/>
              </a:rPr>
              <a:t> mejora significativamente el modelo, indicando que el efecto de la noche sobre la proporción de mujeres varía según la comuna.</a:t>
            </a:r>
          </a:p>
          <a:p>
            <a:pPr algn="just">
              <a:lnSpc>
                <a:spcPts val="3600"/>
              </a:lnSpc>
              <a:spcBef>
                <a:spcPct val="0"/>
              </a:spcBef>
            </a:pPr>
            <a:r>
              <a:rPr lang="es-MX" sz="2600" noProof="0" dirty="0">
                <a:solidFill>
                  <a:srgbClr val="291B25"/>
                </a:solidFill>
                <a:latin typeface="Agrandir Narrow"/>
                <a:ea typeface="+mn-lt"/>
                <a:cs typeface="+mn-lt"/>
                <a:sym typeface="Agrandir Narrow"/>
              </a:rPr>
              <a:t>Las tres dimensiones consideradas, comuna, momento del día y su interacción, explican significativamente la variación en el uso de Ecobici por género.</a:t>
            </a:r>
            <a:endParaRPr lang="es-AR" sz="2600" noProof="0" dirty="0">
              <a:solidFill>
                <a:srgbClr val="291B25"/>
              </a:solidFill>
              <a:latin typeface="Agrandir Narrow"/>
              <a:ea typeface="Calibri"/>
              <a:cs typeface="Calibri"/>
            </a:endParaRPr>
          </a:p>
        </p:txBody>
      </p:sp>
    </p:spTree>
    <p:extLst>
      <p:ext uri="{BB962C8B-B14F-4D97-AF65-F5344CB8AC3E}">
        <p14:creationId xmlns:p14="http://schemas.microsoft.com/office/powerpoint/2010/main" val="41099413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a:extLst>
            <a:ext uri="{FF2B5EF4-FFF2-40B4-BE49-F238E27FC236}">
              <a16:creationId xmlns:a16="http://schemas.microsoft.com/office/drawing/2014/main" id="{374D41B9-558A-A1DF-BACB-3E7AE153F8EB}"/>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89773CEC-DD9C-ED60-6A67-D6BEA2C69F25}"/>
              </a:ext>
            </a:extLst>
          </p:cNvPr>
          <p:cNvSpPr txBox="1"/>
          <p:nvPr/>
        </p:nvSpPr>
        <p:spPr>
          <a:xfrm>
            <a:off x="713299" y="525031"/>
            <a:ext cx="17056086" cy="1233415"/>
          </a:xfrm>
          <a:prstGeom prst="rect">
            <a:avLst/>
          </a:prstGeom>
        </p:spPr>
        <p:txBody>
          <a:bodyPr wrap="square" lIns="0" tIns="0" rIns="0" bIns="0" rtlCol="0" anchor="t">
            <a:spAutoFit/>
          </a:bodyPr>
          <a:lstStyle/>
          <a:p>
            <a:pPr>
              <a:lnSpc>
                <a:spcPts val="9630"/>
              </a:lnSpc>
            </a:pPr>
            <a:r>
              <a:rPr lang="es-AR" sz="9000" noProof="0" dirty="0">
                <a:solidFill>
                  <a:srgbClr val="291B25"/>
                </a:solidFill>
                <a:latin typeface="Agrandir"/>
                <a:ea typeface="Agrandir"/>
                <a:cs typeface="Agrandir"/>
                <a:sym typeface="Agrandir"/>
              </a:rPr>
              <a:t>ANOVA de la regresión logística</a:t>
            </a:r>
            <a:endParaRPr lang="es-AR" sz="9000" noProof="0" dirty="0">
              <a:solidFill>
                <a:srgbClr val="291B25"/>
              </a:solidFill>
              <a:latin typeface="Agrandir"/>
              <a:ea typeface="Agrandir"/>
              <a:cs typeface="Agrandir"/>
            </a:endParaRPr>
          </a:p>
        </p:txBody>
      </p:sp>
      <p:grpSp>
        <p:nvGrpSpPr>
          <p:cNvPr id="12" name="Group 12">
            <a:extLst>
              <a:ext uri="{FF2B5EF4-FFF2-40B4-BE49-F238E27FC236}">
                <a16:creationId xmlns:a16="http://schemas.microsoft.com/office/drawing/2014/main" id="{FE1435CF-9AB9-9AA4-9B99-0137753A82C9}"/>
              </a:ext>
            </a:extLst>
          </p:cNvPr>
          <p:cNvGrpSpPr/>
          <p:nvPr/>
        </p:nvGrpSpPr>
        <p:grpSpPr>
          <a:xfrm rot="-5400000">
            <a:off x="15932021" y="8243693"/>
            <a:ext cx="831964" cy="2034756"/>
            <a:chOff x="0" y="-38100"/>
            <a:chExt cx="233609" cy="571343"/>
          </a:xfrm>
        </p:grpSpPr>
        <p:sp>
          <p:nvSpPr>
            <p:cNvPr id="13" name="Freeform 13">
              <a:extLst>
                <a:ext uri="{FF2B5EF4-FFF2-40B4-BE49-F238E27FC236}">
                  <a16:creationId xmlns:a16="http://schemas.microsoft.com/office/drawing/2014/main" id="{751C9A02-0122-3BD8-3EEB-A91F7B03CBBE}"/>
                </a:ext>
              </a:extLst>
            </p:cNvPr>
            <p:cNvSpPr/>
            <p:nvPr/>
          </p:nvSpPr>
          <p:spPr>
            <a:xfrm>
              <a:off x="0" y="0"/>
              <a:ext cx="233609" cy="533243"/>
            </a:xfrm>
            <a:custGeom>
              <a:avLst/>
              <a:gdLst/>
              <a:ahLst/>
              <a:cxnLst/>
              <a:rect l="l" t="t" r="r" b="b"/>
              <a:pathLst>
                <a:path w="233609" h="533243">
                  <a:moveTo>
                    <a:pt x="116804" y="0"/>
                  </a:moveTo>
                  <a:lnTo>
                    <a:pt x="116804" y="0"/>
                  </a:lnTo>
                  <a:cubicBezTo>
                    <a:pt x="181314" y="0"/>
                    <a:pt x="233609" y="52295"/>
                    <a:pt x="233609" y="116804"/>
                  </a:cubicBezTo>
                  <a:lnTo>
                    <a:pt x="233609" y="416438"/>
                  </a:lnTo>
                  <a:cubicBezTo>
                    <a:pt x="233609" y="480948"/>
                    <a:pt x="181314" y="533243"/>
                    <a:pt x="116804" y="533243"/>
                  </a:cubicBezTo>
                  <a:lnTo>
                    <a:pt x="116804" y="533243"/>
                  </a:lnTo>
                  <a:cubicBezTo>
                    <a:pt x="52295" y="533243"/>
                    <a:pt x="0" y="480948"/>
                    <a:pt x="0" y="416438"/>
                  </a:cubicBezTo>
                  <a:lnTo>
                    <a:pt x="0" y="116804"/>
                  </a:lnTo>
                  <a:cubicBezTo>
                    <a:pt x="0" y="52295"/>
                    <a:pt x="52295" y="0"/>
                    <a:pt x="116804" y="0"/>
                  </a:cubicBezTo>
                  <a:close/>
                </a:path>
              </a:pathLst>
            </a:custGeom>
            <a:solidFill>
              <a:srgbClr val="F7B9A1"/>
            </a:solidFill>
            <a:ln cap="rnd">
              <a:noFill/>
              <a:prstDash val="solid"/>
              <a:round/>
            </a:ln>
          </p:spPr>
          <p:txBody>
            <a:bodyPr/>
            <a:lstStyle/>
            <a:p>
              <a:endParaRPr lang="es-AR" noProof="0" dirty="0"/>
            </a:p>
          </p:txBody>
        </p:sp>
        <p:sp>
          <p:nvSpPr>
            <p:cNvPr id="14" name="TextBox 14">
              <a:extLst>
                <a:ext uri="{FF2B5EF4-FFF2-40B4-BE49-F238E27FC236}">
                  <a16:creationId xmlns:a16="http://schemas.microsoft.com/office/drawing/2014/main" id="{2A8AE37F-203B-4EBF-EBC1-EC733B52D520}"/>
                </a:ext>
              </a:extLst>
            </p:cNvPr>
            <p:cNvSpPr txBox="1"/>
            <p:nvPr/>
          </p:nvSpPr>
          <p:spPr>
            <a:xfrm>
              <a:off x="0" y="-38100"/>
              <a:ext cx="233609" cy="571343"/>
            </a:xfrm>
            <a:prstGeom prst="rect">
              <a:avLst/>
            </a:prstGeom>
          </p:spPr>
          <p:txBody>
            <a:bodyPr lIns="50800" tIns="50800" rIns="50800" bIns="50800" rtlCol="0" anchor="ctr"/>
            <a:lstStyle/>
            <a:p>
              <a:pPr algn="ctr">
                <a:lnSpc>
                  <a:spcPts val="2659"/>
                </a:lnSpc>
              </a:pPr>
              <a:endParaRPr lang="es-AR" noProof="0" dirty="0"/>
            </a:p>
          </p:txBody>
        </p:sp>
      </p:grpSp>
      <p:sp>
        <p:nvSpPr>
          <p:cNvPr id="16" name="TextBox 16">
            <a:extLst>
              <a:ext uri="{FF2B5EF4-FFF2-40B4-BE49-F238E27FC236}">
                <a16:creationId xmlns:a16="http://schemas.microsoft.com/office/drawing/2014/main" id="{39CEE307-907F-EC65-321B-8E5A6683A0FF}"/>
              </a:ext>
            </a:extLst>
          </p:cNvPr>
          <p:cNvSpPr txBox="1"/>
          <p:nvPr/>
        </p:nvSpPr>
        <p:spPr>
          <a:xfrm>
            <a:off x="15742943" y="8966117"/>
            <a:ext cx="1345808" cy="589905"/>
          </a:xfrm>
          <a:prstGeom prst="rect">
            <a:avLst/>
          </a:prstGeom>
        </p:spPr>
        <p:txBody>
          <a:bodyPr lIns="0" tIns="0" rIns="0" bIns="0" rtlCol="0" anchor="t">
            <a:spAutoFit/>
          </a:bodyPr>
          <a:lstStyle/>
          <a:p>
            <a:pPr algn="ctr">
              <a:lnSpc>
                <a:spcPts val="4555"/>
              </a:lnSpc>
            </a:pPr>
            <a:r>
              <a:rPr lang="es-AR" sz="4250" noProof="0" dirty="0">
                <a:solidFill>
                  <a:srgbClr val="291B25"/>
                </a:solidFill>
                <a:latin typeface="Agrandir"/>
                <a:ea typeface="Agrandir"/>
                <a:cs typeface="Agrandir"/>
                <a:sym typeface="Agrandir"/>
              </a:rPr>
              <a:t>19</a:t>
            </a:r>
            <a:endParaRPr lang="es-AR" sz="4257" noProof="0" dirty="0">
              <a:solidFill>
                <a:srgbClr val="291B25"/>
              </a:solidFill>
              <a:latin typeface="Agrandir"/>
              <a:ea typeface="Agrandir"/>
              <a:cs typeface="Agrandir"/>
              <a:sym typeface="Agrandir"/>
            </a:endParaRPr>
          </a:p>
        </p:txBody>
      </p:sp>
      <p:pic>
        <p:nvPicPr>
          <p:cNvPr id="3" name="Imagen 2">
            <a:extLst>
              <a:ext uri="{FF2B5EF4-FFF2-40B4-BE49-F238E27FC236}">
                <a16:creationId xmlns:a16="http://schemas.microsoft.com/office/drawing/2014/main" id="{1A1B1A53-9913-2992-C9A3-FA508F0FD0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3783" y="2178282"/>
            <a:ext cx="14040434" cy="5930436"/>
          </a:xfrm>
          <a:prstGeom prst="rect">
            <a:avLst/>
          </a:prstGeom>
        </p:spPr>
      </p:pic>
    </p:spTree>
    <p:extLst>
      <p:ext uri="{BB962C8B-B14F-4D97-AF65-F5344CB8AC3E}">
        <p14:creationId xmlns:p14="http://schemas.microsoft.com/office/powerpoint/2010/main" val="21373325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a:extLst>
            <a:ext uri="{FF2B5EF4-FFF2-40B4-BE49-F238E27FC236}">
              <a16:creationId xmlns:a16="http://schemas.microsoft.com/office/drawing/2014/main" id="{1D15F956-8332-2037-09C2-1FFAC70D4E85}"/>
            </a:ext>
          </a:extLst>
        </p:cNvPr>
        <p:cNvGrpSpPr/>
        <p:nvPr/>
      </p:nvGrpSpPr>
      <p:grpSpPr>
        <a:xfrm>
          <a:off x="0" y="0"/>
          <a:ext cx="0" cy="0"/>
          <a:chOff x="0" y="0"/>
          <a:chExt cx="0" cy="0"/>
        </a:xfrm>
      </p:grpSpPr>
      <p:grpSp>
        <p:nvGrpSpPr>
          <p:cNvPr id="8" name="Group 8">
            <a:extLst>
              <a:ext uri="{FF2B5EF4-FFF2-40B4-BE49-F238E27FC236}">
                <a16:creationId xmlns:a16="http://schemas.microsoft.com/office/drawing/2014/main" id="{EA1624A3-F839-F94F-45F7-5EB10779F24B}"/>
              </a:ext>
            </a:extLst>
          </p:cNvPr>
          <p:cNvGrpSpPr/>
          <p:nvPr/>
        </p:nvGrpSpPr>
        <p:grpSpPr>
          <a:xfrm rot="-5400000">
            <a:off x="15932021" y="8243693"/>
            <a:ext cx="831964" cy="2034756"/>
            <a:chOff x="0" y="-38100"/>
            <a:chExt cx="233609" cy="571343"/>
          </a:xfrm>
        </p:grpSpPr>
        <p:sp>
          <p:nvSpPr>
            <p:cNvPr id="9" name="Freeform 9">
              <a:extLst>
                <a:ext uri="{FF2B5EF4-FFF2-40B4-BE49-F238E27FC236}">
                  <a16:creationId xmlns:a16="http://schemas.microsoft.com/office/drawing/2014/main" id="{D5728448-1E23-452F-55FC-795B0D276E29}"/>
                </a:ext>
              </a:extLst>
            </p:cNvPr>
            <p:cNvSpPr/>
            <p:nvPr/>
          </p:nvSpPr>
          <p:spPr>
            <a:xfrm>
              <a:off x="0" y="0"/>
              <a:ext cx="233609" cy="533243"/>
            </a:xfrm>
            <a:custGeom>
              <a:avLst/>
              <a:gdLst/>
              <a:ahLst/>
              <a:cxnLst/>
              <a:rect l="l" t="t" r="r" b="b"/>
              <a:pathLst>
                <a:path w="233609" h="533243">
                  <a:moveTo>
                    <a:pt x="116804" y="0"/>
                  </a:moveTo>
                  <a:lnTo>
                    <a:pt x="116804" y="0"/>
                  </a:lnTo>
                  <a:cubicBezTo>
                    <a:pt x="181314" y="0"/>
                    <a:pt x="233609" y="52295"/>
                    <a:pt x="233609" y="116804"/>
                  </a:cubicBezTo>
                  <a:lnTo>
                    <a:pt x="233609" y="416438"/>
                  </a:lnTo>
                  <a:cubicBezTo>
                    <a:pt x="233609" y="480948"/>
                    <a:pt x="181314" y="533243"/>
                    <a:pt x="116804" y="533243"/>
                  </a:cubicBezTo>
                  <a:lnTo>
                    <a:pt x="116804" y="533243"/>
                  </a:lnTo>
                  <a:cubicBezTo>
                    <a:pt x="52295" y="533243"/>
                    <a:pt x="0" y="480948"/>
                    <a:pt x="0" y="416438"/>
                  </a:cubicBezTo>
                  <a:lnTo>
                    <a:pt x="0" y="116804"/>
                  </a:lnTo>
                  <a:cubicBezTo>
                    <a:pt x="0" y="52295"/>
                    <a:pt x="52295" y="0"/>
                    <a:pt x="116804" y="0"/>
                  </a:cubicBezTo>
                  <a:close/>
                </a:path>
              </a:pathLst>
            </a:custGeom>
            <a:solidFill>
              <a:srgbClr val="F7B9A1"/>
            </a:solidFill>
            <a:ln cap="rnd">
              <a:noFill/>
              <a:prstDash val="solid"/>
              <a:round/>
            </a:ln>
          </p:spPr>
          <p:txBody>
            <a:bodyPr/>
            <a:lstStyle/>
            <a:p>
              <a:endParaRPr lang="es-AR" noProof="0" dirty="0"/>
            </a:p>
          </p:txBody>
        </p:sp>
        <p:sp>
          <p:nvSpPr>
            <p:cNvPr id="10" name="TextBox 10">
              <a:extLst>
                <a:ext uri="{FF2B5EF4-FFF2-40B4-BE49-F238E27FC236}">
                  <a16:creationId xmlns:a16="http://schemas.microsoft.com/office/drawing/2014/main" id="{7103A38D-6A37-833C-6A1B-6DA520863DB7}"/>
                </a:ext>
              </a:extLst>
            </p:cNvPr>
            <p:cNvSpPr txBox="1"/>
            <p:nvPr/>
          </p:nvSpPr>
          <p:spPr>
            <a:xfrm>
              <a:off x="0" y="-38100"/>
              <a:ext cx="233609" cy="571343"/>
            </a:xfrm>
            <a:prstGeom prst="rect">
              <a:avLst/>
            </a:prstGeom>
          </p:spPr>
          <p:txBody>
            <a:bodyPr lIns="50800" tIns="50800" rIns="50800" bIns="50800" rtlCol="0" anchor="ctr"/>
            <a:lstStyle/>
            <a:p>
              <a:pPr algn="ctr">
                <a:lnSpc>
                  <a:spcPts val="2659"/>
                </a:lnSpc>
              </a:pPr>
              <a:endParaRPr lang="es-AR" noProof="0" dirty="0"/>
            </a:p>
          </p:txBody>
        </p:sp>
      </p:grpSp>
      <p:sp>
        <p:nvSpPr>
          <p:cNvPr id="11" name="TextBox 11">
            <a:extLst>
              <a:ext uri="{FF2B5EF4-FFF2-40B4-BE49-F238E27FC236}">
                <a16:creationId xmlns:a16="http://schemas.microsoft.com/office/drawing/2014/main" id="{2C69904C-EA1F-B7DC-250C-6B9876A0FF0D}"/>
              </a:ext>
            </a:extLst>
          </p:cNvPr>
          <p:cNvSpPr txBox="1"/>
          <p:nvPr/>
        </p:nvSpPr>
        <p:spPr>
          <a:xfrm>
            <a:off x="15742943" y="8966117"/>
            <a:ext cx="1345808" cy="589905"/>
          </a:xfrm>
          <a:prstGeom prst="rect">
            <a:avLst/>
          </a:prstGeom>
        </p:spPr>
        <p:txBody>
          <a:bodyPr lIns="0" tIns="0" rIns="0" bIns="0" rtlCol="0" anchor="t">
            <a:spAutoFit/>
          </a:bodyPr>
          <a:lstStyle/>
          <a:p>
            <a:pPr algn="ctr">
              <a:lnSpc>
                <a:spcPts val="4555"/>
              </a:lnSpc>
            </a:pPr>
            <a:r>
              <a:rPr lang="es-AR" sz="4250" noProof="0" dirty="0">
                <a:solidFill>
                  <a:srgbClr val="291B25"/>
                </a:solidFill>
                <a:latin typeface="Agrandir"/>
                <a:ea typeface="Agrandir"/>
                <a:cs typeface="Agrandir"/>
                <a:sym typeface="Agrandir"/>
              </a:rPr>
              <a:t>20</a:t>
            </a:r>
            <a:endParaRPr lang="es-AR" sz="4257" noProof="0" dirty="0">
              <a:solidFill>
                <a:srgbClr val="291B25"/>
              </a:solidFill>
              <a:latin typeface="Agrandir"/>
              <a:ea typeface="Agrandir"/>
              <a:cs typeface="Agrandir"/>
              <a:sym typeface="Agrandir"/>
            </a:endParaRPr>
          </a:p>
        </p:txBody>
      </p:sp>
      <p:sp>
        <p:nvSpPr>
          <p:cNvPr id="16" name="TextBox 16">
            <a:extLst>
              <a:ext uri="{FF2B5EF4-FFF2-40B4-BE49-F238E27FC236}">
                <a16:creationId xmlns:a16="http://schemas.microsoft.com/office/drawing/2014/main" id="{7298A101-A88E-2BB4-BA66-2DE04CB6B369}"/>
              </a:ext>
            </a:extLst>
          </p:cNvPr>
          <p:cNvSpPr txBox="1"/>
          <p:nvPr/>
        </p:nvSpPr>
        <p:spPr>
          <a:xfrm>
            <a:off x="713300" y="525031"/>
            <a:ext cx="7823756" cy="1233415"/>
          </a:xfrm>
          <a:prstGeom prst="rect">
            <a:avLst/>
          </a:prstGeom>
        </p:spPr>
        <p:txBody>
          <a:bodyPr lIns="0" tIns="0" rIns="0" bIns="0" rtlCol="0" anchor="t">
            <a:spAutoFit/>
          </a:bodyPr>
          <a:lstStyle/>
          <a:p>
            <a:pPr>
              <a:lnSpc>
                <a:spcPts val="9630"/>
              </a:lnSpc>
            </a:pPr>
            <a:r>
              <a:rPr lang="es-AR" sz="9000" noProof="0" dirty="0">
                <a:solidFill>
                  <a:srgbClr val="291B25"/>
                </a:solidFill>
                <a:latin typeface="Agrandir"/>
                <a:ea typeface="Agrandir"/>
                <a:cs typeface="Agrandir"/>
              </a:rPr>
              <a:t>Gráfico 1</a:t>
            </a:r>
          </a:p>
        </p:txBody>
      </p:sp>
      <p:sp>
        <p:nvSpPr>
          <p:cNvPr id="17" name="TextBox 17">
            <a:extLst>
              <a:ext uri="{FF2B5EF4-FFF2-40B4-BE49-F238E27FC236}">
                <a16:creationId xmlns:a16="http://schemas.microsoft.com/office/drawing/2014/main" id="{12C7C72D-649E-E94A-47A7-201C7DB82E36}"/>
              </a:ext>
            </a:extLst>
          </p:cNvPr>
          <p:cNvSpPr txBox="1"/>
          <p:nvPr/>
        </p:nvSpPr>
        <p:spPr>
          <a:xfrm>
            <a:off x="713300" y="3664704"/>
            <a:ext cx="7666806" cy="3680303"/>
          </a:xfrm>
          <a:prstGeom prst="rect">
            <a:avLst/>
          </a:prstGeom>
        </p:spPr>
        <p:txBody>
          <a:bodyPr wrap="square" lIns="0" tIns="0" rIns="0" bIns="0" rtlCol="0" anchor="t">
            <a:spAutoFit/>
          </a:bodyPr>
          <a:lstStyle/>
          <a:p>
            <a:pPr algn="just">
              <a:lnSpc>
                <a:spcPts val="3219"/>
              </a:lnSpc>
              <a:spcBef>
                <a:spcPct val="0"/>
              </a:spcBef>
            </a:pPr>
            <a:r>
              <a:rPr lang="es-AR" sz="2600" noProof="0" dirty="0">
                <a:solidFill>
                  <a:srgbClr val="291B25"/>
                </a:solidFill>
                <a:latin typeface="Agrandir Narrow"/>
                <a:ea typeface="Agrandir Narrow"/>
                <a:cs typeface="Agrandir Narrow"/>
              </a:rPr>
              <a:t>El grafico muestra </a:t>
            </a:r>
            <a:r>
              <a:rPr lang="es-AR" sz="2600" dirty="0">
                <a:solidFill>
                  <a:srgbClr val="291B25"/>
                </a:solidFill>
                <a:latin typeface="Agrandir Narrow"/>
                <a:ea typeface="Agrandir Narrow"/>
                <a:cs typeface="Agrandir Narrow"/>
              </a:rPr>
              <a:t>para</a:t>
            </a:r>
            <a:r>
              <a:rPr lang="es-AR" sz="2600" noProof="0" dirty="0">
                <a:solidFill>
                  <a:srgbClr val="291B25"/>
                </a:solidFill>
                <a:latin typeface="Agrandir Narrow"/>
                <a:ea typeface="Agrandir Narrow"/>
                <a:cs typeface="Agrandir Narrow"/>
              </a:rPr>
              <a:t> cada comuna la diferencia en puntos porcentuales de la proporción de uso de bicicletas por parte de mujeres en el día y en la noche. Valores </a:t>
            </a:r>
            <a:r>
              <a:rPr lang="es-AR" sz="2600" dirty="0">
                <a:solidFill>
                  <a:srgbClr val="291B25"/>
                </a:solidFill>
                <a:latin typeface="Agrandir Narrow"/>
                <a:ea typeface="Agrandir Narrow"/>
                <a:cs typeface="Agrandir Narrow"/>
              </a:rPr>
              <a:t>más</a:t>
            </a:r>
            <a:r>
              <a:rPr lang="es-AR" sz="2600" noProof="0" dirty="0">
                <a:solidFill>
                  <a:srgbClr val="291B25"/>
                </a:solidFill>
                <a:latin typeface="Agrandir Narrow"/>
                <a:ea typeface="Agrandir Narrow"/>
                <a:cs typeface="Agrandir Narrow"/>
              </a:rPr>
              <a:t> </a:t>
            </a:r>
            <a:r>
              <a:rPr lang="es-AR" sz="2600" dirty="0">
                <a:solidFill>
                  <a:srgbClr val="291B25"/>
                </a:solidFill>
                <a:latin typeface="Agrandir Narrow"/>
                <a:ea typeface="Agrandir Narrow"/>
                <a:cs typeface="Agrandir Narrow"/>
              </a:rPr>
              <a:t>bajos implican</a:t>
            </a:r>
            <a:r>
              <a:rPr lang="es-AR" sz="2600" noProof="0" dirty="0">
                <a:solidFill>
                  <a:srgbClr val="291B25"/>
                </a:solidFill>
                <a:latin typeface="Agrandir Narrow"/>
                <a:ea typeface="Agrandir Narrow"/>
                <a:cs typeface="Agrandir Narrow"/>
              </a:rPr>
              <a:t> una mayor caída durante la noche respecto </a:t>
            </a:r>
            <a:r>
              <a:rPr lang="es-AR" sz="2600" dirty="0">
                <a:solidFill>
                  <a:srgbClr val="291B25"/>
                </a:solidFill>
                <a:latin typeface="Agrandir Narrow"/>
                <a:ea typeface="Agrandir Narrow"/>
                <a:cs typeface="Agrandir Narrow"/>
              </a:rPr>
              <a:t>al día.</a:t>
            </a:r>
            <a:endParaRPr lang="es-AR" sz="2600" noProof="0" dirty="0">
              <a:solidFill>
                <a:srgbClr val="291B25"/>
              </a:solidFill>
              <a:latin typeface="Agrandir Narrow"/>
              <a:ea typeface="Agrandir Narrow"/>
              <a:cs typeface="Agrandir Narrow"/>
            </a:endParaRPr>
          </a:p>
          <a:p>
            <a:pPr algn="just">
              <a:lnSpc>
                <a:spcPts val="3219"/>
              </a:lnSpc>
              <a:spcBef>
                <a:spcPct val="0"/>
              </a:spcBef>
            </a:pPr>
            <a:r>
              <a:rPr lang="es-AR" sz="2600" noProof="0" dirty="0">
                <a:solidFill>
                  <a:srgbClr val="291B25"/>
                </a:solidFill>
                <a:latin typeface="Agrandir Narrow"/>
                <a:ea typeface="Agrandir Narrow"/>
                <a:cs typeface="Agrandir Narrow"/>
              </a:rPr>
              <a:t>Se observa una caída marcada en casi </a:t>
            </a:r>
            <a:r>
              <a:rPr lang="es-AR" sz="2600" dirty="0">
                <a:solidFill>
                  <a:srgbClr val="291B25"/>
                </a:solidFill>
                <a:latin typeface="Agrandir Narrow"/>
                <a:ea typeface="Agrandir Narrow"/>
                <a:cs typeface="Agrandir Narrow"/>
              </a:rPr>
              <a:t>todas las comunas</a:t>
            </a:r>
            <a:r>
              <a:rPr lang="es-AR" sz="2600" noProof="0" dirty="0">
                <a:solidFill>
                  <a:srgbClr val="291B25"/>
                </a:solidFill>
                <a:latin typeface="Agrandir Narrow"/>
                <a:ea typeface="Agrandir Narrow"/>
                <a:cs typeface="Agrandir Narrow"/>
              </a:rPr>
              <a:t>, con heterogeneidades.</a:t>
            </a:r>
            <a:r>
              <a:rPr lang="es-AR" sz="2600" dirty="0">
                <a:solidFill>
                  <a:srgbClr val="291B25"/>
                </a:solidFill>
                <a:latin typeface="Agrandir Narrow"/>
                <a:ea typeface="Agrandir Narrow"/>
                <a:cs typeface="Agrandir Narrow"/>
              </a:rPr>
              <a:t> Se destacan especialmente las comunas 14 (Palermo),  2 (Recoleta) y 5 (Almagro y Boedo).</a:t>
            </a:r>
            <a:endParaRPr lang="es-AR" sz="2600" noProof="0" dirty="0">
              <a:solidFill>
                <a:srgbClr val="291B25"/>
              </a:solidFill>
              <a:latin typeface="Agrandir Narrow"/>
              <a:ea typeface="Agrandir Narrow"/>
              <a:cs typeface="Agrandir Narrow"/>
            </a:endParaRPr>
          </a:p>
        </p:txBody>
      </p:sp>
      <p:pic>
        <p:nvPicPr>
          <p:cNvPr id="34" name="Imagen 33">
            <a:extLst>
              <a:ext uri="{FF2B5EF4-FFF2-40B4-BE49-F238E27FC236}">
                <a16:creationId xmlns:a16="http://schemas.microsoft.com/office/drawing/2014/main" id="{947F8056-78B5-4846-4960-F83239E06D1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44000" y="413627"/>
            <a:ext cx="8430700" cy="8430700"/>
          </a:xfrm>
          <a:prstGeom prst="rect">
            <a:avLst/>
          </a:prstGeom>
        </p:spPr>
      </p:pic>
    </p:spTree>
    <p:extLst>
      <p:ext uri="{BB962C8B-B14F-4D97-AF65-F5344CB8AC3E}">
        <p14:creationId xmlns:p14="http://schemas.microsoft.com/office/powerpoint/2010/main" val="28104970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a:extLst>
            <a:ext uri="{FF2B5EF4-FFF2-40B4-BE49-F238E27FC236}">
              <a16:creationId xmlns:a16="http://schemas.microsoft.com/office/drawing/2014/main" id="{6337AA47-8832-ED7F-9267-0E6824A33889}"/>
            </a:ext>
          </a:extLst>
        </p:cNvPr>
        <p:cNvGrpSpPr/>
        <p:nvPr/>
      </p:nvGrpSpPr>
      <p:grpSpPr>
        <a:xfrm>
          <a:off x="0" y="0"/>
          <a:ext cx="0" cy="0"/>
          <a:chOff x="0" y="0"/>
          <a:chExt cx="0" cy="0"/>
        </a:xfrm>
      </p:grpSpPr>
      <p:grpSp>
        <p:nvGrpSpPr>
          <p:cNvPr id="8" name="Group 8">
            <a:extLst>
              <a:ext uri="{FF2B5EF4-FFF2-40B4-BE49-F238E27FC236}">
                <a16:creationId xmlns:a16="http://schemas.microsoft.com/office/drawing/2014/main" id="{2D9B3DD7-C53E-A69C-093F-58E6B17C4056}"/>
              </a:ext>
            </a:extLst>
          </p:cNvPr>
          <p:cNvGrpSpPr/>
          <p:nvPr/>
        </p:nvGrpSpPr>
        <p:grpSpPr>
          <a:xfrm rot="-5400000">
            <a:off x="15932021" y="8243693"/>
            <a:ext cx="831964" cy="2034756"/>
            <a:chOff x="0" y="-38100"/>
            <a:chExt cx="233609" cy="571343"/>
          </a:xfrm>
        </p:grpSpPr>
        <p:sp>
          <p:nvSpPr>
            <p:cNvPr id="9" name="Freeform 9">
              <a:extLst>
                <a:ext uri="{FF2B5EF4-FFF2-40B4-BE49-F238E27FC236}">
                  <a16:creationId xmlns:a16="http://schemas.microsoft.com/office/drawing/2014/main" id="{F6774E6D-EF67-F11D-4029-5295E3717589}"/>
                </a:ext>
              </a:extLst>
            </p:cNvPr>
            <p:cNvSpPr/>
            <p:nvPr/>
          </p:nvSpPr>
          <p:spPr>
            <a:xfrm>
              <a:off x="0" y="0"/>
              <a:ext cx="233609" cy="533243"/>
            </a:xfrm>
            <a:custGeom>
              <a:avLst/>
              <a:gdLst/>
              <a:ahLst/>
              <a:cxnLst/>
              <a:rect l="l" t="t" r="r" b="b"/>
              <a:pathLst>
                <a:path w="233609" h="533243">
                  <a:moveTo>
                    <a:pt x="116804" y="0"/>
                  </a:moveTo>
                  <a:lnTo>
                    <a:pt x="116804" y="0"/>
                  </a:lnTo>
                  <a:cubicBezTo>
                    <a:pt x="181314" y="0"/>
                    <a:pt x="233609" y="52295"/>
                    <a:pt x="233609" y="116804"/>
                  </a:cubicBezTo>
                  <a:lnTo>
                    <a:pt x="233609" y="416438"/>
                  </a:lnTo>
                  <a:cubicBezTo>
                    <a:pt x="233609" y="480948"/>
                    <a:pt x="181314" y="533243"/>
                    <a:pt x="116804" y="533243"/>
                  </a:cubicBezTo>
                  <a:lnTo>
                    <a:pt x="116804" y="533243"/>
                  </a:lnTo>
                  <a:cubicBezTo>
                    <a:pt x="52295" y="533243"/>
                    <a:pt x="0" y="480948"/>
                    <a:pt x="0" y="416438"/>
                  </a:cubicBezTo>
                  <a:lnTo>
                    <a:pt x="0" y="116804"/>
                  </a:lnTo>
                  <a:cubicBezTo>
                    <a:pt x="0" y="52295"/>
                    <a:pt x="52295" y="0"/>
                    <a:pt x="116804" y="0"/>
                  </a:cubicBezTo>
                  <a:close/>
                </a:path>
              </a:pathLst>
            </a:custGeom>
            <a:solidFill>
              <a:srgbClr val="F7B9A1"/>
            </a:solidFill>
            <a:ln cap="rnd">
              <a:noFill/>
              <a:prstDash val="solid"/>
              <a:round/>
            </a:ln>
          </p:spPr>
          <p:txBody>
            <a:bodyPr/>
            <a:lstStyle/>
            <a:p>
              <a:endParaRPr lang="es-AR" noProof="0" dirty="0"/>
            </a:p>
          </p:txBody>
        </p:sp>
        <p:sp>
          <p:nvSpPr>
            <p:cNvPr id="10" name="TextBox 10">
              <a:extLst>
                <a:ext uri="{FF2B5EF4-FFF2-40B4-BE49-F238E27FC236}">
                  <a16:creationId xmlns:a16="http://schemas.microsoft.com/office/drawing/2014/main" id="{518BC034-CFA9-0B3A-0DBF-61052850AABF}"/>
                </a:ext>
              </a:extLst>
            </p:cNvPr>
            <p:cNvSpPr txBox="1"/>
            <p:nvPr/>
          </p:nvSpPr>
          <p:spPr>
            <a:xfrm>
              <a:off x="0" y="-38100"/>
              <a:ext cx="233609" cy="571343"/>
            </a:xfrm>
            <a:prstGeom prst="rect">
              <a:avLst/>
            </a:prstGeom>
          </p:spPr>
          <p:txBody>
            <a:bodyPr lIns="50800" tIns="50800" rIns="50800" bIns="50800" rtlCol="0" anchor="ctr"/>
            <a:lstStyle/>
            <a:p>
              <a:pPr algn="ctr">
                <a:lnSpc>
                  <a:spcPts val="2659"/>
                </a:lnSpc>
              </a:pPr>
              <a:endParaRPr lang="es-AR" noProof="0" dirty="0"/>
            </a:p>
          </p:txBody>
        </p:sp>
      </p:grpSp>
      <p:sp>
        <p:nvSpPr>
          <p:cNvPr id="11" name="TextBox 11">
            <a:extLst>
              <a:ext uri="{FF2B5EF4-FFF2-40B4-BE49-F238E27FC236}">
                <a16:creationId xmlns:a16="http://schemas.microsoft.com/office/drawing/2014/main" id="{9D516314-FC79-BB98-6871-918B05370B6B}"/>
              </a:ext>
            </a:extLst>
          </p:cNvPr>
          <p:cNvSpPr txBox="1"/>
          <p:nvPr/>
        </p:nvSpPr>
        <p:spPr>
          <a:xfrm>
            <a:off x="15742943" y="8966117"/>
            <a:ext cx="1345808" cy="589905"/>
          </a:xfrm>
          <a:prstGeom prst="rect">
            <a:avLst/>
          </a:prstGeom>
        </p:spPr>
        <p:txBody>
          <a:bodyPr wrap="square" lIns="0" tIns="0" rIns="0" bIns="0" rtlCol="0" anchor="t">
            <a:spAutoFit/>
          </a:bodyPr>
          <a:lstStyle/>
          <a:p>
            <a:pPr algn="ctr">
              <a:lnSpc>
                <a:spcPts val="4555"/>
              </a:lnSpc>
            </a:pPr>
            <a:r>
              <a:rPr lang="es-AR" sz="4250" noProof="0" dirty="0">
                <a:solidFill>
                  <a:srgbClr val="291B25"/>
                </a:solidFill>
                <a:latin typeface="Agrandir"/>
                <a:ea typeface="Agrandir"/>
                <a:cs typeface="Agrandir"/>
                <a:sym typeface="Agrandir"/>
              </a:rPr>
              <a:t>21</a:t>
            </a:r>
            <a:endParaRPr lang="es-AR" sz="4257" noProof="0" dirty="0">
              <a:solidFill>
                <a:srgbClr val="291B25"/>
              </a:solidFill>
              <a:latin typeface="Agrandir"/>
              <a:ea typeface="Agrandir"/>
              <a:cs typeface="Agrandir"/>
              <a:sym typeface="Agrandir"/>
            </a:endParaRPr>
          </a:p>
        </p:txBody>
      </p:sp>
      <p:sp>
        <p:nvSpPr>
          <p:cNvPr id="16" name="TextBox 16">
            <a:extLst>
              <a:ext uri="{FF2B5EF4-FFF2-40B4-BE49-F238E27FC236}">
                <a16:creationId xmlns:a16="http://schemas.microsoft.com/office/drawing/2014/main" id="{B5E6F94E-3595-8862-2F9E-E99D95BB2D91}"/>
              </a:ext>
            </a:extLst>
          </p:cNvPr>
          <p:cNvSpPr txBox="1"/>
          <p:nvPr/>
        </p:nvSpPr>
        <p:spPr>
          <a:xfrm>
            <a:off x="713300" y="525031"/>
            <a:ext cx="7823756" cy="1233415"/>
          </a:xfrm>
          <a:prstGeom prst="rect">
            <a:avLst/>
          </a:prstGeom>
        </p:spPr>
        <p:txBody>
          <a:bodyPr lIns="0" tIns="0" rIns="0" bIns="0" rtlCol="0" anchor="t">
            <a:spAutoFit/>
          </a:bodyPr>
          <a:lstStyle/>
          <a:p>
            <a:pPr>
              <a:lnSpc>
                <a:spcPts val="9630"/>
              </a:lnSpc>
            </a:pPr>
            <a:r>
              <a:rPr lang="es-AR" sz="9000" noProof="0" dirty="0">
                <a:solidFill>
                  <a:srgbClr val="291B25"/>
                </a:solidFill>
                <a:latin typeface="Agrandir"/>
                <a:ea typeface="Agrandir"/>
                <a:cs typeface="Agrandir"/>
              </a:rPr>
              <a:t>Gráfico 2</a:t>
            </a:r>
          </a:p>
        </p:txBody>
      </p:sp>
      <p:sp>
        <p:nvSpPr>
          <p:cNvPr id="17" name="TextBox 17">
            <a:extLst>
              <a:ext uri="{FF2B5EF4-FFF2-40B4-BE49-F238E27FC236}">
                <a16:creationId xmlns:a16="http://schemas.microsoft.com/office/drawing/2014/main" id="{9C906E7B-D16C-675E-DA19-E8427B0D5FA2}"/>
              </a:ext>
            </a:extLst>
          </p:cNvPr>
          <p:cNvSpPr txBox="1"/>
          <p:nvPr/>
        </p:nvSpPr>
        <p:spPr>
          <a:xfrm>
            <a:off x="1228170" y="1759704"/>
            <a:ext cx="12937306" cy="397353"/>
          </a:xfrm>
          <a:prstGeom prst="rect">
            <a:avLst/>
          </a:prstGeom>
        </p:spPr>
        <p:txBody>
          <a:bodyPr wrap="square" lIns="0" tIns="0" rIns="0" bIns="0" rtlCol="0" anchor="t">
            <a:spAutoFit/>
          </a:bodyPr>
          <a:lstStyle/>
          <a:p>
            <a:pPr algn="just">
              <a:lnSpc>
                <a:spcPts val="3219"/>
              </a:lnSpc>
              <a:spcBef>
                <a:spcPct val="0"/>
              </a:spcBef>
            </a:pPr>
            <a:r>
              <a:rPr lang="es-AR" sz="2600" noProof="0" dirty="0">
                <a:solidFill>
                  <a:srgbClr val="291B25"/>
                </a:solidFill>
                <a:latin typeface="Agrandir Narrow"/>
                <a:ea typeface="Agrandir Narrow"/>
                <a:cs typeface="Agrandir Narrow"/>
              </a:rPr>
              <a:t>El gráfico muestra la proporción de uso de mujeres durante el día y la noche por comunas</a:t>
            </a:r>
          </a:p>
        </p:txBody>
      </p:sp>
      <p:pic>
        <p:nvPicPr>
          <p:cNvPr id="18" name="Imagen 17">
            <a:extLst>
              <a:ext uri="{FF2B5EF4-FFF2-40B4-BE49-F238E27FC236}">
                <a16:creationId xmlns:a16="http://schemas.microsoft.com/office/drawing/2014/main" id="{01CBA52B-A0A2-EC3C-5E90-AC872B5F201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50645" y="2565304"/>
            <a:ext cx="10972822" cy="6400813"/>
          </a:xfrm>
          <a:prstGeom prst="rect">
            <a:avLst/>
          </a:prstGeom>
        </p:spPr>
      </p:pic>
    </p:spTree>
    <p:extLst>
      <p:ext uri="{BB962C8B-B14F-4D97-AF65-F5344CB8AC3E}">
        <p14:creationId xmlns:p14="http://schemas.microsoft.com/office/powerpoint/2010/main" val="14021673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B9A1"/>
        </a:solidFill>
        <a:effectLst/>
      </p:bgPr>
    </p:bg>
    <p:spTree>
      <p:nvGrpSpPr>
        <p:cNvPr id="1" name=""/>
        <p:cNvGrpSpPr/>
        <p:nvPr/>
      </p:nvGrpSpPr>
      <p:grpSpPr>
        <a:xfrm>
          <a:off x="0" y="0"/>
          <a:ext cx="0" cy="0"/>
          <a:chOff x="0" y="0"/>
          <a:chExt cx="0" cy="0"/>
        </a:xfrm>
      </p:grpSpPr>
      <p:grpSp>
        <p:nvGrpSpPr>
          <p:cNvPr id="2" name="Group 2"/>
          <p:cNvGrpSpPr/>
          <p:nvPr/>
        </p:nvGrpSpPr>
        <p:grpSpPr>
          <a:xfrm>
            <a:off x="-5277580" y="5749144"/>
            <a:ext cx="10555161" cy="1055516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F6E9"/>
            </a:solidFill>
          </p:spPr>
          <p:txBody>
            <a:bodyPr/>
            <a:lstStyle/>
            <a:p>
              <a:endParaRPr lang="es-AR" noProof="0" dirty="0"/>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lang="es-AR" noProof="0" dirty="0"/>
            </a:p>
          </p:txBody>
        </p:sp>
      </p:grpSp>
      <p:grpSp>
        <p:nvGrpSpPr>
          <p:cNvPr id="5" name="Group 5"/>
          <p:cNvGrpSpPr/>
          <p:nvPr/>
        </p:nvGrpSpPr>
        <p:grpSpPr>
          <a:xfrm>
            <a:off x="13176873" y="-6770540"/>
            <a:ext cx="10555161" cy="1055516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F6E9"/>
            </a:solidFill>
          </p:spPr>
          <p:txBody>
            <a:bodyPr/>
            <a:lstStyle/>
            <a:p>
              <a:endParaRPr lang="es-AR" noProof="0" dirty="0"/>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lang="es-AR" noProof="0" dirty="0"/>
            </a:p>
          </p:txBody>
        </p:sp>
      </p:grpSp>
      <p:grpSp>
        <p:nvGrpSpPr>
          <p:cNvPr id="8" name="Group 8"/>
          <p:cNvGrpSpPr/>
          <p:nvPr/>
        </p:nvGrpSpPr>
        <p:grpSpPr>
          <a:xfrm>
            <a:off x="12852303" y="8070076"/>
            <a:ext cx="5910126" cy="5910126"/>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F6E9"/>
            </a:solidFill>
          </p:spPr>
          <p:txBody>
            <a:bodyPr/>
            <a:lstStyle/>
            <a:p>
              <a:endParaRPr lang="es-AR" noProof="0" dirty="0"/>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lang="es-AR" noProof="0" dirty="0"/>
            </a:p>
          </p:txBody>
        </p:sp>
      </p:grpSp>
      <p:grpSp>
        <p:nvGrpSpPr>
          <p:cNvPr id="11" name="Group 11"/>
          <p:cNvGrpSpPr/>
          <p:nvPr/>
        </p:nvGrpSpPr>
        <p:grpSpPr>
          <a:xfrm>
            <a:off x="1644798" y="2123037"/>
            <a:ext cx="14998404" cy="5461897"/>
            <a:chOff x="0" y="-38100"/>
            <a:chExt cx="3950197" cy="1438524"/>
          </a:xfrm>
        </p:grpSpPr>
        <p:sp>
          <p:nvSpPr>
            <p:cNvPr id="12" name="Freeform 12"/>
            <p:cNvSpPr/>
            <p:nvPr/>
          </p:nvSpPr>
          <p:spPr>
            <a:xfrm>
              <a:off x="0" y="0"/>
              <a:ext cx="3950197" cy="1400424"/>
            </a:xfrm>
            <a:custGeom>
              <a:avLst/>
              <a:gdLst/>
              <a:ahLst/>
              <a:cxnLst/>
              <a:rect l="l" t="t" r="r" b="b"/>
              <a:pathLst>
                <a:path w="3950197" h="1400424">
                  <a:moveTo>
                    <a:pt x="51618" y="0"/>
                  </a:moveTo>
                  <a:lnTo>
                    <a:pt x="3898579" y="0"/>
                  </a:lnTo>
                  <a:cubicBezTo>
                    <a:pt x="3912269" y="0"/>
                    <a:pt x="3925398" y="5438"/>
                    <a:pt x="3935078" y="15119"/>
                  </a:cubicBezTo>
                  <a:cubicBezTo>
                    <a:pt x="3944758" y="24799"/>
                    <a:pt x="3950197" y="37928"/>
                    <a:pt x="3950197" y="51618"/>
                  </a:cubicBezTo>
                  <a:lnTo>
                    <a:pt x="3950197" y="1348806"/>
                  </a:lnTo>
                  <a:cubicBezTo>
                    <a:pt x="3950197" y="1377314"/>
                    <a:pt x="3927087" y="1400424"/>
                    <a:pt x="3898579" y="1400424"/>
                  </a:cubicBezTo>
                  <a:lnTo>
                    <a:pt x="51618" y="1400424"/>
                  </a:lnTo>
                  <a:cubicBezTo>
                    <a:pt x="37928" y="1400424"/>
                    <a:pt x="24799" y="1394986"/>
                    <a:pt x="15119" y="1385306"/>
                  </a:cubicBezTo>
                  <a:cubicBezTo>
                    <a:pt x="5438" y="1375625"/>
                    <a:pt x="0" y="1362496"/>
                    <a:pt x="0" y="1348806"/>
                  </a:cubicBezTo>
                  <a:lnTo>
                    <a:pt x="0" y="51618"/>
                  </a:lnTo>
                  <a:cubicBezTo>
                    <a:pt x="0" y="23110"/>
                    <a:pt x="23110" y="0"/>
                    <a:pt x="51618" y="0"/>
                  </a:cubicBezTo>
                  <a:close/>
                </a:path>
              </a:pathLst>
            </a:custGeom>
            <a:solidFill>
              <a:srgbClr val="EBB488"/>
            </a:solidFill>
            <a:ln cap="rnd">
              <a:noFill/>
              <a:prstDash val="solid"/>
              <a:round/>
            </a:ln>
          </p:spPr>
          <p:txBody>
            <a:bodyPr/>
            <a:lstStyle/>
            <a:p>
              <a:endParaRPr lang="es-AR" noProof="0" dirty="0"/>
            </a:p>
          </p:txBody>
        </p:sp>
        <p:sp>
          <p:nvSpPr>
            <p:cNvPr id="13" name="TextBox 13"/>
            <p:cNvSpPr txBox="1"/>
            <p:nvPr/>
          </p:nvSpPr>
          <p:spPr>
            <a:xfrm>
              <a:off x="0" y="-38100"/>
              <a:ext cx="3950197" cy="1438524"/>
            </a:xfrm>
            <a:prstGeom prst="rect">
              <a:avLst/>
            </a:prstGeom>
          </p:spPr>
          <p:txBody>
            <a:bodyPr lIns="50800" tIns="50800" rIns="50800" bIns="50800" rtlCol="0" anchor="ctr"/>
            <a:lstStyle/>
            <a:p>
              <a:pPr algn="ctr">
                <a:lnSpc>
                  <a:spcPts val="2659"/>
                </a:lnSpc>
              </a:pPr>
              <a:endParaRPr lang="es-AR" noProof="0" dirty="0"/>
            </a:p>
          </p:txBody>
        </p:sp>
      </p:grpSp>
      <p:sp>
        <p:nvSpPr>
          <p:cNvPr id="14" name="TextBox 14"/>
          <p:cNvSpPr txBox="1"/>
          <p:nvPr/>
        </p:nvSpPr>
        <p:spPr>
          <a:xfrm>
            <a:off x="1874457" y="4226651"/>
            <a:ext cx="14548020" cy="1828578"/>
          </a:xfrm>
          <a:prstGeom prst="rect">
            <a:avLst/>
          </a:prstGeom>
        </p:spPr>
        <p:txBody>
          <a:bodyPr lIns="0" tIns="0" rIns="0" bIns="0" rtlCol="0" anchor="t">
            <a:spAutoFit/>
          </a:bodyPr>
          <a:lstStyle/>
          <a:p>
            <a:pPr algn="ctr">
              <a:lnSpc>
                <a:spcPts val="13822"/>
              </a:lnSpc>
            </a:pPr>
            <a:r>
              <a:rPr lang="es-AR" sz="14550" noProof="0" dirty="0">
                <a:solidFill>
                  <a:schemeClr val="bg1"/>
                </a:solidFill>
                <a:latin typeface="Agrandir"/>
                <a:ea typeface="Agrandir"/>
                <a:cs typeface="Agrandir"/>
                <a:sym typeface="Agrandir"/>
              </a:rPr>
              <a:t>Conclusiones</a:t>
            </a:r>
            <a:endParaRPr lang="es-AR" sz="14550" noProof="0" dirty="0">
              <a:solidFill>
                <a:schemeClr val="bg1"/>
              </a:solidFill>
              <a:latin typeface="Agrandir"/>
              <a:ea typeface="Agrandir"/>
              <a:cs typeface="Agrandir"/>
            </a:endParaRPr>
          </a:p>
        </p:txBody>
      </p:sp>
      <p:grpSp>
        <p:nvGrpSpPr>
          <p:cNvPr id="24" name="Group 20">
            <a:extLst>
              <a:ext uri="{FF2B5EF4-FFF2-40B4-BE49-F238E27FC236}">
                <a16:creationId xmlns:a16="http://schemas.microsoft.com/office/drawing/2014/main" id="{27178CDA-8491-0ADB-EB14-A945DD45EB00}"/>
              </a:ext>
            </a:extLst>
          </p:cNvPr>
          <p:cNvGrpSpPr/>
          <p:nvPr/>
        </p:nvGrpSpPr>
        <p:grpSpPr>
          <a:xfrm rot="-5400000">
            <a:off x="15932021" y="8243693"/>
            <a:ext cx="831964" cy="2034756"/>
            <a:chOff x="0" y="-38100"/>
            <a:chExt cx="233609" cy="571343"/>
          </a:xfrm>
        </p:grpSpPr>
        <p:sp>
          <p:nvSpPr>
            <p:cNvPr id="22" name="Freeform 21">
              <a:extLst>
                <a:ext uri="{FF2B5EF4-FFF2-40B4-BE49-F238E27FC236}">
                  <a16:creationId xmlns:a16="http://schemas.microsoft.com/office/drawing/2014/main" id="{D77A0CAD-ABE0-5521-0E60-E7D480D980DC}"/>
                </a:ext>
              </a:extLst>
            </p:cNvPr>
            <p:cNvSpPr/>
            <p:nvPr/>
          </p:nvSpPr>
          <p:spPr>
            <a:xfrm>
              <a:off x="0" y="0"/>
              <a:ext cx="233609" cy="533243"/>
            </a:xfrm>
            <a:custGeom>
              <a:avLst/>
              <a:gdLst/>
              <a:ahLst/>
              <a:cxnLst/>
              <a:rect l="l" t="t" r="r" b="b"/>
              <a:pathLst>
                <a:path w="233609" h="533243">
                  <a:moveTo>
                    <a:pt x="116804" y="0"/>
                  </a:moveTo>
                  <a:lnTo>
                    <a:pt x="116804" y="0"/>
                  </a:lnTo>
                  <a:cubicBezTo>
                    <a:pt x="181314" y="0"/>
                    <a:pt x="233609" y="52295"/>
                    <a:pt x="233609" y="116804"/>
                  </a:cubicBezTo>
                  <a:lnTo>
                    <a:pt x="233609" y="416438"/>
                  </a:lnTo>
                  <a:cubicBezTo>
                    <a:pt x="233609" y="480948"/>
                    <a:pt x="181314" y="533243"/>
                    <a:pt x="116804" y="533243"/>
                  </a:cubicBezTo>
                  <a:lnTo>
                    <a:pt x="116804" y="533243"/>
                  </a:lnTo>
                  <a:cubicBezTo>
                    <a:pt x="52295" y="533243"/>
                    <a:pt x="0" y="480948"/>
                    <a:pt x="0" y="416438"/>
                  </a:cubicBezTo>
                  <a:lnTo>
                    <a:pt x="0" y="116804"/>
                  </a:lnTo>
                  <a:cubicBezTo>
                    <a:pt x="0" y="52295"/>
                    <a:pt x="52295" y="0"/>
                    <a:pt x="116804" y="0"/>
                  </a:cubicBezTo>
                  <a:close/>
                </a:path>
              </a:pathLst>
            </a:custGeom>
            <a:solidFill>
              <a:srgbClr val="F6F6E9"/>
            </a:solidFill>
            <a:ln cap="rnd">
              <a:noFill/>
              <a:prstDash val="solid"/>
              <a:round/>
            </a:ln>
          </p:spPr>
          <p:txBody>
            <a:bodyPr/>
            <a:lstStyle/>
            <a:p>
              <a:endParaRPr lang="es-AR" noProof="0" dirty="0"/>
            </a:p>
          </p:txBody>
        </p:sp>
        <p:sp>
          <p:nvSpPr>
            <p:cNvPr id="23" name="TextBox 22">
              <a:extLst>
                <a:ext uri="{FF2B5EF4-FFF2-40B4-BE49-F238E27FC236}">
                  <a16:creationId xmlns:a16="http://schemas.microsoft.com/office/drawing/2014/main" id="{A703C200-DFEA-7FE2-EE32-CC302357ED99}"/>
                </a:ext>
              </a:extLst>
            </p:cNvPr>
            <p:cNvSpPr txBox="1"/>
            <p:nvPr/>
          </p:nvSpPr>
          <p:spPr>
            <a:xfrm>
              <a:off x="0" y="-38100"/>
              <a:ext cx="233609" cy="571343"/>
            </a:xfrm>
            <a:prstGeom prst="rect">
              <a:avLst/>
            </a:prstGeom>
          </p:spPr>
          <p:txBody>
            <a:bodyPr lIns="50800" tIns="50800" rIns="50800" bIns="50800" rtlCol="0" anchor="ctr"/>
            <a:lstStyle/>
            <a:p>
              <a:pPr algn="ctr">
                <a:lnSpc>
                  <a:spcPts val="2659"/>
                </a:lnSpc>
              </a:pPr>
              <a:endParaRPr lang="es-AR" noProof="0" dirty="0"/>
            </a:p>
          </p:txBody>
        </p:sp>
      </p:grpSp>
      <p:sp>
        <p:nvSpPr>
          <p:cNvPr id="28" name="TextBox 10">
            <a:extLst>
              <a:ext uri="{FF2B5EF4-FFF2-40B4-BE49-F238E27FC236}">
                <a16:creationId xmlns:a16="http://schemas.microsoft.com/office/drawing/2014/main" id="{5E442427-36B7-E9DA-CF9C-AA9B530AF9C9}"/>
              </a:ext>
            </a:extLst>
          </p:cNvPr>
          <p:cNvSpPr txBox="1"/>
          <p:nvPr/>
        </p:nvSpPr>
        <p:spPr>
          <a:xfrm rot="16200000">
            <a:off x="17023873" y="10916956"/>
            <a:ext cx="831964" cy="2034756"/>
          </a:xfrm>
          <a:prstGeom prst="rect">
            <a:avLst/>
          </a:prstGeom>
        </p:spPr>
        <p:txBody>
          <a:bodyPr lIns="50800" tIns="50800" rIns="50800" bIns="50800" rtlCol="0" anchor="ctr"/>
          <a:lstStyle/>
          <a:p>
            <a:pPr algn="ctr">
              <a:lnSpc>
                <a:spcPts val="2659"/>
              </a:lnSpc>
            </a:pPr>
            <a:endParaRPr lang="es-AR" noProof="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6F6E9"/>
        </a:solidFill>
        <a:effectLst/>
      </p:bgPr>
    </p:bg>
    <p:spTree>
      <p:nvGrpSpPr>
        <p:cNvPr id="1" name="">
          <a:extLst>
            <a:ext uri="{FF2B5EF4-FFF2-40B4-BE49-F238E27FC236}">
              <a16:creationId xmlns:a16="http://schemas.microsoft.com/office/drawing/2014/main" id="{9456F7E6-E867-99BB-D6A0-C65648B80F8E}"/>
            </a:ext>
          </a:extLst>
        </p:cNvPr>
        <p:cNvGrpSpPr/>
        <p:nvPr/>
      </p:nvGrpSpPr>
      <p:grpSpPr>
        <a:xfrm>
          <a:off x="0" y="0"/>
          <a:ext cx="0" cy="0"/>
          <a:chOff x="0" y="0"/>
          <a:chExt cx="0" cy="0"/>
        </a:xfrm>
      </p:grpSpPr>
      <p:grpSp>
        <p:nvGrpSpPr>
          <p:cNvPr id="12" name="Group 12">
            <a:extLst>
              <a:ext uri="{FF2B5EF4-FFF2-40B4-BE49-F238E27FC236}">
                <a16:creationId xmlns:a16="http://schemas.microsoft.com/office/drawing/2014/main" id="{2BA91004-C256-5B2E-6F5A-831765E2F1A2}"/>
              </a:ext>
            </a:extLst>
          </p:cNvPr>
          <p:cNvGrpSpPr/>
          <p:nvPr/>
        </p:nvGrpSpPr>
        <p:grpSpPr>
          <a:xfrm rot="-5400000">
            <a:off x="15932021" y="8243693"/>
            <a:ext cx="831964" cy="2034756"/>
            <a:chOff x="0" y="-38100"/>
            <a:chExt cx="233609" cy="571343"/>
          </a:xfrm>
        </p:grpSpPr>
        <p:sp>
          <p:nvSpPr>
            <p:cNvPr id="13" name="Freeform 13">
              <a:extLst>
                <a:ext uri="{FF2B5EF4-FFF2-40B4-BE49-F238E27FC236}">
                  <a16:creationId xmlns:a16="http://schemas.microsoft.com/office/drawing/2014/main" id="{38DBFAB0-AE46-42BB-DAA7-FC561BFD6A48}"/>
                </a:ext>
              </a:extLst>
            </p:cNvPr>
            <p:cNvSpPr/>
            <p:nvPr/>
          </p:nvSpPr>
          <p:spPr>
            <a:xfrm>
              <a:off x="0" y="0"/>
              <a:ext cx="233609" cy="533243"/>
            </a:xfrm>
            <a:custGeom>
              <a:avLst/>
              <a:gdLst/>
              <a:ahLst/>
              <a:cxnLst/>
              <a:rect l="l" t="t" r="r" b="b"/>
              <a:pathLst>
                <a:path w="233609" h="533243">
                  <a:moveTo>
                    <a:pt x="116804" y="0"/>
                  </a:moveTo>
                  <a:lnTo>
                    <a:pt x="116804" y="0"/>
                  </a:lnTo>
                  <a:cubicBezTo>
                    <a:pt x="181314" y="0"/>
                    <a:pt x="233609" y="52295"/>
                    <a:pt x="233609" y="116804"/>
                  </a:cubicBezTo>
                  <a:lnTo>
                    <a:pt x="233609" y="416438"/>
                  </a:lnTo>
                  <a:cubicBezTo>
                    <a:pt x="233609" y="480948"/>
                    <a:pt x="181314" y="533243"/>
                    <a:pt x="116804" y="533243"/>
                  </a:cubicBezTo>
                  <a:lnTo>
                    <a:pt x="116804" y="533243"/>
                  </a:lnTo>
                  <a:cubicBezTo>
                    <a:pt x="52295" y="533243"/>
                    <a:pt x="0" y="480948"/>
                    <a:pt x="0" y="416438"/>
                  </a:cubicBezTo>
                  <a:lnTo>
                    <a:pt x="0" y="116804"/>
                  </a:lnTo>
                  <a:cubicBezTo>
                    <a:pt x="0" y="52295"/>
                    <a:pt x="52295" y="0"/>
                    <a:pt x="116804" y="0"/>
                  </a:cubicBezTo>
                  <a:close/>
                </a:path>
              </a:pathLst>
            </a:custGeom>
            <a:solidFill>
              <a:srgbClr val="F7B9A1"/>
            </a:solidFill>
            <a:ln cap="rnd">
              <a:noFill/>
              <a:prstDash val="solid"/>
              <a:round/>
            </a:ln>
          </p:spPr>
          <p:txBody>
            <a:bodyPr/>
            <a:lstStyle/>
            <a:p>
              <a:endParaRPr lang="es-AR" noProof="0" dirty="0"/>
            </a:p>
          </p:txBody>
        </p:sp>
        <p:sp>
          <p:nvSpPr>
            <p:cNvPr id="14" name="TextBox 14">
              <a:extLst>
                <a:ext uri="{FF2B5EF4-FFF2-40B4-BE49-F238E27FC236}">
                  <a16:creationId xmlns:a16="http://schemas.microsoft.com/office/drawing/2014/main" id="{8B19138F-1602-0599-5B0B-ABEDFC0FD7D1}"/>
                </a:ext>
              </a:extLst>
            </p:cNvPr>
            <p:cNvSpPr txBox="1"/>
            <p:nvPr/>
          </p:nvSpPr>
          <p:spPr>
            <a:xfrm>
              <a:off x="0" y="-38100"/>
              <a:ext cx="233609" cy="571343"/>
            </a:xfrm>
            <a:prstGeom prst="rect">
              <a:avLst/>
            </a:prstGeom>
          </p:spPr>
          <p:txBody>
            <a:bodyPr lIns="50800" tIns="50800" rIns="50800" bIns="50800" rtlCol="0" anchor="ctr"/>
            <a:lstStyle/>
            <a:p>
              <a:pPr algn="ctr">
                <a:lnSpc>
                  <a:spcPts val="2659"/>
                </a:lnSpc>
              </a:pPr>
              <a:endParaRPr lang="es-AR" noProof="0" dirty="0"/>
            </a:p>
          </p:txBody>
        </p:sp>
      </p:grpSp>
      <p:sp>
        <p:nvSpPr>
          <p:cNvPr id="16" name="TextBox 16">
            <a:extLst>
              <a:ext uri="{FF2B5EF4-FFF2-40B4-BE49-F238E27FC236}">
                <a16:creationId xmlns:a16="http://schemas.microsoft.com/office/drawing/2014/main" id="{126AEA8F-DF62-DE0F-4C44-8C26E6FAD8D4}"/>
              </a:ext>
            </a:extLst>
          </p:cNvPr>
          <p:cNvSpPr txBox="1"/>
          <p:nvPr/>
        </p:nvSpPr>
        <p:spPr>
          <a:xfrm>
            <a:off x="15742943" y="8966117"/>
            <a:ext cx="1345808" cy="589905"/>
          </a:xfrm>
          <a:prstGeom prst="rect">
            <a:avLst/>
          </a:prstGeom>
        </p:spPr>
        <p:txBody>
          <a:bodyPr lIns="0" tIns="0" rIns="0" bIns="0" rtlCol="0" anchor="t">
            <a:spAutoFit/>
          </a:bodyPr>
          <a:lstStyle/>
          <a:p>
            <a:pPr algn="ctr">
              <a:lnSpc>
                <a:spcPts val="4555"/>
              </a:lnSpc>
            </a:pPr>
            <a:r>
              <a:rPr lang="es-AR" sz="4250" noProof="0" dirty="0">
                <a:solidFill>
                  <a:srgbClr val="291B25"/>
                </a:solidFill>
                <a:latin typeface="Agrandir"/>
                <a:ea typeface="Agrandir"/>
                <a:cs typeface="Agrandir"/>
              </a:rPr>
              <a:t>23</a:t>
            </a:r>
            <a:endParaRPr lang="es-AR" sz="4257" noProof="0" dirty="0">
              <a:solidFill>
                <a:srgbClr val="291B25"/>
              </a:solidFill>
              <a:latin typeface="Agrandir"/>
              <a:ea typeface="Agrandir"/>
              <a:cs typeface="Agrandir"/>
              <a:sym typeface="Agrandir"/>
            </a:endParaRPr>
          </a:p>
        </p:txBody>
      </p:sp>
      <p:sp>
        <p:nvSpPr>
          <p:cNvPr id="17" name="TextBox 17">
            <a:extLst>
              <a:ext uri="{FF2B5EF4-FFF2-40B4-BE49-F238E27FC236}">
                <a16:creationId xmlns:a16="http://schemas.microsoft.com/office/drawing/2014/main" id="{48DEAE8C-65A8-2C49-084C-76751683F7CE}"/>
              </a:ext>
            </a:extLst>
          </p:cNvPr>
          <p:cNvSpPr txBox="1"/>
          <p:nvPr/>
        </p:nvSpPr>
        <p:spPr>
          <a:xfrm>
            <a:off x="1406027" y="1057362"/>
            <a:ext cx="14700368" cy="7602081"/>
          </a:xfrm>
          <a:prstGeom prst="rect">
            <a:avLst/>
          </a:prstGeom>
        </p:spPr>
        <p:txBody>
          <a:bodyPr wrap="square" lIns="0" tIns="0" rIns="0" bIns="0" rtlCol="0" anchor="t">
            <a:spAutoFit/>
          </a:bodyPr>
          <a:lstStyle/>
          <a:p>
            <a:pPr marL="342900" indent="-342900" algn="just">
              <a:buFont typeface="Arial"/>
              <a:buChar char="•"/>
            </a:pPr>
            <a:endParaRPr lang="es-AR" sz="2600" b="1" noProof="0" dirty="0">
              <a:solidFill>
                <a:srgbClr val="291B25"/>
              </a:solidFill>
              <a:latin typeface="Agrandir Narrow" panose="020B0604020202020204" charset="0"/>
              <a:ea typeface="Calibri"/>
              <a:cs typeface="Calibri"/>
            </a:endParaRPr>
          </a:p>
          <a:p>
            <a:pPr marL="342900" indent="-342900" algn="just">
              <a:buFont typeface="Arial"/>
              <a:buChar char="•"/>
            </a:pPr>
            <a:r>
              <a:rPr lang="es-AR" sz="2600" b="1" noProof="0" dirty="0">
                <a:solidFill>
                  <a:srgbClr val="291B25"/>
                </a:solidFill>
                <a:latin typeface="Agrandir Narrow"/>
                <a:ea typeface="Calibri"/>
                <a:cs typeface="Calibri"/>
              </a:rPr>
              <a:t>La proporción de uso de mujeres varía entre el día y la noche (</a:t>
            </a:r>
            <a:r>
              <a:rPr lang="es-AR" sz="2600" b="1" dirty="0">
                <a:solidFill>
                  <a:srgbClr val="291B25"/>
                </a:solidFill>
                <a:latin typeface="Agrandir Narrow"/>
                <a:ea typeface="Calibri"/>
                <a:cs typeface="Calibri"/>
              </a:rPr>
              <a:t>cae aproximadamente</a:t>
            </a:r>
            <a:r>
              <a:rPr lang="es-AR" sz="2600" b="1" noProof="0" dirty="0">
                <a:solidFill>
                  <a:srgbClr val="291B25"/>
                </a:solidFill>
                <a:latin typeface="Agrandir Narrow"/>
                <a:ea typeface="Calibri"/>
                <a:cs typeface="Calibri"/>
              </a:rPr>
              <a:t> 2 p.p.).</a:t>
            </a:r>
            <a:r>
              <a:rPr lang="es-AR" sz="2600" dirty="0">
                <a:solidFill>
                  <a:srgbClr val="291B25"/>
                </a:solidFill>
                <a:latin typeface="Agrandir Narrow"/>
                <a:ea typeface="Calibri"/>
                <a:cs typeface="Calibri"/>
              </a:rPr>
              <a:t> Este resultado se corresponde con lo que esperábamos antes de emprender el análisis.</a:t>
            </a:r>
            <a:endParaRPr lang="es-AR" sz="2600" b="1" noProof="0" dirty="0">
              <a:solidFill>
                <a:srgbClr val="291B25"/>
              </a:solidFill>
              <a:latin typeface="Agrandir Narrow"/>
              <a:ea typeface="Calibri"/>
              <a:cs typeface="Calibri"/>
            </a:endParaRPr>
          </a:p>
          <a:p>
            <a:pPr marL="342900" indent="-342900" algn="just">
              <a:buFont typeface="Arial"/>
              <a:buChar char="•"/>
            </a:pPr>
            <a:endParaRPr lang="es-AR" sz="2600" b="1" noProof="0" dirty="0">
              <a:solidFill>
                <a:srgbClr val="291B25"/>
              </a:solidFill>
              <a:latin typeface="Agrandir Narrow" panose="020B0604020202020204" charset="0"/>
              <a:ea typeface="Calibri"/>
              <a:cs typeface="Calibri"/>
            </a:endParaRPr>
          </a:p>
          <a:p>
            <a:pPr marL="342900" indent="-342900" algn="just">
              <a:buFont typeface="Arial"/>
              <a:buChar char="•"/>
            </a:pPr>
            <a:r>
              <a:rPr lang="es-AR" sz="2600" b="1" noProof="0" dirty="0">
                <a:solidFill>
                  <a:srgbClr val="291B25"/>
                </a:solidFill>
                <a:latin typeface="Agrandir Narrow" panose="020B0604020202020204" charset="0"/>
                <a:ea typeface="Calibri"/>
                <a:cs typeface="Calibri"/>
              </a:rPr>
              <a:t>Heterogeneidad espacial marcada: </a:t>
            </a:r>
            <a:r>
              <a:rPr lang="es-AR" sz="2600" noProof="0" dirty="0">
                <a:solidFill>
                  <a:srgbClr val="291B25"/>
                </a:solidFill>
                <a:latin typeface="Agrandir Narrow" panose="020B0604020202020204" charset="0"/>
                <a:ea typeface="Calibri"/>
                <a:cs typeface="Calibri"/>
              </a:rPr>
              <a:t>La proporción de mujeres que utilizan bicicletas en cada comuna varía.</a:t>
            </a:r>
          </a:p>
          <a:p>
            <a:pPr marL="342900" indent="-342900" algn="just">
              <a:buFont typeface="Arial"/>
              <a:buChar char="•"/>
            </a:pPr>
            <a:endParaRPr lang="es-AR" sz="2600" noProof="0" dirty="0">
              <a:solidFill>
                <a:srgbClr val="291B25"/>
              </a:solidFill>
              <a:latin typeface="Agrandir Narrow" panose="020B0604020202020204" charset="0"/>
              <a:ea typeface="Calibri"/>
              <a:cs typeface="Calibri"/>
            </a:endParaRPr>
          </a:p>
          <a:p>
            <a:pPr marL="342900" indent="-342900" algn="just">
              <a:buFont typeface="Arial"/>
              <a:buChar char="•"/>
            </a:pPr>
            <a:r>
              <a:rPr lang="es-AR" sz="2600" b="1" noProof="0" dirty="0">
                <a:solidFill>
                  <a:srgbClr val="291B25"/>
                </a:solidFill>
                <a:latin typeface="Agrandir Narrow" panose="020B0604020202020204" charset="0"/>
                <a:ea typeface="Calibri"/>
                <a:cs typeface="Calibri"/>
              </a:rPr>
              <a:t>Hay interacción entre momento del día y comuna: </a:t>
            </a:r>
            <a:r>
              <a:rPr lang="es-AR" sz="2600" noProof="0" dirty="0">
                <a:solidFill>
                  <a:srgbClr val="291B25"/>
                </a:solidFill>
                <a:latin typeface="Agrandir Narrow" panose="020B0604020202020204" charset="0"/>
                <a:ea typeface="Calibri"/>
                <a:cs typeface="Calibri"/>
              </a:rPr>
              <a:t>La variación de las proporciones de uso según el momento del día difiere entre comunas.</a:t>
            </a:r>
          </a:p>
          <a:p>
            <a:pPr marL="342900" indent="-342900" algn="just">
              <a:buFont typeface="Arial"/>
              <a:buChar char="•"/>
            </a:pPr>
            <a:endParaRPr lang="es-AR" sz="2600" noProof="0" dirty="0">
              <a:solidFill>
                <a:srgbClr val="291B25"/>
              </a:solidFill>
              <a:latin typeface="Agrandir Narrow" panose="020B0604020202020204" charset="0"/>
              <a:ea typeface="Calibri"/>
              <a:cs typeface="Calibri"/>
            </a:endParaRPr>
          </a:p>
          <a:p>
            <a:pPr marL="342900" indent="-342900" algn="just">
              <a:buFont typeface="Arial"/>
              <a:buChar char="•"/>
            </a:pPr>
            <a:r>
              <a:rPr lang="es-AR" sz="2600" b="1" noProof="0" dirty="0">
                <a:solidFill>
                  <a:srgbClr val="291B25"/>
                </a:solidFill>
                <a:latin typeface="Agrandir Narrow" panose="020B0604020202020204" charset="0"/>
                <a:ea typeface="Calibri"/>
                <a:cs typeface="Calibri"/>
              </a:rPr>
              <a:t>Limitaciones y trabajos futuros</a:t>
            </a:r>
            <a:r>
              <a:rPr lang="es-AR" sz="2600" noProof="0" dirty="0">
                <a:solidFill>
                  <a:srgbClr val="291B25"/>
                </a:solidFill>
                <a:latin typeface="Agrandir Narrow" panose="020B0604020202020204" charset="0"/>
                <a:ea typeface="Calibri"/>
                <a:cs typeface="Calibri"/>
              </a:rPr>
              <a:t>:</a:t>
            </a:r>
          </a:p>
          <a:p>
            <a:pPr marL="800100" lvl="1" indent="-342900" algn="just">
              <a:buFont typeface="Courier New"/>
              <a:buChar char="o"/>
            </a:pPr>
            <a:r>
              <a:rPr lang="es-AR" sz="2600" noProof="0" dirty="0">
                <a:solidFill>
                  <a:srgbClr val="291B25"/>
                </a:solidFill>
                <a:latin typeface="Agrandir Narrow"/>
                <a:ea typeface="Calibri"/>
                <a:cs typeface="Calibri"/>
              </a:rPr>
              <a:t>Analizar las causas de por qué la variación es mayor en algunas comunas que en otras. Esto puede deberse a la mayor inseguridad durante la noche, o a la mayor seguridad durante el día (caso comuna 14, por ejemplo). También podría estar correlacionado con ciertos tipos de trabajos que predominen en algún género.</a:t>
            </a:r>
            <a:endParaRPr lang="es-AR" sz="2600" noProof="0" dirty="0">
              <a:solidFill>
                <a:srgbClr val="000000"/>
              </a:solidFill>
              <a:latin typeface="Agrandir Narrow"/>
              <a:ea typeface="Calibri"/>
              <a:cs typeface="Calibri"/>
            </a:endParaRPr>
          </a:p>
          <a:p>
            <a:pPr marL="800100" lvl="1" indent="-342900" algn="just">
              <a:buFont typeface="Courier New"/>
              <a:buChar char="o"/>
            </a:pPr>
            <a:r>
              <a:rPr lang="es-AR" sz="2600" noProof="0" dirty="0">
                <a:solidFill>
                  <a:srgbClr val="291B25"/>
                </a:solidFill>
                <a:latin typeface="Agrandir Narrow" panose="020B0604020202020204" charset="0"/>
                <a:ea typeface="Calibri"/>
                <a:cs typeface="Calibri"/>
              </a:rPr>
              <a:t>Se podría analizar la relación con ciclovías o infraestructura en general, como iluminación o estado de las calles.</a:t>
            </a:r>
            <a:endParaRPr lang="es-AR" sz="2600" noProof="0" dirty="0">
              <a:solidFill>
                <a:srgbClr val="000000"/>
              </a:solidFill>
              <a:latin typeface="Agrandir Narrow" panose="020B0604020202020204" charset="0"/>
              <a:ea typeface="Calibri"/>
              <a:cs typeface="Calibri"/>
            </a:endParaRPr>
          </a:p>
          <a:p>
            <a:pPr marL="800100" lvl="1" indent="-342900" algn="just">
              <a:buFont typeface="Courier New"/>
              <a:buChar char="o"/>
            </a:pPr>
            <a:r>
              <a:rPr lang="es-AR" sz="2600" noProof="0" dirty="0">
                <a:solidFill>
                  <a:srgbClr val="291B25"/>
                </a:solidFill>
                <a:latin typeface="Agrandir Narrow" panose="020B0604020202020204" charset="0"/>
                <a:ea typeface="Calibri"/>
                <a:cs typeface="Calibri"/>
              </a:rPr>
              <a:t>Se podría ampliar a un análisis mensual y seguir desagregando la información. Quizás en base a eso se pueda trabajar para enfocar las políticas públicas.</a:t>
            </a:r>
            <a:endParaRPr lang="es-AR" sz="2600" noProof="0" dirty="0">
              <a:latin typeface="Agrandir Narrow" panose="020B0604020202020204" charset="0"/>
              <a:ea typeface="Calibri"/>
              <a:cs typeface="Calibri"/>
            </a:endParaRPr>
          </a:p>
        </p:txBody>
      </p:sp>
    </p:spTree>
    <p:extLst>
      <p:ext uri="{BB962C8B-B14F-4D97-AF65-F5344CB8AC3E}">
        <p14:creationId xmlns:p14="http://schemas.microsoft.com/office/powerpoint/2010/main" val="20396917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390</TotalTime>
  <Words>1903</Words>
  <Application>Microsoft Office PowerPoint</Application>
  <PresentationFormat>Personalizado</PresentationFormat>
  <Paragraphs>134</Paragraphs>
  <Slides>23</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23</vt:i4>
      </vt:variant>
    </vt:vector>
  </HeadingPairs>
  <TitlesOfParts>
    <vt:vector size="29" baseType="lpstr">
      <vt:lpstr>Calibri</vt:lpstr>
      <vt:lpstr>Agrandir Narrow</vt:lpstr>
      <vt:lpstr>Agrandir</vt:lpstr>
      <vt:lpstr>Arial</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Beige and Orange Modern Business Executive Report Presentation</dc:title>
  <cp:lastModifiedBy>Juan Ignacio Fernández Rodríguez</cp:lastModifiedBy>
  <cp:revision>42</cp:revision>
  <dcterms:created xsi:type="dcterms:W3CDTF">2006-08-16T00:00:00Z</dcterms:created>
  <dcterms:modified xsi:type="dcterms:W3CDTF">2025-12-01T23:15:04Z</dcterms:modified>
  <dc:identifier>DAG6BIBW7Fg</dc:identifier>
</cp:coreProperties>
</file>